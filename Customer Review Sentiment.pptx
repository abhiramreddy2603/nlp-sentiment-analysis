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70" r:id="rId4"/>
    <p:sldId id="258" r:id="rId5"/>
    <p:sldId id="259" r:id="rId6"/>
    <p:sldId id="260" r:id="rId7"/>
    <p:sldId id="261" r:id="rId8"/>
    <p:sldId id="262" r:id="rId9"/>
    <p:sldId id="271" r:id="rId10"/>
    <p:sldId id="263" r:id="rId11"/>
    <p:sldId id="264" r:id="rId12"/>
    <p:sldId id="265" r:id="rId13"/>
    <p:sldId id="266" r:id="rId14"/>
    <p:sldId id="267" r:id="rId15"/>
    <p:sldId id="268" r:id="rId16"/>
    <p:sldId id="272" r:id="rId17"/>
    <p:sldId id="269" r:id="rId18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07CE2B-C06F-4423-8067-130E5B9D9B15}" v="2" dt="2026-09-29T06:48:33.353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47" d="100"/>
          <a:sy n="47" d="100"/>
        </p:scale>
        <p:origin x="500" y="4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ubham Patil" userId="4178fc81875fa27a" providerId="LiveId" clId="{47646930-63E5-4A24-8D92-2823E7033CCF}"/>
    <pc:docChg chg="custSel addSld modSld">
      <pc:chgData name="Shubham Patil" userId="4178fc81875fa27a" providerId="LiveId" clId="{47646930-63E5-4A24-8D92-2823E7033CCF}" dt="2026-09-29T06:52:46.449" v="148"/>
      <pc:docMkLst>
        <pc:docMk/>
      </pc:docMkLst>
      <pc:sldChg chg="addSp delSp modSp new mod">
        <pc:chgData name="Shubham Patil" userId="4178fc81875fa27a" providerId="LiveId" clId="{47646930-63E5-4A24-8D92-2823E7033CCF}" dt="2026-09-29T06:52:46.449" v="148"/>
        <pc:sldMkLst>
          <pc:docMk/>
          <pc:sldMk cId="3945688457" sldId="268"/>
        </pc:sldMkLst>
        <pc:spChg chg="del">
          <ac:chgData name="Shubham Patil" userId="4178fc81875fa27a" providerId="LiveId" clId="{47646930-63E5-4A24-8D92-2823E7033CCF}" dt="2026-09-29T06:40:10.547" v="10" actId="21"/>
          <ac:spMkLst>
            <pc:docMk/>
            <pc:sldMk cId="3945688457" sldId="268"/>
            <ac:spMk id="2" creationId="{1F4D3533-C810-8206-38FA-02EBA8EE32C9}"/>
          </ac:spMkLst>
        </pc:spChg>
        <pc:spChg chg="del mod">
          <ac:chgData name="Shubham Patil" userId="4178fc81875fa27a" providerId="LiveId" clId="{47646930-63E5-4A24-8D92-2823E7033CCF}" dt="2026-09-29T06:40:05.660" v="9" actId="21"/>
          <ac:spMkLst>
            <pc:docMk/>
            <pc:sldMk cId="3945688457" sldId="268"/>
            <ac:spMk id="3" creationId="{DD2B5558-95A3-95C3-E31B-F23CCEEFB335}"/>
          </ac:spMkLst>
        </pc:spChg>
        <pc:spChg chg="add del mod">
          <ac:chgData name="Shubham Patil" userId="4178fc81875fa27a" providerId="LiveId" clId="{47646930-63E5-4A24-8D92-2823E7033CCF}" dt="2026-09-29T06:50:03.300" v="89"/>
          <ac:spMkLst>
            <pc:docMk/>
            <pc:sldMk cId="3945688457" sldId="268"/>
            <ac:spMk id="12" creationId="{342076C6-2879-4557-91C2-02E08F4B92AA}"/>
          </ac:spMkLst>
        </pc:spChg>
        <pc:spChg chg="add del mod">
          <ac:chgData name="Shubham Patil" userId="4178fc81875fa27a" providerId="LiveId" clId="{47646930-63E5-4A24-8D92-2823E7033CCF}" dt="2026-09-29T06:52:46.449" v="148"/>
          <ac:spMkLst>
            <pc:docMk/>
            <pc:sldMk cId="3945688457" sldId="268"/>
            <ac:spMk id="13" creationId="{6D2503C6-16C1-F0D0-F4E1-0AD8E4C8E946}"/>
          </ac:spMkLst>
        </pc:spChg>
        <pc:spChg chg="add mod">
          <ac:chgData name="Shubham Patil" userId="4178fc81875fa27a" providerId="LiveId" clId="{47646930-63E5-4A24-8D92-2823E7033CCF}" dt="2026-09-29T06:52:44.508" v="146" actId="14100"/>
          <ac:spMkLst>
            <pc:docMk/>
            <pc:sldMk cId="3945688457" sldId="268"/>
            <ac:spMk id="14" creationId="{BB974317-54CB-8FC8-6989-0D640626A852}"/>
          </ac:spMkLst>
        </pc:spChg>
        <pc:picChg chg="add del mod">
          <ac:chgData name="Shubham Patil" userId="4178fc81875fa27a" providerId="LiveId" clId="{47646930-63E5-4A24-8D92-2823E7033CCF}" dt="2026-09-29T06:41:19.419" v="20" actId="21"/>
          <ac:picMkLst>
            <pc:docMk/>
            <pc:sldMk cId="3945688457" sldId="268"/>
            <ac:picMk id="5" creationId="{3A3C3B7A-4AB4-8D5B-FAE9-8624BD7D48F4}"/>
          </ac:picMkLst>
        </pc:picChg>
        <pc:picChg chg="add mod">
          <ac:chgData name="Shubham Patil" userId="4178fc81875fa27a" providerId="LiveId" clId="{47646930-63E5-4A24-8D92-2823E7033CCF}" dt="2026-09-29T06:48:02.581" v="42" actId="14100"/>
          <ac:picMkLst>
            <pc:docMk/>
            <pc:sldMk cId="3945688457" sldId="268"/>
            <ac:picMk id="7" creationId="{A554F0D1-50B8-96AA-ECDF-F94C43222059}"/>
          </ac:picMkLst>
        </pc:picChg>
        <pc:picChg chg="add mod">
          <ac:chgData name="Shubham Patil" userId="4178fc81875fa27a" providerId="LiveId" clId="{47646930-63E5-4A24-8D92-2823E7033CCF}" dt="2026-09-29T06:48:07.990" v="44" actId="14100"/>
          <ac:picMkLst>
            <pc:docMk/>
            <pc:sldMk cId="3945688457" sldId="268"/>
            <ac:picMk id="9" creationId="{C7583A7D-05DF-8E3A-4B89-48DC796EF73C}"/>
          </ac:picMkLst>
        </pc:picChg>
        <pc:picChg chg="add mod">
          <ac:chgData name="Shubham Patil" userId="4178fc81875fa27a" providerId="LiveId" clId="{47646930-63E5-4A24-8D92-2823E7033CCF}" dt="2026-09-29T06:47:56.792" v="40" actId="14100"/>
          <ac:picMkLst>
            <pc:docMk/>
            <pc:sldMk cId="3945688457" sldId="268"/>
            <ac:picMk id="11" creationId="{255FC578-A533-74F5-15F1-9C8EF3F132E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4FF801-7768-456B-A92E-CF9FD38C454A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CF4E7E-1191-4F4A-B78D-0553FE4DD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3172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CF4E7E-1191-4F4A-B78D-0553FE4DD152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77934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F25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35050" y="2111565"/>
            <a:ext cx="7867650" cy="16694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50" b="0" i="0">
                <a:solidFill>
                  <a:srgbClr val="0F2536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30-Sep-26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50" b="0" i="0">
                <a:solidFill>
                  <a:srgbClr val="0F2536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30-Sep-26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50" b="0" i="0">
                <a:solidFill>
                  <a:srgbClr val="0F2536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30-Sep-26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50" b="0" i="0">
                <a:solidFill>
                  <a:srgbClr val="0F2536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30-Sep-26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30-Sep-26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5F1E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35050" y="657383"/>
            <a:ext cx="12117705" cy="6883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50" b="0" i="0">
                <a:solidFill>
                  <a:srgbClr val="0F2536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39849" y="2857500"/>
            <a:ext cx="13515975" cy="4761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30-Sep-26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35050" y="1397952"/>
            <a:ext cx="15576550" cy="508473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5"/>
              </a:spcBef>
            </a:pPr>
            <a:r>
              <a:rPr lang="en-US" sz="3200" b="1" spc="235" dirty="0">
                <a:solidFill>
                  <a:srgbClr val="16B8A6"/>
                </a:solidFill>
                <a:latin typeface="Trebuchet MS"/>
                <a:cs typeface="Trebuchet MS"/>
              </a:rPr>
              <a:t>NLP Sentiment Analysis</a:t>
            </a:r>
            <a:endParaRPr sz="3200" dirty="0">
              <a:latin typeface="Trebuchet MS"/>
              <a:cs typeface="Trebuchet MS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ctrTitle"/>
          </p:nvPr>
        </p:nvSpPr>
        <p:spPr>
          <a:xfrm>
            <a:off x="1035050" y="2111565"/>
            <a:ext cx="7867650" cy="1592808"/>
          </a:xfrm>
          <a:prstGeom prst="rect">
            <a:avLst/>
          </a:prstGeom>
        </p:spPr>
        <p:txBody>
          <a:bodyPr vert="horz" wrap="square" lIns="0" tIns="153035" rIns="0" bIns="0" rtlCol="0">
            <a:spAutoFit/>
          </a:bodyPr>
          <a:lstStyle/>
          <a:p>
            <a:pPr marL="12700" marR="5080">
              <a:lnSpc>
                <a:spcPts val="5930"/>
              </a:lnSpc>
              <a:spcBef>
                <a:spcPts val="1205"/>
              </a:spcBef>
            </a:pPr>
            <a:r>
              <a:rPr sz="4000" spc="680" dirty="0">
                <a:solidFill>
                  <a:srgbClr val="FFFFFF"/>
                </a:solidFill>
              </a:rPr>
              <a:t>Customer</a:t>
            </a:r>
            <a:r>
              <a:rPr sz="4000" spc="415" dirty="0">
                <a:solidFill>
                  <a:srgbClr val="FFFFFF"/>
                </a:solidFill>
              </a:rPr>
              <a:t> </a:t>
            </a:r>
            <a:r>
              <a:rPr sz="4000" spc="670" dirty="0">
                <a:solidFill>
                  <a:srgbClr val="FFFFFF"/>
                </a:solidFill>
              </a:rPr>
              <a:t>Review </a:t>
            </a:r>
            <a:r>
              <a:rPr sz="4000" spc="710" dirty="0">
                <a:solidFill>
                  <a:srgbClr val="FFFFFF"/>
                </a:solidFill>
              </a:rPr>
              <a:t>Sentiment</a:t>
            </a:r>
            <a:r>
              <a:rPr sz="4000" spc="405" dirty="0">
                <a:solidFill>
                  <a:srgbClr val="FFFFFF"/>
                </a:solidFill>
              </a:rPr>
              <a:t> </a:t>
            </a:r>
            <a:r>
              <a:rPr sz="4000" spc="620" dirty="0">
                <a:solidFill>
                  <a:srgbClr val="FFFFFF"/>
                </a:solidFill>
              </a:rPr>
              <a:t>Analysis</a:t>
            </a:r>
            <a:endParaRPr sz="4000" dirty="0"/>
          </a:p>
        </p:txBody>
      </p:sp>
      <p:sp>
        <p:nvSpPr>
          <p:cNvPr id="5" name="object 5"/>
          <p:cNvSpPr txBox="1"/>
          <p:nvPr/>
        </p:nvSpPr>
        <p:spPr>
          <a:xfrm>
            <a:off x="1035050" y="4728844"/>
            <a:ext cx="5257165" cy="2105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spc="120" dirty="0">
                <a:solidFill>
                  <a:srgbClr val="FFFFFF"/>
                </a:solidFill>
                <a:latin typeface="Trebuchet MS"/>
                <a:cs typeface="Trebuchet MS"/>
              </a:rPr>
              <a:t>GROUP-5: PARTICIPANTS</a:t>
            </a:r>
            <a:br>
              <a:rPr lang="en-US" sz="2400" spc="120" dirty="0">
                <a:solidFill>
                  <a:srgbClr val="FFFFFF"/>
                </a:solidFill>
                <a:latin typeface="Trebuchet MS"/>
                <a:cs typeface="Trebuchet MS"/>
              </a:rPr>
            </a:br>
            <a:br>
              <a:rPr lang="en-US" sz="2400" spc="120" dirty="0">
                <a:solidFill>
                  <a:srgbClr val="FFFFFF"/>
                </a:solidFill>
                <a:latin typeface="Trebuchet MS"/>
                <a:cs typeface="Trebuchet MS"/>
              </a:rPr>
            </a:br>
            <a:r>
              <a:rPr lang="en-US" sz="2000" spc="120" dirty="0">
                <a:solidFill>
                  <a:srgbClr val="FFFFFF"/>
                </a:solidFill>
                <a:latin typeface="Trebuchet MS"/>
                <a:cs typeface="Trebuchet MS"/>
              </a:rPr>
              <a:t>Abhiram | Pravin | Shamil | Shubham | Shreya | </a:t>
            </a:r>
            <a:r>
              <a:rPr lang="en-US" sz="2000" spc="120" dirty="0" err="1">
                <a:solidFill>
                  <a:srgbClr val="FFFFFF"/>
                </a:solidFill>
                <a:latin typeface="Trebuchet MS"/>
                <a:cs typeface="Trebuchet MS"/>
              </a:rPr>
              <a:t>VenuGopinath</a:t>
            </a:r>
            <a:r>
              <a:rPr lang="en-US" sz="2000" spc="120" dirty="0">
                <a:solidFill>
                  <a:srgbClr val="FFFFFF"/>
                </a:solidFill>
                <a:latin typeface="Trebuchet MS"/>
                <a:cs typeface="Trebuchet MS"/>
              </a:rPr>
              <a:t> | Waquar</a:t>
            </a:r>
            <a:br>
              <a:rPr lang="en-US" sz="2400" spc="120" dirty="0">
                <a:solidFill>
                  <a:srgbClr val="FFFFFF"/>
                </a:solidFill>
                <a:latin typeface="Trebuchet MS"/>
                <a:cs typeface="Trebuchet MS"/>
              </a:rPr>
            </a:br>
            <a:br>
              <a:rPr lang="en-US" sz="2400" spc="120" dirty="0">
                <a:solidFill>
                  <a:srgbClr val="FFFFFF"/>
                </a:solidFill>
                <a:latin typeface="Trebuchet MS"/>
                <a:cs typeface="Trebuchet MS"/>
              </a:rPr>
            </a:br>
            <a:endParaRPr sz="2400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47750" y="6572250"/>
            <a:ext cx="1429385" cy="85725"/>
          </a:xfrm>
          <a:custGeom>
            <a:avLst/>
            <a:gdLst/>
            <a:ahLst/>
            <a:cxnLst/>
            <a:rect l="l" t="t" r="r" b="b"/>
            <a:pathLst>
              <a:path w="1429385" h="85725">
                <a:moveTo>
                  <a:pt x="1428861" y="85724"/>
                </a:moveTo>
                <a:lnTo>
                  <a:pt x="0" y="85724"/>
                </a:lnTo>
                <a:lnTo>
                  <a:pt x="0" y="0"/>
                </a:lnTo>
                <a:lnTo>
                  <a:pt x="1428861" y="0"/>
                </a:lnTo>
                <a:lnTo>
                  <a:pt x="1428861" y="85724"/>
                </a:lnTo>
                <a:close/>
              </a:path>
            </a:pathLst>
          </a:custGeom>
          <a:solidFill>
            <a:srgbClr val="FF6A5E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00" dirty="0"/>
              <a:t>Dataset</a:t>
            </a:r>
            <a:r>
              <a:rPr spc="300" dirty="0"/>
              <a:t> </a:t>
            </a:r>
            <a:r>
              <a:rPr spc="515" dirty="0"/>
              <a:t>overview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35050" y="1463437"/>
            <a:ext cx="7089140" cy="3340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160" dirty="0">
                <a:solidFill>
                  <a:srgbClr val="60707C"/>
                </a:solidFill>
                <a:latin typeface="Trebuchet MS"/>
                <a:cs typeface="Trebuchet MS"/>
              </a:rPr>
              <a:t>A</a:t>
            </a:r>
            <a:r>
              <a:rPr sz="2000" spc="-25" dirty="0">
                <a:solidFill>
                  <a:srgbClr val="60707C"/>
                </a:solidFill>
                <a:latin typeface="Trebuchet MS"/>
                <a:cs typeface="Trebuchet MS"/>
              </a:rPr>
              <a:t> </a:t>
            </a:r>
            <a:r>
              <a:rPr sz="2000" spc="-30" dirty="0">
                <a:solidFill>
                  <a:srgbClr val="60707C"/>
                </a:solidFill>
                <a:latin typeface="Trebuchet MS"/>
                <a:cs typeface="Trebuchet MS"/>
              </a:rPr>
              <a:t>clean,</a:t>
            </a:r>
            <a:r>
              <a:rPr sz="2000" spc="-20" dirty="0">
                <a:solidFill>
                  <a:srgbClr val="60707C"/>
                </a:solidFill>
                <a:latin typeface="Trebuchet MS"/>
                <a:cs typeface="Trebuchet MS"/>
              </a:rPr>
              <a:t> </a:t>
            </a:r>
            <a:r>
              <a:rPr sz="2000" spc="80" dirty="0">
                <a:solidFill>
                  <a:srgbClr val="60707C"/>
                </a:solidFill>
                <a:latin typeface="Trebuchet MS"/>
                <a:cs typeface="Trebuchet MS"/>
              </a:rPr>
              <a:t>analysis-</a:t>
            </a:r>
            <a:r>
              <a:rPr sz="2000" spc="65" dirty="0">
                <a:solidFill>
                  <a:srgbClr val="60707C"/>
                </a:solidFill>
                <a:latin typeface="Trebuchet MS"/>
                <a:cs typeface="Trebuchet MS"/>
              </a:rPr>
              <a:t>ready</a:t>
            </a:r>
            <a:r>
              <a:rPr sz="2000" spc="-25" dirty="0">
                <a:solidFill>
                  <a:srgbClr val="60707C"/>
                </a:solidFill>
                <a:latin typeface="Trebuchet MS"/>
                <a:cs typeface="Trebuchet MS"/>
              </a:rPr>
              <a:t> </a:t>
            </a:r>
            <a:r>
              <a:rPr sz="2000" spc="105" dirty="0">
                <a:solidFill>
                  <a:srgbClr val="60707C"/>
                </a:solidFill>
                <a:latin typeface="Trebuchet MS"/>
                <a:cs typeface="Trebuchet MS"/>
              </a:rPr>
              <a:t>corpus</a:t>
            </a:r>
            <a:r>
              <a:rPr sz="2000" spc="-20" dirty="0">
                <a:solidFill>
                  <a:srgbClr val="60707C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60707C"/>
                </a:solidFill>
                <a:latin typeface="Trebuchet MS"/>
                <a:cs typeface="Trebuchet MS"/>
              </a:rPr>
              <a:t>of</a:t>
            </a:r>
            <a:r>
              <a:rPr sz="2000" spc="-20" dirty="0">
                <a:solidFill>
                  <a:srgbClr val="60707C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60707C"/>
                </a:solidFill>
                <a:latin typeface="Trebuchet MS"/>
                <a:cs typeface="Trebuchet MS"/>
              </a:rPr>
              <a:t>mobile</a:t>
            </a:r>
            <a:r>
              <a:rPr sz="2000" spc="-25" dirty="0">
                <a:solidFill>
                  <a:srgbClr val="60707C"/>
                </a:solidFill>
                <a:latin typeface="Trebuchet MS"/>
                <a:cs typeface="Trebuchet MS"/>
              </a:rPr>
              <a:t> </a:t>
            </a:r>
            <a:r>
              <a:rPr sz="2000" spc="85" dirty="0">
                <a:solidFill>
                  <a:srgbClr val="60707C"/>
                </a:solidFill>
                <a:latin typeface="Trebuchet MS"/>
                <a:cs typeface="Trebuchet MS"/>
              </a:rPr>
              <a:t>customer</a:t>
            </a:r>
            <a:r>
              <a:rPr sz="2000" spc="-20" dirty="0">
                <a:solidFill>
                  <a:srgbClr val="60707C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60707C"/>
                </a:solidFill>
                <a:latin typeface="Trebuchet MS"/>
                <a:cs typeface="Trebuchet MS"/>
              </a:rPr>
              <a:t>reviews.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35050" y="2144762"/>
            <a:ext cx="1569085" cy="1324610"/>
          </a:xfrm>
          <a:prstGeom prst="rect">
            <a:avLst/>
          </a:prstGeom>
        </p:spPr>
        <p:txBody>
          <a:bodyPr vert="horz" wrap="square" lIns="0" tIns="3562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05"/>
              </a:spcBef>
            </a:pPr>
            <a:r>
              <a:rPr sz="4050" spc="390" dirty="0">
                <a:solidFill>
                  <a:srgbClr val="0F2536"/>
                </a:solidFill>
                <a:latin typeface="Microsoft Sans Serif"/>
                <a:cs typeface="Microsoft Sans Serif"/>
              </a:rPr>
              <a:t>1,440</a:t>
            </a:r>
            <a:endParaRPr sz="40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sz="1400" b="1" spc="204" dirty="0">
                <a:solidFill>
                  <a:srgbClr val="16B8A6"/>
                </a:solidFill>
                <a:latin typeface="Trebuchet MS"/>
                <a:cs typeface="Trebuchet MS"/>
              </a:rPr>
              <a:t>REVIEWS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87800" y="2144762"/>
            <a:ext cx="1054100" cy="1324610"/>
          </a:xfrm>
          <a:prstGeom prst="rect">
            <a:avLst/>
          </a:prstGeom>
        </p:spPr>
        <p:txBody>
          <a:bodyPr vert="horz" wrap="square" lIns="0" tIns="3562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05"/>
              </a:spcBef>
            </a:pPr>
            <a:r>
              <a:rPr sz="4050" spc="400" dirty="0">
                <a:solidFill>
                  <a:srgbClr val="0F2536"/>
                </a:solidFill>
                <a:latin typeface="Microsoft Sans Serif"/>
                <a:cs typeface="Microsoft Sans Serif"/>
              </a:rPr>
              <a:t>3</a:t>
            </a:r>
            <a:endParaRPr sz="40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sz="1400" b="1" spc="245" dirty="0">
                <a:solidFill>
                  <a:srgbClr val="16B8A6"/>
                </a:solidFill>
                <a:latin typeface="Trebuchet MS"/>
                <a:cs typeface="Trebuchet MS"/>
              </a:rPr>
              <a:t>COLUMNS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40550" y="2144762"/>
            <a:ext cx="2431415" cy="1324610"/>
          </a:xfrm>
          <a:prstGeom prst="rect">
            <a:avLst/>
          </a:prstGeom>
        </p:spPr>
        <p:txBody>
          <a:bodyPr vert="horz" wrap="square" lIns="0" tIns="3562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05"/>
              </a:spcBef>
            </a:pPr>
            <a:r>
              <a:rPr sz="4050" spc="400" dirty="0">
                <a:solidFill>
                  <a:srgbClr val="0F2536"/>
                </a:solidFill>
                <a:latin typeface="Microsoft Sans Serif"/>
                <a:cs typeface="Microsoft Sans Serif"/>
              </a:rPr>
              <a:t>0</a:t>
            </a:r>
            <a:endParaRPr sz="40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sz="1400" b="1" spc="245" dirty="0">
                <a:solidFill>
                  <a:srgbClr val="16B8A6"/>
                </a:solidFill>
                <a:latin typeface="Trebuchet MS"/>
                <a:cs typeface="Trebuchet MS"/>
              </a:rPr>
              <a:t>MISSING</a:t>
            </a:r>
            <a:r>
              <a:rPr sz="1400" b="1" spc="290" dirty="0">
                <a:solidFill>
                  <a:srgbClr val="16B8A6"/>
                </a:solidFill>
                <a:latin typeface="Trebuchet MS"/>
                <a:cs typeface="Trebuchet MS"/>
              </a:rPr>
              <a:t> </a:t>
            </a:r>
            <a:r>
              <a:rPr sz="1400" b="1" dirty="0">
                <a:solidFill>
                  <a:srgbClr val="16B8A6"/>
                </a:solidFill>
                <a:latin typeface="Trebuchet MS"/>
                <a:cs typeface="Trebuchet MS"/>
              </a:rPr>
              <a:t>/</a:t>
            </a:r>
            <a:r>
              <a:rPr sz="1400" b="1" spc="290" dirty="0">
                <a:solidFill>
                  <a:srgbClr val="16B8A6"/>
                </a:solidFill>
                <a:latin typeface="Trebuchet MS"/>
                <a:cs typeface="Trebuchet MS"/>
              </a:rPr>
              <a:t> </a:t>
            </a:r>
            <a:r>
              <a:rPr sz="1400" b="1" spc="195" dirty="0">
                <a:solidFill>
                  <a:srgbClr val="16B8A6"/>
                </a:solidFill>
                <a:latin typeface="Trebuchet MS"/>
                <a:cs typeface="Trebuchet MS"/>
              </a:rPr>
              <a:t>DUPLICATES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893299" y="2144762"/>
            <a:ext cx="1472565" cy="1324610"/>
          </a:xfrm>
          <a:prstGeom prst="rect">
            <a:avLst/>
          </a:prstGeom>
        </p:spPr>
        <p:txBody>
          <a:bodyPr vert="horz" wrap="square" lIns="0" tIns="3562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05"/>
              </a:spcBef>
            </a:pPr>
            <a:r>
              <a:rPr sz="4050" spc="370" dirty="0">
                <a:solidFill>
                  <a:srgbClr val="FF6A5E"/>
                </a:solidFill>
                <a:latin typeface="Microsoft Sans Serif"/>
                <a:cs typeface="Microsoft Sans Serif"/>
              </a:rPr>
              <a:t>3.17</a:t>
            </a:r>
            <a:endParaRPr sz="40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sz="1400" b="1" spc="229" dirty="0">
                <a:solidFill>
                  <a:srgbClr val="16B8A6"/>
                </a:solidFill>
                <a:latin typeface="Trebuchet MS"/>
                <a:cs typeface="Trebuchet MS"/>
              </a:rPr>
              <a:t>MEAN</a:t>
            </a:r>
            <a:r>
              <a:rPr sz="1400" b="1" spc="270" dirty="0">
                <a:solidFill>
                  <a:srgbClr val="16B8A6"/>
                </a:solidFill>
                <a:latin typeface="Trebuchet MS"/>
                <a:cs typeface="Trebuchet MS"/>
              </a:rPr>
              <a:t> </a:t>
            </a:r>
            <a:r>
              <a:rPr sz="1400" b="1" spc="185" dirty="0">
                <a:solidFill>
                  <a:srgbClr val="16B8A6"/>
                </a:solidFill>
                <a:latin typeface="Trebuchet MS"/>
                <a:cs typeface="Trebuchet MS"/>
              </a:rPr>
              <a:t>RATING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06932" y="4311411"/>
            <a:ext cx="4622800" cy="3340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dirty="0">
                <a:solidFill>
                  <a:srgbClr val="0F2536"/>
                </a:solidFill>
                <a:latin typeface="Trebuchet MS"/>
                <a:cs typeface="Trebuchet MS"/>
              </a:rPr>
              <a:t>Rating</a:t>
            </a:r>
            <a:r>
              <a:rPr sz="2000" spc="25" dirty="0">
                <a:solidFill>
                  <a:srgbClr val="0F2536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0F2536"/>
                </a:solidFill>
                <a:latin typeface="Trebuchet MS"/>
                <a:cs typeface="Trebuchet MS"/>
              </a:rPr>
              <a:t>distribution</a:t>
            </a:r>
            <a:r>
              <a:rPr sz="2000" spc="25" dirty="0">
                <a:solidFill>
                  <a:srgbClr val="0F2536"/>
                </a:solidFill>
                <a:latin typeface="Trebuchet MS"/>
                <a:cs typeface="Trebuchet MS"/>
              </a:rPr>
              <a:t> </a:t>
            </a:r>
            <a:r>
              <a:rPr sz="2000" spc="-330" dirty="0">
                <a:solidFill>
                  <a:srgbClr val="0F2536"/>
                </a:solidFill>
                <a:latin typeface="Trebuchet MS"/>
                <a:cs typeface="Trebuchet MS"/>
              </a:rPr>
              <a:t>•</a:t>
            </a:r>
            <a:r>
              <a:rPr sz="2000" spc="25" dirty="0">
                <a:solidFill>
                  <a:srgbClr val="0F2536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0F2536"/>
                </a:solidFill>
                <a:latin typeface="Trebuchet MS"/>
                <a:cs typeface="Trebuchet MS"/>
              </a:rPr>
              <a:t>range</a:t>
            </a:r>
            <a:r>
              <a:rPr sz="2000" spc="25" dirty="0">
                <a:solidFill>
                  <a:srgbClr val="0F2536"/>
                </a:solidFill>
                <a:latin typeface="Trebuchet MS"/>
                <a:cs typeface="Trebuchet MS"/>
              </a:rPr>
              <a:t> </a:t>
            </a:r>
            <a:r>
              <a:rPr sz="2000" spc="55" dirty="0">
                <a:solidFill>
                  <a:srgbClr val="0F2536"/>
                </a:solidFill>
                <a:latin typeface="Trebuchet MS"/>
                <a:cs typeface="Trebuchet MS"/>
              </a:rPr>
              <a:t>1–</a:t>
            </a:r>
            <a:r>
              <a:rPr sz="2000" spc="185" dirty="0">
                <a:solidFill>
                  <a:srgbClr val="0F2536"/>
                </a:solidFill>
                <a:latin typeface="Trebuchet MS"/>
                <a:cs typeface="Trebuchet MS"/>
              </a:rPr>
              <a:t>5</a:t>
            </a:r>
            <a:r>
              <a:rPr sz="2000" spc="30" dirty="0">
                <a:solidFill>
                  <a:srgbClr val="0F2536"/>
                </a:solidFill>
                <a:latin typeface="Trebuchet MS"/>
                <a:cs typeface="Trebuchet MS"/>
              </a:rPr>
              <a:t> </a:t>
            </a:r>
            <a:r>
              <a:rPr sz="2000" spc="-330" dirty="0">
                <a:solidFill>
                  <a:srgbClr val="0F2536"/>
                </a:solidFill>
                <a:latin typeface="Trebuchet MS"/>
                <a:cs typeface="Trebuchet MS"/>
              </a:rPr>
              <a:t>•</a:t>
            </a:r>
            <a:r>
              <a:rPr sz="2000" spc="25" dirty="0">
                <a:solidFill>
                  <a:srgbClr val="0F2536"/>
                </a:solidFill>
                <a:latin typeface="Trebuchet MS"/>
                <a:cs typeface="Trebuchet MS"/>
              </a:rPr>
              <a:t> </a:t>
            </a:r>
            <a:r>
              <a:rPr sz="2000" spc="190" dirty="0">
                <a:solidFill>
                  <a:srgbClr val="0F2536"/>
                </a:solidFill>
                <a:latin typeface="Trebuchet MS"/>
                <a:cs typeface="Trebuchet MS"/>
              </a:rPr>
              <a:t>SD</a:t>
            </a:r>
            <a:r>
              <a:rPr sz="2000" spc="25" dirty="0">
                <a:solidFill>
                  <a:srgbClr val="0F2536"/>
                </a:solidFill>
                <a:latin typeface="Trebuchet MS"/>
                <a:cs typeface="Trebuchet MS"/>
              </a:rPr>
              <a:t> </a:t>
            </a:r>
            <a:r>
              <a:rPr sz="2000" spc="-55" dirty="0">
                <a:solidFill>
                  <a:srgbClr val="0F2536"/>
                </a:solidFill>
                <a:latin typeface="Trebuchet MS"/>
                <a:cs typeface="Trebuchet MS"/>
              </a:rPr>
              <a:t>1.58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827979" y="4877514"/>
            <a:ext cx="15382875" cy="0"/>
          </a:xfrm>
          <a:custGeom>
            <a:avLst/>
            <a:gdLst/>
            <a:ahLst/>
            <a:cxnLst/>
            <a:rect l="l" t="t" r="r" b="b"/>
            <a:pathLst>
              <a:path w="15382875">
                <a:moveTo>
                  <a:pt x="0" y="0"/>
                </a:moveTo>
                <a:lnTo>
                  <a:pt x="15382873" y="0"/>
                </a:lnTo>
              </a:path>
            </a:pathLst>
          </a:custGeom>
          <a:ln w="9524">
            <a:solidFill>
              <a:srgbClr val="0F253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018191" y="6338243"/>
            <a:ext cx="248920" cy="472440"/>
          </a:xfrm>
          <a:prstGeom prst="rect">
            <a:avLst/>
          </a:prstGeom>
        </p:spPr>
        <p:txBody>
          <a:bodyPr vert="vert270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350" spc="-10" dirty="0">
                <a:solidFill>
                  <a:srgbClr val="0F2536"/>
                </a:solidFill>
                <a:latin typeface="Trebuchet MS"/>
                <a:cs typeface="Trebuchet MS"/>
              </a:rPr>
              <a:t>Share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331159" y="4750514"/>
            <a:ext cx="377825" cy="3140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1350" spc="110" dirty="0">
                <a:solidFill>
                  <a:srgbClr val="0F2536"/>
                </a:solidFill>
                <a:latin typeface="Trebuchet MS"/>
                <a:cs typeface="Trebuchet MS"/>
              </a:rPr>
              <a:t>35%</a:t>
            </a:r>
            <a:endParaRPr sz="13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25"/>
              </a:spcBef>
            </a:pPr>
            <a:endParaRPr sz="1350">
              <a:latin typeface="Trebuchet MS"/>
              <a:cs typeface="Trebuchet MS"/>
            </a:endParaRPr>
          </a:p>
          <a:p>
            <a:pPr marR="5080" algn="r">
              <a:lnSpc>
                <a:spcPct val="100000"/>
              </a:lnSpc>
              <a:spcBef>
                <a:spcPts val="5"/>
              </a:spcBef>
            </a:pPr>
            <a:r>
              <a:rPr sz="1350" spc="150" dirty="0">
                <a:solidFill>
                  <a:srgbClr val="0F2536"/>
                </a:solidFill>
                <a:latin typeface="Trebuchet MS"/>
                <a:cs typeface="Trebuchet MS"/>
              </a:rPr>
              <a:t>30%</a:t>
            </a:r>
            <a:endParaRPr sz="13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25"/>
              </a:spcBef>
            </a:pPr>
            <a:endParaRPr sz="1350">
              <a:latin typeface="Trebuchet MS"/>
              <a:cs typeface="Trebuchet MS"/>
            </a:endParaRPr>
          </a:p>
          <a:p>
            <a:pPr marR="5080" algn="r">
              <a:lnSpc>
                <a:spcPct val="100000"/>
              </a:lnSpc>
            </a:pPr>
            <a:r>
              <a:rPr sz="1350" spc="105" dirty="0">
                <a:solidFill>
                  <a:srgbClr val="0F2536"/>
                </a:solidFill>
                <a:latin typeface="Trebuchet MS"/>
                <a:cs typeface="Trebuchet MS"/>
              </a:rPr>
              <a:t>25%</a:t>
            </a:r>
            <a:endParaRPr sz="13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30"/>
              </a:spcBef>
            </a:pPr>
            <a:endParaRPr sz="1350">
              <a:latin typeface="Trebuchet MS"/>
              <a:cs typeface="Trebuchet MS"/>
            </a:endParaRPr>
          </a:p>
          <a:p>
            <a:pPr marR="5080" algn="r">
              <a:lnSpc>
                <a:spcPct val="100000"/>
              </a:lnSpc>
            </a:pPr>
            <a:r>
              <a:rPr sz="1350" spc="135" dirty="0">
                <a:solidFill>
                  <a:srgbClr val="0F2536"/>
                </a:solidFill>
                <a:latin typeface="Trebuchet MS"/>
                <a:cs typeface="Trebuchet MS"/>
              </a:rPr>
              <a:t>20%</a:t>
            </a:r>
            <a:endParaRPr sz="13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30"/>
              </a:spcBef>
            </a:pPr>
            <a:endParaRPr sz="1350">
              <a:latin typeface="Trebuchet MS"/>
              <a:cs typeface="Trebuchet MS"/>
            </a:endParaRPr>
          </a:p>
          <a:p>
            <a:pPr marR="5080" algn="r">
              <a:lnSpc>
                <a:spcPct val="100000"/>
              </a:lnSpc>
            </a:pPr>
            <a:r>
              <a:rPr sz="1350" spc="-25" dirty="0">
                <a:solidFill>
                  <a:srgbClr val="0F2536"/>
                </a:solidFill>
                <a:latin typeface="Trebuchet MS"/>
                <a:cs typeface="Trebuchet MS"/>
              </a:rPr>
              <a:t>15%</a:t>
            </a:r>
            <a:endParaRPr sz="13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30"/>
              </a:spcBef>
            </a:pPr>
            <a:endParaRPr sz="1350">
              <a:latin typeface="Trebuchet MS"/>
              <a:cs typeface="Trebuchet MS"/>
            </a:endParaRPr>
          </a:p>
          <a:p>
            <a:pPr marR="5080" algn="r">
              <a:lnSpc>
                <a:spcPct val="100000"/>
              </a:lnSpc>
            </a:pPr>
            <a:r>
              <a:rPr sz="1350" spc="-25" dirty="0">
                <a:solidFill>
                  <a:srgbClr val="0F2536"/>
                </a:solidFill>
                <a:latin typeface="Trebuchet MS"/>
                <a:cs typeface="Trebuchet MS"/>
              </a:rPr>
              <a:t>10%</a:t>
            </a:r>
            <a:endParaRPr sz="13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30"/>
              </a:spcBef>
            </a:pPr>
            <a:endParaRPr sz="1350">
              <a:latin typeface="Trebuchet MS"/>
              <a:cs typeface="Trebuchet MS"/>
            </a:endParaRPr>
          </a:p>
          <a:p>
            <a:pPr marR="5080" algn="r">
              <a:lnSpc>
                <a:spcPct val="100000"/>
              </a:lnSpc>
            </a:pPr>
            <a:r>
              <a:rPr sz="1350" spc="140" dirty="0">
                <a:solidFill>
                  <a:srgbClr val="0F2536"/>
                </a:solidFill>
                <a:latin typeface="Trebuchet MS"/>
                <a:cs typeface="Trebuchet MS"/>
              </a:rPr>
              <a:t>5%</a:t>
            </a:r>
            <a:endParaRPr sz="1350">
              <a:latin typeface="Trebuchet MS"/>
              <a:cs typeface="Trebuchet M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823217" y="5357506"/>
            <a:ext cx="15392400" cy="2918460"/>
            <a:chOff x="1823217" y="5357506"/>
            <a:chExt cx="15392400" cy="2918460"/>
          </a:xfrm>
        </p:grpSpPr>
        <p:sp>
          <p:nvSpPr>
            <p:cNvPr id="10" name="object 10"/>
            <p:cNvSpPr/>
            <p:nvPr/>
          </p:nvSpPr>
          <p:spPr>
            <a:xfrm>
              <a:off x="1827979" y="8270795"/>
              <a:ext cx="15382875" cy="0"/>
            </a:xfrm>
            <a:custGeom>
              <a:avLst/>
              <a:gdLst/>
              <a:ahLst/>
              <a:cxnLst/>
              <a:rect l="l" t="t" r="r" b="b"/>
              <a:pathLst>
                <a:path w="15382875">
                  <a:moveTo>
                    <a:pt x="0" y="0"/>
                  </a:moveTo>
                  <a:lnTo>
                    <a:pt x="15382873" y="0"/>
                  </a:lnTo>
                </a:path>
              </a:pathLst>
            </a:custGeom>
            <a:ln w="9524">
              <a:solidFill>
                <a:srgbClr val="0F253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827979" y="5362268"/>
              <a:ext cx="15382875" cy="2423795"/>
            </a:xfrm>
            <a:custGeom>
              <a:avLst/>
              <a:gdLst/>
              <a:ahLst/>
              <a:cxnLst/>
              <a:rect l="l" t="t" r="r" b="b"/>
              <a:pathLst>
                <a:path w="15382875" h="2423795">
                  <a:moveTo>
                    <a:pt x="0" y="2423772"/>
                  </a:moveTo>
                  <a:lnTo>
                    <a:pt x="15382873" y="2423772"/>
                  </a:lnTo>
                </a:path>
                <a:path w="15382875" h="2423795">
                  <a:moveTo>
                    <a:pt x="0" y="1939017"/>
                  </a:moveTo>
                  <a:lnTo>
                    <a:pt x="15382873" y="1939017"/>
                  </a:lnTo>
                </a:path>
                <a:path w="15382875" h="2423795">
                  <a:moveTo>
                    <a:pt x="0" y="1454263"/>
                  </a:moveTo>
                  <a:lnTo>
                    <a:pt x="15382873" y="1454263"/>
                  </a:lnTo>
                </a:path>
                <a:path w="15382875" h="2423795">
                  <a:moveTo>
                    <a:pt x="0" y="969508"/>
                  </a:moveTo>
                  <a:lnTo>
                    <a:pt x="15382873" y="969508"/>
                  </a:lnTo>
                </a:path>
                <a:path w="15382875" h="2423795">
                  <a:moveTo>
                    <a:pt x="0" y="484754"/>
                  </a:moveTo>
                  <a:lnTo>
                    <a:pt x="15382873" y="484754"/>
                  </a:lnTo>
                </a:path>
                <a:path w="15382875" h="2423795">
                  <a:moveTo>
                    <a:pt x="0" y="0"/>
                  </a:moveTo>
                  <a:lnTo>
                    <a:pt x="15382873" y="0"/>
                  </a:lnTo>
                </a:path>
              </a:pathLst>
            </a:custGeom>
            <a:ln w="9524">
              <a:solidFill>
                <a:srgbClr val="0F253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432017" y="8143795"/>
            <a:ext cx="27686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195" dirty="0">
                <a:solidFill>
                  <a:srgbClr val="0F2536"/>
                </a:solidFill>
                <a:latin typeface="Trebuchet MS"/>
                <a:cs typeface="Trebuchet MS"/>
              </a:rPr>
              <a:t>0%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181521" y="8286670"/>
            <a:ext cx="18034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450" dirty="0">
                <a:solidFill>
                  <a:srgbClr val="0F2536"/>
                </a:solidFill>
                <a:latin typeface="Trebuchet MS"/>
                <a:cs typeface="Trebuchet MS"/>
              </a:rPr>
              <a:t>1</a:t>
            </a:r>
            <a:r>
              <a:rPr sz="1350" spc="-450" dirty="0">
                <a:solidFill>
                  <a:srgbClr val="0F2536"/>
                </a:solidFill>
                <a:latin typeface="SimSun-ExtB"/>
                <a:cs typeface="SimSun-ExtB"/>
              </a:rPr>
              <a:t>★</a:t>
            </a:r>
            <a:endParaRPr sz="1350">
              <a:latin typeface="SimSun-ExtB"/>
              <a:cs typeface="SimSun-ExtB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277116" y="8286670"/>
            <a:ext cx="22669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220" dirty="0">
                <a:solidFill>
                  <a:srgbClr val="0F2536"/>
                </a:solidFill>
                <a:latin typeface="Trebuchet MS"/>
                <a:cs typeface="Trebuchet MS"/>
              </a:rPr>
              <a:t>2</a:t>
            </a:r>
            <a:r>
              <a:rPr sz="1350" spc="-220" dirty="0">
                <a:solidFill>
                  <a:srgbClr val="0F2536"/>
                </a:solidFill>
                <a:latin typeface="SimSun-ExtB"/>
                <a:cs typeface="SimSun-ExtB"/>
              </a:rPr>
              <a:t>★</a:t>
            </a:r>
            <a:endParaRPr sz="1350">
              <a:latin typeface="SimSun-ExtB"/>
              <a:cs typeface="SimSun-ExtB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261895" y="8225710"/>
            <a:ext cx="51562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41605">
              <a:lnSpc>
                <a:spcPct val="129600"/>
              </a:lnSpc>
              <a:spcBef>
                <a:spcPts val="100"/>
              </a:spcBef>
            </a:pPr>
            <a:r>
              <a:rPr sz="1350" spc="-25" dirty="0">
                <a:solidFill>
                  <a:srgbClr val="0F2536"/>
                </a:solidFill>
                <a:latin typeface="Trebuchet MS"/>
                <a:cs typeface="Trebuchet MS"/>
              </a:rPr>
              <a:t>3</a:t>
            </a:r>
            <a:r>
              <a:rPr sz="1350" spc="-25" dirty="0">
                <a:solidFill>
                  <a:srgbClr val="0F2536"/>
                </a:solidFill>
                <a:latin typeface="SimSun-ExtB"/>
                <a:cs typeface="SimSun-ExtB"/>
              </a:rPr>
              <a:t>★ </a:t>
            </a:r>
            <a:r>
              <a:rPr sz="1350" spc="-10" dirty="0">
                <a:solidFill>
                  <a:srgbClr val="0F2536"/>
                </a:solidFill>
                <a:latin typeface="Trebuchet MS"/>
                <a:cs typeface="Trebuchet MS"/>
              </a:rPr>
              <a:t>Rating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827974" y="4974475"/>
            <a:ext cx="15382875" cy="3296920"/>
          </a:xfrm>
          <a:custGeom>
            <a:avLst/>
            <a:gdLst/>
            <a:ahLst/>
            <a:cxnLst/>
            <a:rect l="l" t="t" r="r" b="b"/>
            <a:pathLst>
              <a:path w="15382875" h="3296920">
                <a:moveTo>
                  <a:pt x="2889173" y="1483918"/>
                </a:moveTo>
                <a:lnTo>
                  <a:pt x="2883255" y="1438973"/>
                </a:lnTo>
                <a:lnTo>
                  <a:pt x="2868676" y="1396047"/>
                </a:lnTo>
                <a:lnTo>
                  <a:pt x="2846006" y="1356791"/>
                </a:lnTo>
                <a:lnTo>
                  <a:pt x="2816123" y="1322705"/>
                </a:lnTo>
                <a:lnTo>
                  <a:pt x="2780157" y="1295107"/>
                </a:lnTo>
                <a:lnTo>
                  <a:pt x="2739491" y="1275054"/>
                </a:lnTo>
                <a:lnTo>
                  <a:pt x="2695702" y="1263319"/>
                </a:lnTo>
                <a:lnTo>
                  <a:pt x="2665603" y="1260360"/>
                </a:lnTo>
                <a:lnTo>
                  <a:pt x="223558" y="1260360"/>
                </a:lnTo>
                <a:lnTo>
                  <a:pt x="178612" y="1266278"/>
                </a:lnTo>
                <a:lnTo>
                  <a:pt x="135686" y="1280845"/>
                </a:lnTo>
                <a:lnTo>
                  <a:pt x="96431" y="1303515"/>
                </a:lnTo>
                <a:lnTo>
                  <a:pt x="62344" y="1333411"/>
                </a:lnTo>
                <a:lnTo>
                  <a:pt x="34747" y="1369377"/>
                </a:lnTo>
                <a:lnTo>
                  <a:pt x="14693" y="1410030"/>
                </a:lnTo>
                <a:lnTo>
                  <a:pt x="2959" y="1453819"/>
                </a:lnTo>
                <a:lnTo>
                  <a:pt x="0" y="1483918"/>
                </a:lnTo>
                <a:lnTo>
                  <a:pt x="0" y="3296323"/>
                </a:lnTo>
                <a:lnTo>
                  <a:pt x="2889173" y="3296323"/>
                </a:lnTo>
                <a:lnTo>
                  <a:pt x="2889173" y="1483918"/>
                </a:lnTo>
                <a:close/>
              </a:path>
              <a:path w="15382875" h="3296920">
                <a:moveTo>
                  <a:pt x="6012599" y="2162581"/>
                </a:moveTo>
                <a:lnTo>
                  <a:pt x="6006681" y="2117636"/>
                </a:lnTo>
                <a:lnTo>
                  <a:pt x="5992101" y="2074697"/>
                </a:lnTo>
                <a:lnTo>
                  <a:pt x="5969432" y="2035441"/>
                </a:lnTo>
                <a:lnTo>
                  <a:pt x="5939548" y="2001354"/>
                </a:lnTo>
                <a:lnTo>
                  <a:pt x="5903582" y="1973757"/>
                </a:lnTo>
                <a:lnTo>
                  <a:pt x="5862917" y="1953704"/>
                </a:lnTo>
                <a:lnTo>
                  <a:pt x="5819127" y="1941982"/>
                </a:lnTo>
                <a:lnTo>
                  <a:pt x="5789028" y="1939010"/>
                </a:lnTo>
                <a:lnTo>
                  <a:pt x="3346983" y="1939010"/>
                </a:lnTo>
                <a:lnTo>
                  <a:pt x="3302038" y="1944928"/>
                </a:lnTo>
                <a:lnTo>
                  <a:pt x="3259112" y="1959508"/>
                </a:lnTo>
                <a:lnTo>
                  <a:pt x="3219856" y="1982177"/>
                </a:lnTo>
                <a:lnTo>
                  <a:pt x="3185769" y="2012061"/>
                </a:lnTo>
                <a:lnTo>
                  <a:pt x="3158172" y="2048027"/>
                </a:lnTo>
                <a:lnTo>
                  <a:pt x="3138119" y="2088692"/>
                </a:lnTo>
                <a:lnTo>
                  <a:pt x="3126384" y="2132482"/>
                </a:lnTo>
                <a:lnTo>
                  <a:pt x="3123425" y="2162581"/>
                </a:lnTo>
                <a:lnTo>
                  <a:pt x="3123425" y="3296323"/>
                </a:lnTo>
                <a:lnTo>
                  <a:pt x="6012599" y="3296323"/>
                </a:lnTo>
                <a:lnTo>
                  <a:pt x="6012599" y="2162581"/>
                </a:lnTo>
                <a:close/>
              </a:path>
              <a:path w="15382875" h="3296920">
                <a:moveTo>
                  <a:pt x="9136024" y="2162581"/>
                </a:moveTo>
                <a:lnTo>
                  <a:pt x="9130106" y="2117636"/>
                </a:lnTo>
                <a:lnTo>
                  <a:pt x="9115527" y="2074697"/>
                </a:lnTo>
                <a:lnTo>
                  <a:pt x="9092857" y="2035441"/>
                </a:lnTo>
                <a:lnTo>
                  <a:pt x="9062974" y="2001354"/>
                </a:lnTo>
                <a:lnTo>
                  <a:pt x="9027008" y="1973757"/>
                </a:lnTo>
                <a:lnTo>
                  <a:pt x="8986342" y="1953704"/>
                </a:lnTo>
                <a:lnTo>
                  <a:pt x="8942553" y="1941982"/>
                </a:lnTo>
                <a:lnTo>
                  <a:pt x="8912454" y="1939010"/>
                </a:lnTo>
                <a:lnTo>
                  <a:pt x="6470421" y="1939010"/>
                </a:lnTo>
                <a:lnTo>
                  <a:pt x="6425463" y="1944928"/>
                </a:lnTo>
                <a:lnTo>
                  <a:pt x="6382537" y="1959508"/>
                </a:lnTo>
                <a:lnTo>
                  <a:pt x="6343282" y="1982177"/>
                </a:lnTo>
                <a:lnTo>
                  <a:pt x="6309195" y="2012061"/>
                </a:lnTo>
                <a:lnTo>
                  <a:pt x="6281598" y="2048027"/>
                </a:lnTo>
                <a:lnTo>
                  <a:pt x="6261544" y="2088692"/>
                </a:lnTo>
                <a:lnTo>
                  <a:pt x="6249822" y="2132482"/>
                </a:lnTo>
                <a:lnTo>
                  <a:pt x="6246850" y="2162581"/>
                </a:lnTo>
                <a:lnTo>
                  <a:pt x="6246850" y="3296323"/>
                </a:lnTo>
                <a:lnTo>
                  <a:pt x="9136024" y="3296323"/>
                </a:lnTo>
                <a:lnTo>
                  <a:pt x="9136024" y="2162581"/>
                </a:lnTo>
                <a:close/>
              </a:path>
              <a:path w="15382875" h="3296920">
                <a:moveTo>
                  <a:pt x="12259450" y="1871726"/>
                </a:moveTo>
                <a:lnTo>
                  <a:pt x="12253532" y="1826780"/>
                </a:lnTo>
                <a:lnTo>
                  <a:pt x="12238952" y="1783854"/>
                </a:lnTo>
                <a:lnTo>
                  <a:pt x="12216282" y="1744586"/>
                </a:lnTo>
                <a:lnTo>
                  <a:pt x="12186399" y="1710499"/>
                </a:lnTo>
                <a:lnTo>
                  <a:pt x="12150433" y="1682902"/>
                </a:lnTo>
                <a:lnTo>
                  <a:pt x="12109768" y="1662861"/>
                </a:lnTo>
                <a:lnTo>
                  <a:pt x="12065978" y="1651127"/>
                </a:lnTo>
                <a:lnTo>
                  <a:pt x="12035879" y="1648155"/>
                </a:lnTo>
                <a:lnTo>
                  <a:pt x="9593847" y="1648155"/>
                </a:lnTo>
                <a:lnTo>
                  <a:pt x="9548889" y="1654073"/>
                </a:lnTo>
                <a:lnTo>
                  <a:pt x="9505963" y="1668653"/>
                </a:lnTo>
                <a:lnTo>
                  <a:pt x="9466707" y="1691322"/>
                </a:lnTo>
                <a:lnTo>
                  <a:pt x="9432620" y="1721205"/>
                </a:lnTo>
                <a:lnTo>
                  <a:pt x="9405023" y="1757172"/>
                </a:lnTo>
                <a:lnTo>
                  <a:pt x="9384970" y="1797837"/>
                </a:lnTo>
                <a:lnTo>
                  <a:pt x="9373235" y="1841627"/>
                </a:lnTo>
                <a:lnTo>
                  <a:pt x="9370276" y="1871726"/>
                </a:lnTo>
                <a:lnTo>
                  <a:pt x="9370276" y="3296323"/>
                </a:lnTo>
                <a:lnTo>
                  <a:pt x="12259450" y="3296323"/>
                </a:lnTo>
                <a:lnTo>
                  <a:pt x="12259450" y="1871726"/>
                </a:lnTo>
                <a:close/>
              </a:path>
              <a:path w="15382875" h="3296920">
                <a:moveTo>
                  <a:pt x="15382875" y="223558"/>
                </a:moveTo>
                <a:lnTo>
                  <a:pt x="15376957" y="178612"/>
                </a:lnTo>
                <a:lnTo>
                  <a:pt x="15362377" y="135686"/>
                </a:lnTo>
                <a:lnTo>
                  <a:pt x="15339708" y="96418"/>
                </a:lnTo>
                <a:lnTo>
                  <a:pt x="15309825" y="62344"/>
                </a:lnTo>
                <a:lnTo>
                  <a:pt x="15273858" y="34747"/>
                </a:lnTo>
                <a:lnTo>
                  <a:pt x="15233193" y="14693"/>
                </a:lnTo>
                <a:lnTo>
                  <a:pt x="15189403" y="2959"/>
                </a:lnTo>
                <a:lnTo>
                  <a:pt x="15159304" y="0"/>
                </a:lnTo>
                <a:lnTo>
                  <a:pt x="12717272" y="0"/>
                </a:lnTo>
                <a:lnTo>
                  <a:pt x="12672314" y="5918"/>
                </a:lnTo>
                <a:lnTo>
                  <a:pt x="12629388" y="20485"/>
                </a:lnTo>
                <a:lnTo>
                  <a:pt x="12590132" y="43154"/>
                </a:lnTo>
                <a:lnTo>
                  <a:pt x="12556046" y="73050"/>
                </a:lnTo>
                <a:lnTo>
                  <a:pt x="12528448" y="109016"/>
                </a:lnTo>
                <a:lnTo>
                  <a:pt x="12508395" y="149669"/>
                </a:lnTo>
                <a:lnTo>
                  <a:pt x="12496673" y="193459"/>
                </a:lnTo>
                <a:lnTo>
                  <a:pt x="12493701" y="223558"/>
                </a:lnTo>
                <a:lnTo>
                  <a:pt x="12493701" y="3296323"/>
                </a:lnTo>
                <a:lnTo>
                  <a:pt x="15382875" y="3296323"/>
                </a:lnTo>
                <a:lnTo>
                  <a:pt x="15382875" y="223558"/>
                </a:lnTo>
                <a:close/>
              </a:path>
            </a:pathLst>
          </a:custGeom>
          <a:solidFill>
            <a:srgbClr val="16B8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2525903" y="8286670"/>
            <a:ext cx="23241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200" dirty="0">
                <a:solidFill>
                  <a:srgbClr val="0F2536"/>
                </a:solidFill>
                <a:latin typeface="Trebuchet MS"/>
                <a:cs typeface="Trebuchet MS"/>
              </a:rPr>
              <a:t>4</a:t>
            </a:r>
            <a:r>
              <a:rPr sz="1350" spc="-200" dirty="0">
                <a:solidFill>
                  <a:srgbClr val="0F2536"/>
                </a:solidFill>
                <a:latin typeface="SimSun-ExtB"/>
                <a:cs typeface="SimSun-ExtB"/>
              </a:rPr>
              <a:t>★</a:t>
            </a:r>
            <a:endParaRPr sz="1350">
              <a:latin typeface="SimSun-ExtB"/>
              <a:cs typeface="SimSun-ExtB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643973" y="8286670"/>
            <a:ext cx="233679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195" dirty="0">
                <a:solidFill>
                  <a:srgbClr val="0F2536"/>
                </a:solidFill>
                <a:latin typeface="Trebuchet MS"/>
                <a:cs typeface="Trebuchet MS"/>
              </a:rPr>
              <a:t>5</a:t>
            </a:r>
            <a:r>
              <a:rPr sz="1350" spc="-195" dirty="0">
                <a:solidFill>
                  <a:srgbClr val="0F2536"/>
                </a:solidFill>
                <a:latin typeface="SimSun-ExtB"/>
                <a:cs typeface="SimSun-ExtB"/>
              </a:rPr>
              <a:t>★</a:t>
            </a:r>
            <a:endParaRPr sz="1350">
              <a:latin typeface="SimSun-ExtB"/>
              <a:cs typeface="SimSun-ExtB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047750" y="9639300"/>
            <a:ext cx="16192500" cy="0"/>
          </a:xfrm>
          <a:custGeom>
            <a:avLst/>
            <a:gdLst/>
            <a:ahLst/>
            <a:cxnLst/>
            <a:rect l="l" t="t" r="r" b="b"/>
            <a:pathLst>
              <a:path w="16192500">
                <a:moveTo>
                  <a:pt x="0" y="0"/>
                </a:moveTo>
                <a:lnTo>
                  <a:pt x="16192498" y="0"/>
                </a:lnTo>
              </a:path>
            </a:pathLst>
          </a:custGeom>
          <a:ln w="19049">
            <a:solidFill>
              <a:srgbClr val="CBD5D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6318507" y="9733279"/>
            <a:ext cx="934719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135" dirty="0">
                <a:solidFill>
                  <a:srgbClr val="60707C"/>
                </a:solidFill>
                <a:latin typeface="Trebuchet MS"/>
                <a:cs typeface="Trebuchet MS"/>
              </a:rPr>
              <a:t>02</a:t>
            </a:r>
            <a:r>
              <a:rPr sz="1350" spc="220" dirty="0">
                <a:solidFill>
                  <a:srgbClr val="60707C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60707C"/>
                </a:solidFill>
                <a:latin typeface="Trebuchet MS"/>
                <a:cs typeface="Trebuchet MS"/>
              </a:rPr>
              <a:t>/</a:t>
            </a:r>
            <a:r>
              <a:rPr sz="1350" spc="220" dirty="0">
                <a:solidFill>
                  <a:srgbClr val="60707C"/>
                </a:solidFill>
                <a:latin typeface="Trebuchet MS"/>
                <a:cs typeface="Trebuchet MS"/>
              </a:rPr>
              <a:t> </a:t>
            </a:r>
            <a:r>
              <a:rPr sz="1350" spc="45" dirty="0">
                <a:solidFill>
                  <a:srgbClr val="60707C"/>
                </a:solidFill>
                <a:latin typeface="Trebuchet MS"/>
                <a:cs typeface="Trebuchet MS"/>
              </a:rPr>
              <a:t>DATA</a:t>
            </a:r>
            <a:endParaRPr sz="13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8">
            <a:extLst>
              <a:ext uri="{FF2B5EF4-FFF2-40B4-BE49-F238E27FC236}">
                <a16:creationId xmlns:a16="http://schemas.microsoft.com/office/drawing/2014/main" id="{82E7BC2E-CDF8-DAAF-AF2C-57BF95A1B1A0}"/>
              </a:ext>
            </a:extLst>
          </p:cNvPr>
          <p:cNvSpPr/>
          <p:nvPr/>
        </p:nvSpPr>
        <p:spPr>
          <a:xfrm>
            <a:off x="685800" y="1104900"/>
            <a:ext cx="16611600" cy="8153400"/>
          </a:xfrm>
          <a:custGeom>
            <a:avLst/>
            <a:gdLst/>
            <a:ahLst/>
            <a:cxnLst/>
            <a:rect l="l" t="t" r="r" b="b"/>
            <a:pathLst>
              <a:path w="3524250" h="1190625">
                <a:moveTo>
                  <a:pt x="3409949" y="1190624"/>
                </a:moveTo>
                <a:lnTo>
                  <a:pt x="114299" y="1190624"/>
                </a:lnTo>
                <a:lnTo>
                  <a:pt x="69809" y="1181642"/>
                </a:lnTo>
                <a:lnTo>
                  <a:pt x="33477" y="1157147"/>
                </a:lnTo>
                <a:lnTo>
                  <a:pt x="8982" y="1120815"/>
                </a:lnTo>
                <a:lnTo>
                  <a:pt x="0" y="1076324"/>
                </a:lnTo>
                <a:lnTo>
                  <a:pt x="0" y="114299"/>
                </a:lnTo>
                <a:lnTo>
                  <a:pt x="8982" y="69809"/>
                </a:lnTo>
                <a:lnTo>
                  <a:pt x="33477" y="33477"/>
                </a:lnTo>
                <a:lnTo>
                  <a:pt x="69809" y="8982"/>
                </a:lnTo>
                <a:lnTo>
                  <a:pt x="114299" y="0"/>
                </a:lnTo>
                <a:lnTo>
                  <a:pt x="3409949" y="0"/>
                </a:lnTo>
                <a:lnTo>
                  <a:pt x="3454440" y="8982"/>
                </a:lnTo>
                <a:lnTo>
                  <a:pt x="3490772" y="33477"/>
                </a:lnTo>
                <a:lnTo>
                  <a:pt x="3515267" y="69809"/>
                </a:lnTo>
                <a:lnTo>
                  <a:pt x="3524249" y="114299"/>
                </a:lnTo>
                <a:lnTo>
                  <a:pt x="3524249" y="1076324"/>
                </a:lnTo>
                <a:lnTo>
                  <a:pt x="3515267" y="1120815"/>
                </a:lnTo>
                <a:lnTo>
                  <a:pt x="3490772" y="1157147"/>
                </a:lnTo>
                <a:lnTo>
                  <a:pt x="3454440" y="1181642"/>
                </a:lnTo>
                <a:lnTo>
                  <a:pt x="3409949" y="1190624"/>
                </a:lnTo>
                <a:close/>
              </a:path>
            </a:pathLst>
          </a:cu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pPr algn="ctr"/>
            <a:br>
              <a:rPr lang="en-US" sz="4000" b="1" dirty="0">
                <a:solidFill>
                  <a:schemeClr val="bg1">
                    <a:lumMod val="75000"/>
                  </a:schemeClr>
                </a:solidFill>
              </a:rPr>
            </a:br>
            <a:r>
              <a:rPr lang="en-US" sz="4000" b="1" dirty="0">
                <a:solidFill>
                  <a:schemeClr val="bg1">
                    <a:lumMod val="75000"/>
                  </a:schemeClr>
                </a:solidFill>
              </a:rPr>
              <a:t>Business Requirements</a:t>
            </a:r>
            <a:br>
              <a:rPr lang="en-US" b="1" dirty="0">
                <a:solidFill>
                  <a:schemeClr val="bg1">
                    <a:lumMod val="75000"/>
                  </a:schemeClr>
                </a:solidFill>
              </a:rPr>
            </a:br>
            <a:endParaRPr lang="en-US" b="1" dirty="0">
              <a:solidFill>
                <a:schemeClr val="bg1">
                  <a:lumMod val="75000"/>
                </a:schemeClr>
              </a:solidFill>
            </a:endParaRPr>
          </a:p>
          <a:p>
            <a:pPr lvl="0" algn="l"/>
            <a:r>
              <a:rPr lang="en-US" sz="2000" b="1" dirty="0">
                <a:solidFill>
                  <a:schemeClr val="bg1">
                    <a:lumMod val="75000"/>
                  </a:schemeClr>
                </a:solidFill>
              </a:rPr>
              <a:t>       Automated Feedback Processing:</a:t>
            </a:r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 Ingest and classify high volumes of unstructured customer feedback (reviews, support tickets, social media) in real time.</a:t>
            </a:r>
            <a:br>
              <a:rPr lang="en-US" sz="2000" dirty="0">
                <a:solidFill>
                  <a:schemeClr val="bg1">
                    <a:lumMod val="75000"/>
                  </a:schemeClr>
                </a:solidFill>
              </a:rPr>
            </a:br>
            <a:endParaRPr lang="en-US" sz="2000" dirty="0">
              <a:solidFill>
                <a:schemeClr val="bg1">
                  <a:lumMod val="75000"/>
                </a:schemeClr>
              </a:solidFill>
            </a:endParaRPr>
          </a:p>
          <a:p>
            <a:pPr lvl="0" algn="l"/>
            <a:r>
              <a:rPr lang="en-US" sz="2000" b="1" dirty="0">
                <a:solidFill>
                  <a:schemeClr val="bg1">
                    <a:lumMod val="75000"/>
                  </a:schemeClr>
                </a:solidFill>
              </a:rPr>
              <a:t>       Aspect-Based Categorization:</a:t>
            </a:r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 Map sentiment to specific operational drivers (e.g., product features, customer support quality).</a:t>
            </a:r>
            <a:br>
              <a:rPr lang="en-US" sz="2000" dirty="0">
                <a:solidFill>
                  <a:schemeClr val="bg1">
                    <a:lumMod val="75000"/>
                  </a:schemeClr>
                </a:solidFill>
              </a:rPr>
            </a:br>
            <a:endParaRPr lang="en-US" sz="2000" dirty="0">
              <a:solidFill>
                <a:schemeClr val="bg1">
                  <a:lumMod val="75000"/>
                </a:schemeClr>
              </a:solidFill>
            </a:endParaRPr>
          </a:p>
          <a:p>
            <a:pPr lvl="0" algn="l"/>
            <a:r>
              <a:rPr lang="en-US" sz="2000" b="1" dirty="0">
                <a:solidFill>
                  <a:schemeClr val="bg1">
                    <a:lumMod val="75000"/>
                  </a:schemeClr>
                </a:solidFill>
              </a:rPr>
              <a:t>       Automated Escalation:</a:t>
            </a:r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 Trigger immediate alerts for critical negative feedback or high-risk customer complaints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.</a:t>
            </a:r>
            <a:br>
              <a:rPr lang="en-US" dirty="0">
                <a:solidFill>
                  <a:schemeClr val="bg1">
                    <a:lumMod val="75000"/>
                  </a:schemeClr>
                </a:solidFill>
              </a:rPr>
            </a:br>
            <a:endParaRPr lang="en-US" dirty="0">
              <a:solidFill>
                <a:schemeClr val="bg1">
                  <a:lumMod val="75000"/>
                </a:schemeClr>
              </a:solidFill>
            </a:endParaRPr>
          </a:p>
          <a:p>
            <a:pPr algn="ctr"/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   </a:t>
            </a:r>
            <a:br>
              <a:rPr lang="en-US" b="1" dirty="0">
                <a:solidFill>
                  <a:schemeClr val="bg1">
                    <a:lumMod val="75000"/>
                  </a:schemeClr>
                </a:solidFill>
              </a:rPr>
            </a:br>
            <a:br>
              <a:rPr lang="en-US" b="1" dirty="0">
                <a:solidFill>
                  <a:schemeClr val="bg1">
                    <a:lumMod val="75000"/>
                  </a:schemeClr>
                </a:solidFill>
              </a:rPr>
            </a:br>
            <a:r>
              <a:rPr lang="en-US" sz="4000" b="1" dirty="0">
                <a:solidFill>
                  <a:schemeClr val="bg1">
                    <a:lumMod val="75000"/>
                  </a:schemeClr>
                </a:solidFill>
              </a:rPr>
              <a:t>Strategic Goals</a:t>
            </a:r>
            <a:br>
              <a:rPr lang="en-US" sz="4000" b="1" dirty="0">
                <a:solidFill>
                  <a:schemeClr val="bg1">
                    <a:lumMod val="75000"/>
                  </a:schemeClr>
                </a:solidFill>
              </a:rPr>
            </a:br>
            <a:endParaRPr lang="en-US" sz="4000" b="1" dirty="0">
              <a:solidFill>
                <a:schemeClr val="bg1">
                  <a:lumMod val="75000"/>
                </a:schemeClr>
              </a:solidFill>
            </a:endParaRPr>
          </a:p>
          <a:p>
            <a:pPr lvl="0"/>
            <a:r>
              <a:rPr lang="en-US" sz="2000" b="1" dirty="0">
                <a:solidFill>
                  <a:schemeClr val="bg1">
                    <a:lumMod val="75000"/>
                  </a:schemeClr>
                </a:solidFill>
              </a:rPr>
              <a:t>        Increase Retention :</a:t>
            </a:r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 Proactively identify customer pain points to reduce churn and increase overall customer satisfaction.</a:t>
            </a:r>
            <a:br>
              <a:rPr lang="en-US" sz="2000" dirty="0">
                <a:solidFill>
                  <a:schemeClr val="bg1">
                    <a:lumMod val="75000"/>
                  </a:schemeClr>
                </a:solidFill>
              </a:rPr>
            </a:br>
            <a:endParaRPr lang="en-US" sz="2000" dirty="0">
              <a:solidFill>
                <a:schemeClr val="bg1">
                  <a:lumMod val="75000"/>
                </a:schemeClr>
              </a:solidFill>
            </a:endParaRPr>
          </a:p>
          <a:p>
            <a:pPr lvl="0"/>
            <a:r>
              <a:rPr lang="en-US" sz="2000" b="1" dirty="0">
                <a:solidFill>
                  <a:schemeClr val="bg1">
                    <a:lumMod val="75000"/>
                  </a:schemeClr>
                </a:solidFill>
              </a:rPr>
              <a:t>        Brand Protection:</a:t>
            </a:r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 Monitor brand health across channels to catch public relations or product defect issues early.</a:t>
            </a:r>
            <a:br>
              <a:rPr lang="en-US" sz="2000" dirty="0">
                <a:solidFill>
                  <a:schemeClr val="bg1">
                    <a:lumMod val="75000"/>
                  </a:schemeClr>
                </a:solidFill>
              </a:rPr>
            </a:br>
            <a:endParaRPr lang="en-US" sz="2000" dirty="0">
              <a:solidFill>
                <a:schemeClr val="bg1">
                  <a:lumMod val="75000"/>
                </a:schemeClr>
              </a:solidFill>
            </a:endParaRPr>
          </a:p>
          <a:p>
            <a:pPr lvl="0"/>
            <a:r>
              <a:rPr lang="en-US" sz="2000" b="1" dirty="0">
                <a:solidFill>
                  <a:schemeClr val="bg1">
                    <a:lumMod val="75000"/>
                  </a:schemeClr>
                </a:solidFill>
              </a:rPr>
              <a:t>        Operational Efficiency:</a:t>
            </a:r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 Replace manual review inspection with automated NLP triage, saving analyst and support team hours.</a:t>
            </a:r>
          </a:p>
          <a:p>
            <a:pPr lvl="0" algn="l"/>
            <a:endParaRPr lang="en-US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70441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465" dirty="0"/>
              <a:t>From</a:t>
            </a:r>
            <a:r>
              <a:rPr spc="295" dirty="0"/>
              <a:t> </a:t>
            </a:r>
            <a:r>
              <a:rPr spc="625" dirty="0"/>
              <a:t>raw</a:t>
            </a:r>
            <a:r>
              <a:rPr spc="300" dirty="0"/>
              <a:t> </a:t>
            </a:r>
            <a:r>
              <a:rPr spc="650" dirty="0"/>
              <a:t>text</a:t>
            </a:r>
            <a:r>
              <a:rPr spc="300" dirty="0"/>
              <a:t> </a:t>
            </a:r>
            <a:r>
              <a:rPr spc="585" dirty="0"/>
              <a:t>to</a:t>
            </a:r>
            <a:r>
              <a:rPr spc="300" dirty="0"/>
              <a:t> </a:t>
            </a:r>
            <a:r>
              <a:rPr spc="450" dirty="0"/>
              <a:t>signal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35050" y="1463437"/>
            <a:ext cx="8350884" cy="3340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160" dirty="0">
                <a:solidFill>
                  <a:srgbClr val="60707C"/>
                </a:solidFill>
                <a:latin typeface="Trebuchet MS"/>
                <a:cs typeface="Trebuchet MS"/>
              </a:rPr>
              <a:t>A</a:t>
            </a:r>
            <a:r>
              <a:rPr sz="2000" spc="-5" dirty="0">
                <a:solidFill>
                  <a:srgbClr val="60707C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60707C"/>
                </a:solidFill>
                <a:latin typeface="Trebuchet MS"/>
                <a:cs typeface="Trebuchet MS"/>
              </a:rPr>
              <a:t>repeatable pipeline </a:t>
            </a:r>
            <a:r>
              <a:rPr sz="2000" spc="65" dirty="0">
                <a:solidFill>
                  <a:srgbClr val="60707C"/>
                </a:solidFill>
                <a:latin typeface="Trebuchet MS"/>
                <a:cs typeface="Trebuchet MS"/>
              </a:rPr>
              <a:t>strips</a:t>
            </a:r>
            <a:r>
              <a:rPr sz="2000" dirty="0">
                <a:solidFill>
                  <a:srgbClr val="60707C"/>
                </a:solidFill>
                <a:latin typeface="Trebuchet MS"/>
                <a:cs typeface="Trebuchet MS"/>
              </a:rPr>
              <a:t> </a:t>
            </a:r>
            <a:r>
              <a:rPr sz="2000" spc="65" dirty="0">
                <a:solidFill>
                  <a:srgbClr val="60707C"/>
                </a:solidFill>
                <a:latin typeface="Trebuchet MS"/>
                <a:cs typeface="Trebuchet MS"/>
              </a:rPr>
              <a:t>noise</a:t>
            </a:r>
            <a:r>
              <a:rPr sz="2000" dirty="0">
                <a:solidFill>
                  <a:srgbClr val="60707C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60707C"/>
                </a:solidFill>
                <a:latin typeface="Trebuchet MS"/>
                <a:cs typeface="Trebuchet MS"/>
              </a:rPr>
              <a:t>while</a:t>
            </a:r>
            <a:r>
              <a:rPr sz="2000" dirty="0">
                <a:solidFill>
                  <a:srgbClr val="60707C"/>
                </a:solidFill>
                <a:latin typeface="Trebuchet MS"/>
                <a:cs typeface="Trebuchet MS"/>
              </a:rPr>
              <a:t> </a:t>
            </a:r>
            <a:r>
              <a:rPr sz="2000" spc="50" dirty="0">
                <a:solidFill>
                  <a:srgbClr val="60707C"/>
                </a:solidFill>
                <a:latin typeface="Trebuchet MS"/>
                <a:cs typeface="Trebuchet MS"/>
              </a:rPr>
              <a:t>preserving</a:t>
            </a:r>
            <a:r>
              <a:rPr sz="2000" spc="-5" dirty="0">
                <a:solidFill>
                  <a:srgbClr val="60707C"/>
                </a:solidFill>
                <a:latin typeface="Trebuchet MS"/>
                <a:cs typeface="Trebuchet MS"/>
              </a:rPr>
              <a:t> </a:t>
            </a:r>
            <a:r>
              <a:rPr sz="2000" spc="85" dirty="0">
                <a:solidFill>
                  <a:srgbClr val="60707C"/>
                </a:solidFill>
                <a:latin typeface="Trebuchet MS"/>
                <a:cs typeface="Trebuchet MS"/>
              </a:rPr>
              <a:t>customer</a:t>
            </a:r>
            <a:r>
              <a:rPr sz="2000" dirty="0">
                <a:solidFill>
                  <a:srgbClr val="60707C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60707C"/>
                </a:solidFill>
                <a:latin typeface="Trebuchet MS"/>
                <a:cs typeface="Trebuchet MS"/>
              </a:rPr>
              <a:t>meaning.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47750" y="2667000"/>
            <a:ext cx="7237095" cy="2381250"/>
          </a:xfrm>
          <a:custGeom>
            <a:avLst/>
            <a:gdLst/>
            <a:ahLst/>
            <a:cxnLst/>
            <a:rect l="l" t="t" r="r" b="b"/>
            <a:pathLst>
              <a:path w="7237095" h="2381250">
                <a:moveTo>
                  <a:pt x="7236766" y="2381249"/>
                </a:moveTo>
                <a:lnTo>
                  <a:pt x="0" y="2381249"/>
                </a:lnTo>
                <a:lnTo>
                  <a:pt x="0" y="0"/>
                </a:lnTo>
                <a:lnTo>
                  <a:pt x="7236766" y="0"/>
                </a:lnTo>
                <a:lnTo>
                  <a:pt x="7236766" y="2381249"/>
                </a:lnTo>
                <a:close/>
              </a:path>
            </a:pathLst>
          </a:custGeom>
          <a:solidFill>
            <a:srgbClr val="EBE6D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396999" y="2936100"/>
          <a:ext cx="5200014" cy="1315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98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43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909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400" b="1" spc="170" dirty="0">
                          <a:solidFill>
                            <a:srgbClr val="16B8A6"/>
                          </a:solidFill>
                          <a:latin typeface="Trebuchet MS"/>
                          <a:cs typeface="Trebuchet MS"/>
                        </a:rPr>
                        <a:t>BEFORE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1270" marB="0">
                    <a:solidFill>
                      <a:srgbClr val="EBE6DB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EBE6D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6625">
                <a:tc>
                  <a:txBody>
                    <a:bodyPr/>
                    <a:lstStyle/>
                    <a:p>
                      <a:pPr marL="31750" marR="80645">
                        <a:lnSpc>
                          <a:spcPct val="116799"/>
                        </a:lnSpc>
                        <a:spcBef>
                          <a:spcPts val="750"/>
                        </a:spcBef>
                      </a:pPr>
                      <a:r>
                        <a:rPr sz="2300" spc="-10" dirty="0">
                          <a:solidFill>
                            <a:srgbClr val="0F2536"/>
                          </a:solidFill>
                          <a:latin typeface="Courier New"/>
                          <a:cs typeface="Courier New"/>
                        </a:rPr>
                        <a:t>“LOVE 10/10</a:t>
                      </a:r>
                      <a:endParaRPr sz="2300">
                        <a:latin typeface="Courier New"/>
                        <a:cs typeface="Courier New"/>
                      </a:endParaRPr>
                    </a:p>
                  </a:txBody>
                  <a:tcPr marL="0" marR="0" marT="95250" marB="0">
                    <a:solidFill>
                      <a:srgbClr val="EBE6DB"/>
                    </a:solidFill>
                  </a:tcPr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1210"/>
                        </a:spcBef>
                      </a:pPr>
                      <a:r>
                        <a:rPr sz="2300" dirty="0">
                          <a:solidFill>
                            <a:srgbClr val="0F2536"/>
                          </a:solidFill>
                          <a:latin typeface="Courier New"/>
                          <a:cs typeface="Courier New"/>
                        </a:rPr>
                        <a:t>this</a:t>
                      </a:r>
                      <a:r>
                        <a:rPr sz="2300" spc="90" dirty="0">
                          <a:solidFill>
                            <a:srgbClr val="0F253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300" dirty="0">
                          <a:solidFill>
                            <a:srgbClr val="0F2536"/>
                          </a:solidFill>
                          <a:latin typeface="Courier New"/>
                          <a:cs typeface="Courier New"/>
                        </a:rPr>
                        <a:t>phone!!!</a:t>
                      </a:r>
                      <a:r>
                        <a:rPr sz="2300" spc="95" dirty="0">
                          <a:solidFill>
                            <a:srgbClr val="0F253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300" spc="-10" dirty="0">
                          <a:solidFill>
                            <a:srgbClr val="0F2536"/>
                          </a:solidFill>
                          <a:latin typeface="Courier New"/>
                          <a:cs typeface="Courier New"/>
                        </a:rPr>
                        <a:t>Camera</a:t>
                      </a:r>
                      <a:endParaRPr sz="2300">
                        <a:latin typeface="Courier New"/>
                        <a:cs typeface="Courier New"/>
                      </a:endParaRPr>
                    </a:p>
                    <a:p>
                      <a:pPr marL="88265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2300" dirty="0">
                          <a:solidFill>
                            <a:srgbClr val="0F2536"/>
                          </a:solidFill>
                          <a:latin typeface="Courier New"/>
                          <a:cs typeface="Courier New"/>
                        </a:rPr>
                        <a:t>—</a:t>
                      </a:r>
                      <a:r>
                        <a:rPr sz="2300" spc="50" dirty="0">
                          <a:solidFill>
                            <a:srgbClr val="0F253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300" dirty="0">
                          <a:solidFill>
                            <a:srgbClr val="0F2536"/>
                          </a:solidFill>
                          <a:latin typeface="Courier New"/>
                          <a:cs typeface="Courier New"/>
                        </a:rPr>
                        <a:t>visit</a:t>
                      </a:r>
                      <a:r>
                        <a:rPr sz="2300" spc="50" dirty="0">
                          <a:solidFill>
                            <a:srgbClr val="0F253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300" spc="-10" dirty="0">
                          <a:solidFill>
                            <a:srgbClr val="0F2536"/>
                          </a:solidFill>
                          <a:latin typeface="Courier New"/>
                          <a:cs typeface="Courier New"/>
                        </a:rPr>
                        <a:t>http://…”</a:t>
                      </a:r>
                      <a:endParaRPr sz="2300">
                        <a:latin typeface="Courier New"/>
                        <a:cs typeface="Courier New"/>
                      </a:endParaRPr>
                    </a:p>
                  </a:txBody>
                  <a:tcPr marL="0" marR="0" marT="153670" marB="0">
                    <a:solidFill>
                      <a:srgbClr val="EBE6DB"/>
                    </a:solidFill>
                  </a:tcPr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1210"/>
                        </a:spcBef>
                      </a:pPr>
                      <a:r>
                        <a:rPr sz="2300" spc="-25" dirty="0">
                          <a:solidFill>
                            <a:srgbClr val="0F2536"/>
                          </a:solidFill>
                          <a:latin typeface="Courier New"/>
                          <a:cs typeface="Courier New"/>
                        </a:rPr>
                        <a:t>is</a:t>
                      </a:r>
                      <a:endParaRPr sz="2300">
                        <a:latin typeface="Courier New"/>
                        <a:cs typeface="Courier New"/>
                      </a:endParaRPr>
                    </a:p>
                  </a:txBody>
                  <a:tcPr marL="0" marR="0" marT="153670" marB="0">
                    <a:solidFill>
                      <a:srgbClr val="EBE6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10001249" y="2667000"/>
            <a:ext cx="7237095" cy="2381250"/>
          </a:xfrm>
          <a:prstGeom prst="rect">
            <a:avLst/>
          </a:prstGeom>
          <a:solidFill>
            <a:srgbClr val="DBE7E4"/>
          </a:solidFill>
        </p:spPr>
        <p:txBody>
          <a:bodyPr vert="horz" wrap="square" lIns="0" tIns="660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20"/>
              </a:spcBef>
            </a:pPr>
            <a:endParaRPr sz="1400">
              <a:latin typeface="Times New Roman"/>
              <a:cs typeface="Times New Roman"/>
            </a:endParaRPr>
          </a:p>
          <a:p>
            <a:pPr marL="570865">
              <a:lnSpc>
                <a:spcPct val="100000"/>
              </a:lnSpc>
            </a:pPr>
            <a:r>
              <a:rPr sz="1400" b="1" spc="145" dirty="0">
                <a:solidFill>
                  <a:srgbClr val="16B8A6"/>
                </a:solidFill>
                <a:latin typeface="Trebuchet MS"/>
                <a:cs typeface="Trebuchet MS"/>
              </a:rPr>
              <a:t>AFTER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50"/>
              </a:spcBef>
            </a:pPr>
            <a:endParaRPr sz="1400">
              <a:latin typeface="Trebuchet MS"/>
              <a:cs typeface="Trebuchet MS"/>
            </a:endParaRPr>
          </a:p>
          <a:p>
            <a:pPr marL="570865">
              <a:lnSpc>
                <a:spcPct val="100000"/>
              </a:lnSpc>
            </a:pPr>
            <a:r>
              <a:rPr sz="2600" dirty="0">
                <a:solidFill>
                  <a:srgbClr val="16B8A6"/>
                </a:solidFill>
                <a:latin typeface="Courier New"/>
                <a:cs typeface="Courier New"/>
              </a:rPr>
              <a:t>“love</a:t>
            </a:r>
            <a:r>
              <a:rPr sz="2600" spc="10" dirty="0">
                <a:solidFill>
                  <a:srgbClr val="16B8A6"/>
                </a:solidFill>
                <a:latin typeface="Courier New"/>
                <a:cs typeface="Courier New"/>
              </a:rPr>
              <a:t> </a:t>
            </a:r>
            <a:r>
              <a:rPr sz="2600" dirty="0">
                <a:solidFill>
                  <a:srgbClr val="16B8A6"/>
                </a:solidFill>
                <a:latin typeface="Courier New"/>
                <a:cs typeface="Courier New"/>
              </a:rPr>
              <a:t>phone</a:t>
            </a:r>
            <a:r>
              <a:rPr sz="2600" spc="10" dirty="0">
                <a:solidFill>
                  <a:srgbClr val="16B8A6"/>
                </a:solidFill>
                <a:latin typeface="Courier New"/>
                <a:cs typeface="Courier New"/>
              </a:rPr>
              <a:t> </a:t>
            </a:r>
            <a:r>
              <a:rPr sz="2600" spc="-10" dirty="0">
                <a:solidFill>
                  <a:srgbClr val="16B8A6"/>
                </a:solidFill>
                <a:latin typeface="Courier New"/>
                <a:cs typeface="Courier New"/>
              </a:rPr>
              <a:t>camera”</a:t>
            </a:r>
            <a:endParaRPr sz="2600">
              <a:latin typeface="Courier New"/>
              <a:cs typeface="Courier Ne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620125" y="3857625"/>
            <a:ext cx="1000125" cy="0"/>
          </a:xfrm>
          <a:custGeom>
            <a:avLst/>
            <a:gdLst/>
            <a:ahLst/>
            <a:cxnLst/>
            <a:rect l="l" t="t" r="r" b="b"/>
            <a:pathLst>
              <a:path w="1000125">
                <a:moveTo>
                  <a:pt x="0" y="0"/>
                </a:moveTo>
                <a:lnTo>
                  <a:pt x="1000124" y="0"/>
                </a:lnTo>
              </a:path>
            </a:pathLst>
          </a:custGeom>
          <a:ln w="47624">
            <a:solidFill>
              <a:srgbClr val="FF6A5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47749" y="6096000"/>
            <a:ext cx="3524250" cy="1190625"/>
          </a:xfrm>
          <a:custGeom>
            <a:avLst/>
            <a:gdLst/>
            <a:ahLst/>
            <a:cxnLst/>
            <a:rect l="l" t="t" r="r" b="b"/>
            <a:pathLst>
              <a:path w="3524250" h="1190625">
                <a:moveTo>
                  <a:pt x="3409949" y="1190624"/>
                </a:moveTo>
                <a:lnTo>
                  <a:pt x="114299" y="1190624"/>
                </a:lnTo>
                <a:lnTo>
                  <a:pt x="69809" y="1181642"/>
                </a:lnTo>
                <a:lnTo>
                  <a:pt x="33477" y="1157147"/>
                </a:lnTo>
                <a:lnTo>
                  <a:pt x="8982" y="1120815"/>
                </a:lnTo>
                <a:lnTo>
                  <a:pt x="0" y="1076324"/>
                </a:lnTo>
                <a:lnTo>
                  <a:pt x="0" y="114299"/>
                </a:lnTo>
                <a:lnTo>
                  <a:pt x="8982" y="69809"/>
                </a:lnTo>
                <a:lnTo>
                  <a:pt x="33477" y="33477"/>
                </a:lnTo>
                <a:lnTo>
                  <a:pt x="69809" y="8982"/>
                </a:lnTo>
                <a:lnTo>
                  <a:pt x="114299" y="0"/>
                </a:lnTo>
                <a:lnTo>
                  <a:pt x="3409949" y="0"/>
                </a:lnTo>
                <a:lnTo>
                  <a:pt x="3454440" y="8982"/>
                </a:lnTo>
                <a:lnTo>
                  <a:pt x="3490772" y="33477"/>
                </a:lnTo>
                <a:lnTo>
                  <a:pt x="3515267" y="69809"/>
                </a:lnTo>
                <a:lnTo>
                  <a:pt x="3524249" y="114299"/>
                </a:lnTo>
                <a:lnTo>
                  <a:pt x="3524249" y="1076324"/>
                </a:lnTo>
                <a:lnTo>
                  <a:pt x="3515267" y="1120815"/>
                </a:lnTo>
                <a:lnTo>
                  <a:pt x="3490772" y="1157147"/>
                </a:lnTo>
                <a:lnTo>
                  <a:pt x="3454440" y="1181642"/>
                </a:lnTo>
                <a:lnTo>
                  <a:pt x="3409949" y="1190624"/>
                </a:lnTo>
                <a:close/>
              </a:path>
            </a:pathLst>
          </a:custGeom>
          <a:solidFill>
            <a:srgbClr val="0F25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87449" y="6540500"/>
            <a:ext cx="3244850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b="1" spc="-395" dirty="0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r>
              <a:rPr sz="1650" b="1" dirty="0">
                <a:solidFill>
                  <a:srgbClr val="FFFFFF"/>
                </a:solidFill>
                <a:latin typeface="Trebuchet MS"/>
                <a:cs typeface="Trebuchet MS"/>
              </a:rPr>
              <a:t>  lowercase</a:t>
            </a:r>
            <a:r>
              <a:rPr sz="1650" b="1" spc="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50" b="1" dirty="0">
                <a:solidFill>
                  <a:srgbClr val="FFFFFF"/>
                </a:solidFill>
                <a:latin typeface="Trebuchet MS"/>
                <a:cs typeface="Trebuchet MS"/>
              </a:rPr>
              <a:t>+</a:t>
            </a:r>
            <a:r>
              <a:rPr sz="1650" b="1" spc="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50" b="1" dirty="0">
                <a:solidFill>
                  <a:srgbClr val="FFFFFF"/>
                </a:solidFill>
                <a:latin typeface="Trebuchet MS"/>
                <a:cs typeface="Trebuchet MS"/>
              </a:rPr>
              <a:t>strip URLs</a:t>
            </a:r>
            <a:r>
              <a:rPr sz="1650" b="1" spc="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50" b="1" spc="50" dirty="0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sz="1650" b="1" spc="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50" b="1" spc="30" dirty="0">
                <a:solidFill>
                  <a:srgbClr val="FFFFFF"/>
                </a:solidFill>
                <a:latin typeface="Trebuchet MS"/>
                <a:cs typeface="Trebuchet MS"/>
              </a:rPr>
              <a:t>HTML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095875" y="6096000"/>
            <a:ext cx="3524250" cy="1190625"/>
          </a:xfrm>
          <a:custGeom>
            <a:avLst/>
            <a:gdLst/>
            <a:ahLst/>
            <a:cxnLst/>
            <a:rect l="l" t="t" r="r" b="b"/>
            <a:pathLst>
              <a:path w="3524250" h="1190625">
                <a:moveTo>
                  <a:pt x="3409949" y="1190624"/>
                </a:moveTo>
                <a:lnTo>
                  <a:pt x="114299" y="1190624"/>
                </a:lnTo>
                <a:lnTo>
                  <a:pt x="69809" y="1181642"/>
                </a:lnTo>
                <a:lnTo>
                  <a:pt x="33477" y="1157147"/>
                </a:lnTo>
                <a:lnTo>
                  <a:pt x="8982" y="1120815"/>
                </a:lnTo>
                <a:lnTo>
                  <a:pt x="0" y="1076324"/>
                </a:lnTo>
                <a:lnTo>
                  <a:pt x="0" y="114299"/>
                </a:lnTo>
                <a:lnTo>
                  <a:pt x="8982" y="69809"/>
                </a:lnTo>
                <a:lnTo>
                  <a:pt x="33477" y="33477"/>
                </a:lnTo>
                <a:lnTo>
                  <a:pt x="69809" y="8982"/>
                </a:lnTo>
                <a:lnTo>
                  <a:pt x="114299" y="0"/>
                </a:lnTo>
                <a:lnTo>
                  <a:pt x="3409949" y="0"/>
                </a:lnTo>
                <a:lnTo>
                  <a:pt x="3454440" y="8982"/>
                </a:lnTo>
                <a:lnTo>
                  <a:pt x="3490772" y="33477"/>
                </a:lnTo>
                <a:lnTo>
                  <a:pt x="3515267" y="69809"/>
                </a:lnTo>
                <a:lnTo>
                  <a:pt x="3524249" y="114299"/>
                </a:lnTo>
                <a:lnTo>
                  <a:pt x="3524249" y="1076324"/>
                </a:lnTo>
                <a:lnTo>
                  <a:pt x="3515267" y="1120815"/>
                </a:lnTo>
                <a:lnTo>
                  <a:pt x="3490772" y="1157147"/>
                </a:lnTo>
                <a:lnTo>
                  <a:pt x="3454440" y="1181642"/>
                </a:lnTo>
                <a:lnTo>
                  <a:pt x="3409949" y="1190624"/>
                </a:lnTo>
                <a:close/>
              </a:path>
            </a:pathLst>
          </a:custGeom>
          <a:solidFill>
            <a:srgbClr val="0F25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716884" y="6363334"/>
            <a:ext cx="2282190" cy="596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7945">
              <a:lnSpc>
                <a:spcPct val="113599"/>
              </a:lnSpc>
              <a:spcBef>
                <a:spcPts val="100"/>
              </a:spcBef>
            </a:pPr>
            <a:r>
              <a:rPr sz="1650" b="1" dirty="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r>
              <a:rPr sz="1650" b="1" spc="4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50" b="1" dirty="0">
                <a:solidFill>
                  <a:srgbClr val="FFFFFF"/>
                </a:solidFill>
                <a:latin typeface="Trebuchet MS"/>
                <a:cs typeface="Trebuchet MS"/>
              </a:rPr>
              <a:t>remove</a:t>
            </a:r>
            <a:r>
              <a:rPr sz="1650" b="1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50" b="1" spc="85" dirty="0">
                <a:solidFill>
                  <a:srgbClr val="FFFFFF"/>
                </a:solidFill>
                <a:latin typeface="Trebuchet MS"/>
                <a:cs typeface="Trebuchet MS"/>
              </a:rPr>
              <a:t>non-</a:t>
            </a:r>
            <a:r>
              <a:rPr sz="1650" b="1" spc="-10" dirty="0">
                <a:solidFill>
                  <a:srgbClr val="FFFFFF"/>
                </a:solidFill>
                <a:latin typeface="Trebuchet MS"/>
                <a:cs typeface="Trebuchet MS"/>
              </a:rPr>
              <a:t>ASCII, </a:t>
            </a:r>
            <a:r>
              <a:rPr sz="1650" b="1" dirty="0">
                <a:solidFill>
                  <a:srgbClr val="FFFFFF"/>
                </a:solidFill>
                <a:latin typeface="Trebuchet MS"/>
                <a:cs typeface="Trebuchet MS"/>
              </a:rPr>
              <a:t>punctuation,</a:t>
            </a:r>
            <a:r>
              <a:rPr sz="1650" b="1" spc="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50" b="1" spc="45" dirty="0">
                <a:solidFill>
                  <a:srgbClr val="FFFFFF"/>
                </a:solidFill>
                <a:latin typeface="Trebuchet MS"/>
                <a:cs typeface="Trebuchet MS"/>
              </a:rPr>
              <a:t>numbers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143999" y="6096000"/>
            <a:ext cx="3524250" cy="1190625"/>
          </a:xfrm>
          <a:custGeom>
            <a:avLst/>
            <a:gdLst/>
            <a:ahLst/>
            <a:cxnLst/>
            <a:rect l="l" t="t" r="r" b="b"/>
            <a:pathLst>
              <a:path w="3524250" h="1190625">
                <a:moveTo>
                  <a:pt x="3409949" y="1190624"/>
                </a:moveTo>
                <a:lnTo>
                  <a:pt x="114299" y="1190624"/>
                </a:lnTo>
                <a:lnTo>
                  <a:pt x="69809" y="1181642"/>
                </a:lnTo>
                <a:lnTo>
                  <a:pt x="33477" y="1157147"/>
                </a:lnTo>
                <a:lnTo>
                  <a:pt x="8982" y="1120815"/>
                </a:lnTo>
                <a:lnTo>
                  <a:pt x="0" y="1076324"/>
                </a:lnTo>
                <a:lnTo>
                  <a:pt x="0" y="114299"/>
                </a:lnTo>
                <a:lnTo>
                  <a:pt x="8982" y="69809"/>
                </a:lnTo>
                <a:lnTo>
                  <a:pt x="33477" y="33477"/>
                </a:lnTo>
                <a:lnTo>
                  <a:pt x="69809" y="8982"/>
                </a:lnTo>
                <a:lnTo>
                  <a:pt x="114299" y="0"/>
                </a:lnTo>
                <a:lnTo>
                  <a:pt x="3409949" y="0"/>
                </a:lnTo>
                <a:lnTo>
                  <a:pt x="3454440" y="8982"/>
                </a:lnTo>
                <a:lnTo>
                  <a:pt x="3490772" y="33477"/>
                </a:lnTo>
                <a:lnTo>
                  <a:pt x="3515267" y="69809"/>
                </a:lnTo>
                <a:lnTo>
                  <a:pt x="3524249" y="114299"/>
                </a:lnTo>
                <a:lnTo>
                  <a:pt x="3524249" y="1076324"/>
                </a:lnTo>
                <a:lnTo>
                  <a:pt x="3515267" y="1120815"/>
                </a:lnTo>
                <a:lnTo>
                  <a:pt x="3490772" y="1157147"/>
                </a:lnTo>
                <a:lnTo>
                  <a:pt x="3454440" y="1181642"/>
                </a:lnTo>
                <a:lnTo>
                  <a:pt x="3409949" y="1190624"/>
                </a:lnTo>
                <a:close/>
              </a:path>
            </a:pathLst>
          </a:custGeom>
          <a:solidFill>
            <a:srgbClr val="0F25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9217471" y="6540500"/>
            <a:ext cx="3377565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b="1" dirty="0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r>
              <a:rPr sz="1650" b="1" spc="3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50" b="1" spc="50" dirty="0">
                <a:solidFill>
                  <a:srgbClr val="FFFFFF"/>
                </a:solidFill>
                <a:latin typeface="Trebuchet MS"/>
                <a:cs typeface="Trebuchet MS"/>
              </a:rPr>
              <a:t>drop</a:t>
            </a:r>
            <a:r>
              <a:rPr sz="1650" b="1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50" b="1" spc="70" dirty="0">
                <a:solidFill>
                  <a:srgbClr val="FFFFFF"/>
                </a:solidFill>
                <a:latin typeface="Trebuchet MS"/>
                <a:cs typeface="Trebuchet MS"/>
              </a:rPr>
              <a:t>stopwords</a:t>
            </a:r>
            <a:r>
              <a:rPr sz="1650" b="1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50" b="1" dirty="0">
                <a:solidFill>
                  <a:srgbClr val="FFFFFF"/>
                </a:solidFill>
                <a:latin typeface="Trebuchet MS"/>
                <a:cs typeface="Trebuchet MS"/>
              </a:rPr>
              <a:t>+</a:t>
            </a:r>
            <a:r>
              <a:rPr sz="1650" b="1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50" b="1" dirty="0">
                <a:solidFill>
                  <a:srgbClr val="FFFFFF"/>
                </a:solidFill>
                <a:latin typeface="Trebuchet MS"/>
                <a:cs typeface="Trebuchet MS"/>
              </a:rPr>
              <a:t>short</a:t>
            </a:r>
            <a:r>
              <a:rPr sz="1650" b="1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50" b="1" spc="40" dirty="0">
                <a:solidFill>
                  <a:srgbClr val="FFFFFF"/>
                </a:solidFill>
                <a:latin typeface="Trebuchet MS"/>
                <a:cs typeface="Trebuchet MS"/>
              </a:rPr>
              <a:t>tokens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3192123" y="6096000"/>
            <a:ext cx="3524250" cy="1190625"/>
          </a:xfrm>
          <a:custGeom>
            <a:avLst/>
            <a:gdLst/>
            <a:ahLst/>
            <a:cxnLst/>
            <a:rect l="l" t="t" r="r" b="b"/>
            <a:pathLst>
              <a:path w="3524250" h="1190625">
                <a:moveTo>
                  <a:pt x="3409949" y="1190624"/>
                </a:moveTo>
                <a:lnTo>
                  <a:pt x="114299" y="1190624"/>
                </a:lnTo>
                <a:lnTo>
                  <a:pt x="69809" y="1181642"/>
                </a:lnTo>
                <a:lnTo>
                  <a:pt x="33478" y="1157147"/>
                </a:lnTo>
                <a:lnTo>
                  <a:pt x="8982" y="1120815"/>
                </a:lnTo>
                <a:lnTo>
                  <a:pt x="0" y="1076324"/>
                </a:lnTo>
                <a:lnTo>
                  <a:pt x="0" y="114299"/>
                </a:lnTo>
                <a:lnTo>
                  <a:pt x="8982" y="69809"/>
                </a:lnTo>
                <a:lnTo>
                  <a:pt x="33478" y="33477"/>
                </a:lnTo>
                <a:lnTo>
                  <a:pt x="69809" y="8982"/>
                </a:lnTo>
                <a:lnTo>
                  <a:pt x="114299" y="0"/>
                </a:lnTo>
                <a:lnTo>
                  <a:pt x="3409949" y="0"/>
                </a:lnTo>
                <a:lnTo>
                  <a:pt x="3454440" y="8982"/>
                </a:lnTo>
                <a:lnTo>
                  <a:pt x="3490772" y="33477"/>
                </a:lnTo>
                <a:lnTo>
                  <a:pt x="3515267" y="69809"/>
                </a:lnTo>
                <a:lnTo>
                  <a:pt x="3524249" y="114299"/>
                </a:lnTo>
                <a:lnTo>
                  <a:pt x="3524249" y="1076324"/>
                </a:lnTo>
                <a:lnTo>
                  <a:pt x="3515267" y="1120815"/>
                </a:lnTo>
                <a:lnTo>
                  <a:pt x="3490772" y="1157147"/>
                </a:lnTo>
                <a:lnTo>
                  <a:pt x="3454440" y="1181642"/>
                </a:lnTo>
                <a:lnTo>
                  <a:pt x="3409949" y="1190624"/>
                </a:lnTo>
                <a:close/>
              </a:path>
            </a:pathLst>
          </a:custGeom>
          <a:solidFill>
            <a:srgbClr val="16B8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3609389" y="6540500"/>
            <a:ext cx="2689860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b="1" spc="85" dirty="0">
                <a:solidFill>
                  <a:srgbClr val="FFFFFF"/>
                </a:solidFill>
                <a:latin typeface="Trebuchet MS"/>
                <a:cs typeface="Trebuchet MS"/>
              </a:rPr>
              <a:t>4</a:t>
            </a:r>
            <a:r>
              <a:rPr sz="1650" b="1" spc="2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50" b="1" spc="65" dirty="0">
                <a:solidFill>
                  <a:srgbClr val="FFFFFF"/>
                </a:solidFill>
                <a:latin typeface="Trebuchet MS"/>
                <a:cs typeface="Trebuchet MS"/>
              </a:rPr>
              <a:t>WordNet</a:t>
            </a:r>
            <a:r>
              <a:rPr sz="1650" b="1" spc="-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FFFFFF"/>
                </a:solidFill>
                <a:latin typeface="Trebuchet MS"/>
                <a:cs typeface="Trebuchet MS"/>
              </a:rPr>
              <a:t>lemmatization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122912" y="7959725"/>
            <a:ext cx="804227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218940" algn="l"/>
                <a:tab pos="4695190" algn="l"/>
              </a:tabLst>
            </a:pPr>
            <a:r>
              <a:rPr sz="2250" spc="250" dirty="0">
                <a:solidFill>
                  <a:srgbClr val="FF6A5E"/>
                </a:solidFill>
                <a:latin typeface="Microsoft Sans Serif"/>
                <a:cs typeface="Microsoft Sans Serif"/>
              </a:rPr>
              <a:t>4</a:t>
            </a:r>
            <a:r>
              <a:rPr sz="2250" spc="155" dirty="0">
                <a:solidFill>
                  <a:srgbClr val="FF6A5E"/>
                </a:solidFill>
                <a:latin typeface="Microsoft Sans Serif"/>
                <a:cs typeface="Microsoft Sans Serif"/>
              </a:rPr>
              <a:t> </a:t>
            </a:r>
            <a:r>
              <a:rPr sz="2250" spc="295" dirty="0">
                <a:solidFill>
                  <a:srgbClr val="FF6A5E"/>
                </a:solidFill>
                <a:latin typeface="Microsoft Sans Serif"/>
                <a:cs typeface="Microsoft Sans Serif"/>
              </a:rPr>
              <a:t>empty</a:t>
            </a:r>
            <a:r>
              <a:rPr sz="2250" spc="155" dirty="0">
                <a:solidFill>
                  <a:srgbClr val="FF6A5E"/>
                </a:solidFill>
                <a:latin typeface="Microsoft Sans Serif"/>
                <a:cs typeface="Microsoft Sans Serif"/>
              </a:rPr>
              <a:t> </a:t>
            </a:r>
            <a:r>
              <a:rPr sz="2250" spc="280" dirty="0">
                <a:solidFill>
                  <a:srgbClr val="FF6A5E"/>
                </a:solidFill>
                <a:latin typeface="Microsoft Sans Serif"/>
                <a:cs typeface="Microsoft Sans Serif"/>
              </a:rPr>
              <a:t>reviews</a:t>
            </a:r>
            <a:r>
              <a:rPr sz="2250" spc="160" dirty="0">
                <a:solidFill>
                  <a:srgbClr val="FF6A5E"/>
                </a:solidFill>
                <a:latin typeface="Microsoft Sans Serif"/>
                <a:cs typeface="Microsoft Sans Serif"/>
              </a:rPr>
              <a:t> </a:t>
            </a:r>
            <a:r>
              <a:rPr sz="2250" spc="254" dirty="0">
                <a:solidFill>
                  <a:srgbClr val="FF6A5E"/>
                </a:solidFill>
                <a:latin typeface="Microsoft Sans Serif"/>
                <a:cs typeface="Microsoft Sans Serif"/>
              </a:rPr>
              <a:t>removed</a:t>
            </a:r>
            <a:r>
              <a:rPr sz="2250" dirty="0">
                <a:solidFill>
                  <a:srgbClr val="FF6A5E"/>
                </a:solidFill>
                <a:latin typeface="Microsoft Sans Serif"/>
                <a:cs typeface="Microsoft Sans Serif"/>
              </a:rPr>
              <a:t>	</a:t>
            </a:r>
            <a:r>
              <a:rPr sz="2250" spc="-50" dirty="0">
                <a:solidFill>
                  <a:srgbClr val="FF6A5E"/>
                </a:solidFill>
                <a:latin typeface="Microsoft Sans Serif"/>
                <a:cs typeface="Microsoft Sans Serif"/>
              </a:rPr>
              <a:t>→</a:t>
            </a:r>
            <a:r>
              <a:rPr sz="2250" dirty="0">
                <a:solidFill>
                  <a:srgbClr val="FF6A5E"/>
                </a:solidFill>
                <a:latin typeface="Microsoft Sans Serif"/>
                <a:cs typeface="Microsoft Sans Serif"/>
              </a:rPr>
              <a:t>	</a:t>
            </a:r>
            <a:r>
              <a:rPr sz="2250" spc="220" dirty="0">
                <a:solidFill>
                  <a:srgbClr val="FF6A5E"/>
                </a:solidFill>
                <a:latin typeface="Microsoft Sans Serif"/>
                <a:cs typeface="Microsoft Sans Serif"/>
              </a:rPr>
              <a:t>FINAL</a:t>
            </a:r>
            <a:r>
              <a:rPr sz="2250" spc="165" dirty="0">
                <a:solidFill>
                  <a:srgbClr val="FF6A5E"/>
                </a:solidFill>
                <a:latin typeface="Microsoft Sans Serif"/>
                <a:cs typeface="Microsoft Sans Serif"/>
              </a:rPr>
              <a:t> </a:t>
            </a:r>
            <a:r>
              <a:rPr sz="2250" spc="135" dirty="0">
                <a:solidFill>
                  <a:srgbClr val="FF6A5E"/>
                </a:solidFill>
                <a:latin typeface="Microsoft Sans Serif"/>
                <a:cs typeface="Microsoft Sans Serif"/>
              </a:rPr>
              <a:t>CORPUS</a:t>
            </a:r>
            <a:r>
              <a:rPr sz="2250" spc="165" dirty="0">
                <a:solidFill>
                  <a:srgbClr val="FF6A5E"/>
                </a:solidFill>
                <a:latin typeface="Microsoft Sans Serif"/>
                <a:cs typeface="Microsoft Sans Serif"/>
              </a:rPr>
              <a:t> </a:t>
            </a:r>
            <a:r>
              <a:rPr sz="2250" spc="210" dirty="0">
                <a:solidFill>
                  <a:srgbClr val="FF6A5E"/>
                </a:solidFill>
                <a:latin typeface="Microsoft Sans Serif"/>
                <a:cs typeface="Microsoft Sans Serif"/>
              </a:rPr>
              <a:t>1,436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047750" y="9639300"/>
            <a:ext cx="16192500" cy="0"/>
          </a:xfrm>
          <a:custGeom>
            <a:avLst/>
            <a:gdLst/>
            <a:ahLst/>
            <a:cxnLst/>
            <a:rect l="l" t="t" r="r" b="b"/>
            <a:pathLst>
              <a:path w="16192500">
                <a:moveTo>
                  <a:pt x="0" y="0"/>
                </a:moveTo>
                <a:lnTo>
                  <a:pt x="16192498" y="0"/>
                </a:lnTo>
              </a:path>
            </a:pathLst>
          </a:custGeom>
          <a:ln w="19049">
            <a:solidFill>
              <a:srgbClr val="CBD5D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5707419" y="9733279"/>
            <a:ext cx="154559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145" dirty="0">
                <a:solidFill>
                  <a:srgbClr val="60707C"/>
                </a:solidFill>
                <a:latin typeface="Trebuchet MS"/>
                <a:cs typeface="Trebuchet MS"/>
              </a:rPr>
              <a:t>03</a:t>
            </a:r>
            <a:r>
              <a:rPr sz="1350" spc="220" dirty="0">
                <a:solidFill>
                  <a:srgbClr val="60707C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60707C"/>
                </a:solidFill>
                <a:latin typeface="Trebuchet MS"/>
                <a:cs typeface="Trebuchet MS"/>
              </a:rPr>
              <a:t>/</a:t>
            </a:r>
            <a:r>
              <a:rPr sz="1350" spc="220" dirty="0">
                <a:solidFill>
                  <a:srgbClr val="60707C"/>
                </a:solidFill>
                <a:latin typeface="Trebuchet MS"/>
                <a:cs typeface="Trebuchet MS"/>
              </a:rPr>
              <a:t> </a:t>
            </a:r>
            <a:r>
              <a:rPr sz="1350" spc="60" dirty="0">
                <a:solidFill>
                  <a:srgbClr val="60707C"/>
                </a:solidFill>
                <a:latin typeface="Trebuchet MS"/>
                <a:cs typeface="Trebuchet MS"/>
              </a:rPr>
              <a:t>PREPROCESS</a:t>
            </a:r>
            <a:endParaRPr sz="13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470" dirty="0"/>
              <a:t>What</a:t>
            </a:r>
            <a:r>
              <a:rPr spc="300" dirty="0"/>
              <a:t> </a:t>
            </a:r>
            <a:r>
              <a:rPr spc="550" dirty="0"/>
              <a:t>customers</a:t>
            </a:r>
            <a:r>
              <a:rPr spc="300" dirty="0"/>
              <a:t> </a:t>
            </a:r>
            <a:r>
              <a:rPr spc="585" dirty="0"/>
              <a:t>talk</a:t>
            </a:r>
            <a:r>
              <a:rPr spc="305" dirty="0"/>
              <a:t> </a:t>
            </a:r>
            <a:r>
              <a:rPr spc="500" dirty="0"/>
              <a:t>about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581671" y="1419859"/>
            <a:ext cx="2576195" cy="982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76275">
              <a:lnSpc>
                <a:spcPts val="5895"/>
              </a:lnSpc>
              <a:spcBef>
                <a:spcPts val="100"/>
              </a:spcBef>
            </a:pPr>
            <a:r>
              <a:rPr sz="4950" spc="480" dirty="0">
                <a:solidFill>
                  <a:srgbClr val="FF6A5E"/>
                </a:solidFill>
                <a:latin typeface="Microsoft Sans Serif"/>
                <a:cs typeface="Microsoft Sans Serif"/>
              </a:rPr>
              <a:t>6,002</a:t>
            </a:r>
            <a:endParaRPr sz="4950">
              <a:latin typeface="Microsoft Sans Serif"/>
              <a:cs typeface="Microsoft Sans Serif"/>
            </a:endParaRPr>
          </a:p>
          <a:p>
            <a:pPr marL="12700">
              <a:lnSpc>
                <a:spcPts val="1635"/>
              </a:lnSpc>
            </a:pPr>
            <a:r>
              <a:rPr sz="1400" b="1" spc="254" dirty="0">
                <a:solidFill>
                  <a:srgbClr val="16B8A6"/>
                </a:solidFill>
                <a:latin typeface="Trebuchet MS"/>
                <a:cs typeface="Trebuchet MS"/>
              </a:rPr>
              <a:t>WORDS</a:t>
            </a:r>
            <a:r>
              <a:rPr sz="1400" b="1" spc="270" dirty="0">
                <a:solidFill>
                  <a:srgbClr val="16B8A6"/>
                </a:solidFill>
                <a:latin typeface="Trebuchet MS"/>
                <a:cs typeface="Trebuchet MS"/>
              </a:rPr>
              <a:t> </a:t>
            </a:r>
            <a:r>
              <a:rPr sz="1400" b="1" spc="120" dirty="0">
                <a:solidFill>
                  <a:srgbClr val="16B8A6"/>
                </a:solidFill>
                <a:latin typeface="Trebuchet MS"/>
                <a:cs typeface="Trebuchet MS"/>
              </a:rPr>
              <a:t>IN</a:t>
            </a:r>
            <a:r>
              <a:rPr sz="1400" b="1" spc="270" dirty="0">
                <a:solidFill>
                  <a:srgbClr val="16B8A6"/>
                </a:solidFill>
                <a:latin typeface="Trebuchet MS"/>
                <a:cs typeface="Trebuchet MS"/>
              </a:rPr>
              <a:t> </a:t>
            </a:r>
            <a:r>
              <a:rPr sz="1400" b="1" spc="220" dirty="0">
                <a:solidFill>
                  <a:srgbClr val="16B8A6"/>
                </a:solidFill>
                <a:latin typeface="Trebuchet MS"/>
                <a:cs typeface="Trebuchet MS"/>
              </a:rPr>
              <a:t>VOCABULARY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70170" y="2757554"/>
            <a:ext cx="3469640" cy="3168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900" dirty="0">
                <a:solidFill>
                  <a:srgbClr val="0F2536"/>
                </a:solidFill>
                <a:latin typeface="Trebuchet MS"/>
                <a:cs typeface="Trebuchet MS"/>
              </a:rPr>
              <a:t>Top</a:t>
            </a:r>
            <a:r>
              <a:rPr sz="1900" spc="-5" dirty="0">
                <a:solidFill>
                  <a:srgbClr val="0F2536"/>
                </a:solidFill>
                <a:latin typeface="Trebuchet MS"/>
                <a:cs typeface="Trebuchet MS"/>
              </a:rPr>
              <a:t> </a:t>
            </a:r>
            <a:r>
              <a:rPr sz="1900" spc="50" dirty="0">
                <a:solidFill>
                  <a:srgbClr val="0F2536"/>
                </a:solidFill>
                <a:latin typeface="Trebuchet MS"/>
                <a:cs typeface="Trebuchet MS"/>
              </a:rPr>
              <a:t>terms</a:t>
            </a:r>
            <a:r>
              <a:rPr sz="1900" dirty="0">
                <a:solidFill>
                  <a:srgbClr val="0F2536"/>
                </a:solidFill>
                <a:latin typeface="Trebuchet MS"/>
                <a:cs typeface="Trebuchet MS"/>
              </a:rPr>
              <a:t> </a:t>
            </a:r>
            <a:r>
              <a:rPr sz="1900" spc="-320" dirty="0">
                <a:solidFill>
                  <a:srgbClr val="0F2536"/>
                </a:solidFill>
                <a:latin typeface="Trebuchet MS"/>
                <a:cs typeface="Trebuchet MS"/>
              </a:rPr>
              <a:t>•</a:t>
            </a:r>
            <a:r>
              <a:rPr sz="1900" dirty="0">
                <a:solidFill>
                  <a:srgbClr val="0F2536"/>
                </a:solidFill>
                <a:latin typeface="Trebuchet MS"/>
                <a:cs typeface="Trebuchet MS"/>
              </a:rPr>
              <a:t> indexed </a:t>
            </a:r>
            <a:r>
              <a:rPr sz="1900" spc="35" dirty="0">
                <a:solidFill>
                  <a:srgbClr val="0F2536"/>
                </a:solidFill>
                <a:latin typeface="Trebuchet MS"/>
                <a:cs typeface="Trebuchet MS"/>
              </a:rPr>
              <a:t>frequency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69849" y="3332726"/>
            <a:ext cx="500380" cy="2197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spc="45" dirty="0">
                <a:solidFill>
                  <a:srgbClr val="0F2536"/>
                </a:solidFill>
                <a:latin typeface="Trebuchet MS"/>
                <a:cs typeface="Trebuchet MS"/>
              </a:rPr>
              <a:t>phone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65339" y="3811249"/>
            <a:ext cx="405130" cy="2197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spc="50" dirty="0">
                <a:solidFill>
                  <a:srgbClr val="0F2536"/>
                </a:solidFill>
                <a:latin typeface="Trebuchet MS"/>
                <a:cs typeface="Trebuchet MS"/>
              </a:rPr>
              <a:t>good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76908" y="4289773"/>
            <a:ext cx="589280" cy="2197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spc="-10" dirty="0">
                <a:solidFill>
                  <a:srgbClr val="0F2536"/>
                </a:solidFill>
                <a:latin typeface="Trebuchet MS"/>
                <a:cs typeface="Trebuchet MS"/>
              </a:rPr>
              <a:t>camera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82216" y="4768296"/>
            <a:ext cx="576580" cy="2197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spc="-10" dirty="0">
                <a:solidFill>
                  <a:srgbClr val="0F2536"/>
                </a:solidFill>
                <a:latin typeface="Trebuchet MS"/>
                <a:cs typeface="Trebuchet MS"/>
              </a:rPr>
              <a:t>battery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72987" y="5246820"/>
            <a:ext cx="694690" cy="2197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spc="65" dirty="0">
                <a:solidFill>
                  <a:srgbClr val="0F2536"/>
                </a:solidFill>
                <a:latin typeface="Trebuchet MS"/>
                <a:cs typeface="Trebuchet MS"/>
              </a:rPr>
              <a:t>samsung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83799" y="5419238"/>
            <a:ext cx="236220" cy="397510"/>
          </a:xfrm>
          <a:prstGeom prst="rect">
            <a:avLst/>
          </a:prstGeom>
        </p:spPr>
        <p:txBody>
          <a:bodyPr vert="vert270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250" spc="-20" dirty="0">
                <a:solidFill>
                  <a:srgbClr val="0F2536"/>
                </a:solidFill>
                <a:latin typeface="Trebuchet MS"/>
                <a:cs typeface="Trebuchet MS"/>
              </a:rPr>
              <a:t>Term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439542" y="5725343"/>
            <a:ext cx="531495" cy="2197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spc="-10" dirty="0">
                <a:solidFill>
                  <a:srgbClr val="0F2536"/>
                </a:solidFill>
                <a:latin typeface="Trebuchet MS"/>
                <a:cs typeface="Trebuchet MS"/>
              </a:rPr>
              <a:t>screen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679079" y="6203867"/>
            <a:ext cx="291465" cy="2197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spc="45" dirty="0">
                <a:solidFill>
                  <a:srgbClr val="0F2536"/>
                </a:solidFill>
                <a:latin typeface="Trebuchet MS"/>
                <a:cs typeface="Trebuchet MS"/>
              </a:rPr>
              <a:t>use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343633" y="6682391"/>
            <a:ext cx="626110" cy="2197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spc="35" dirty="0">
                <a:solidFill>
                  <a:srgbClr val="0F2536"/>
                </a:solidFill>
                <a:latin typeface="Trebuchet MS"/>
                <a:cs typeface="Trebuchet MS"/>
              </a:rPr>
              <a:t>product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558753" y="7160914"/>
            <a:ext cx="410845" cy="2197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spc="-10" dirty="0">
                <a:solidFill>
                  <a:srgbClr val="0F2536"/>
                </a:solidFill>
                <a:latin typeface="Trebuchet MS"/>
                <a:cs typeface="Trebuchet MS"/>
              </a:rPr>
              <a:t>great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423940" y="7639438"/>
            <a:ext cx="534670" cy="2197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spc="-10" dirty="0">
                <a:solidFill>
                  <a:srgbClr val="0F2536"/>
                </a:solidFill>
                <a:latin typeface="Trebuchet MS"/>
                <a:cs typeface="Trebuchet MS"/>
              </a:rPr>
              <a:t>quality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075002" y="3243172"/>
            <a:ext cx="7607934" cy="4749800"/>
          </a:xfrm>
          <a:custGeom>
            <a:avLst/>
            <a:gdLst/>
            <a:ahLst/>
            <a:cxnLst/>
            <a:rect l="l" t="t" r="r" b="b"/>
            <a:pathLst>
              <a:path w="7607934" h="4749800">
                <a:moveTo>
                  <a:pt x="2130158" y="4337431"/>
                </a:moveTo>
                <a:lnTo>
                  <a:pt x="2103958" y="4307611"/>
                </a:lnTo>
                <a:lnTo>
                  <a:pt x="2099437" y="4306722"/>
                </a:lnTo>
                <a:lnTo>
                  <a:pt x="0" y="4306722"/>
                </a:lnTo>
                <a:lnTo>
                  <a:pt x="0" y="4749355"/>
                </a:lnTo>
                <a:lnTo>
                  <a:pt x="2099437" y="4749355"/>
                </a:lnTo>
                <a:lnTo>
                  <a:pt x="2129256" y="4723155"/>
                </a:lnTo>
                <a:lnTo>
                  <a:pt x="2130158" y="4718634"/>
                </a:lnTo>
                <a:lnTo>
                  <a:pt x="2130158" y="4337431"/>
                </a:lnTo>
                <a:close/>
              </a:path>
              <a:path w="7607934" h="4749800">
                <a:moveTo>
                  <a:pt x="2282317" y="3858907"/>
                </a:moveTo>
                <a:lnTo>
                  <a:pt x="2256117" y="3829088"/>
                </a:lnTo>
                <a:lnTo>
                  <a:pt x="2251595" y="3828199"/>
                </a:lnTo>
                <a:lnTo>
                  <a:pt x="0" y="3828199"/>
                </a:lnTo>
                <a:lnTo>
                  <a:pt x="0" y="4270832"/>
                </a:lnTo>
                <a:lnTo>
                  <a:pt x="2251595" y="4270832"/>
                </a:lnTo>
                <a:lnTo>
                  <a:pt x="2281415" y="4244632"/>
                </a:lnTo>
                <a:lnTo>
                  <a:pt x="2282317" y="4240111"/>
                </a:lnTo>
                <a:lnTo>
                  <a:pt x="2282317" y="3858907"/>
                </a:lnTo>
                <a:close/>
              </a:path>
              <a:path w="7607934" h="4749800">
                <a:moveTo>
                  <a:pt x="2434463" y="3380384"/>
                </a:moveTo>
                <a:lnTo>
                  <a:pt x="2408263" y="3350564"/>
                </a:lnTo>
                <a:lnTo>
                  <a:pt x="2403754" y="3349675"/>
                </a:lnTo>
                <a:lnTo>
                  <a:pt x="0" y="3349675"/>
                </a:lnTo>
                <a:lnTo>
                  <a:pt x="0" y="3792309"/>
                </a:lnTo>
                <a:lnTo>
                  <a:pt x="2403754" y="3792309"/>
                </a:lnTo>
                <a:lnTo>
                  <a:pt x="2433574" y="3766108"/>
                </a:lnTo>
                <a:lnTo>
                  <a:pt x="2434463" y="3761587"/>
                </a:lnTo>
                <a:lnTo>
                  <a:pt x="2434463" y="3380384"/>
                </a:lnTo>
                <a:close/>
              </a:path>
              <a:path w="7607934" h="4749800">
                <a:moveTo>
                  <a:pt x="2662694" y="2901861"/>
                </a:moveTo>
                <a:lnTo>
                  <a:pt x="2636494" y="2872041"/>
                </a:lnTo>
                <a:lnTo>
                  <a:pt x="2631986" y="2871139"/>
                </a:lnTo>
                <a:lnTo>
                  <a:pt x="0" y="2871139"/>
                </a:lnTo>
                <a:lnTo>
                  <a:pt x="0" y="3313785"/>
                </a:lnTo>
                <a:lnTo>
                  <a:pt x="2631986" y="3313785"/>
                </a:lnTo>
                <a:lnTo>
                  <a:pt x="2661805" y="3287585"/>
                </a:lnTo>
                <a:lnTo>
                  <a:pt x="2662694" y="3283064"/>
                </a:lnTo>
                <a:lnTo>
                  <a:pt x="2662694" y="2901861"/>
                </a:lnTo>
                <a:close/>
              </a:path>
              <a:path w="7607934" h="4749800">
                <a:moveTo>
                  <a:pt x="2967012" y="2423337"/>
                </a:moveTo>
                <a:lnTo>
                  <a:pt x="2940812" y="2393518"/>
                </a:lnTo>
                <a:lnTo>
                  <a:pt x="2936290" y="2392629"/>
                </a:lnTo>
                <a:lnTo>
                  <a:pt x="0" y="2392629"/>
                </a:lnTo>
                <a:lnTo>
                  <a:pt x="0" y="2835262"/>
                </a:lnTo>
                <a:lnTo>
                  <a:pt x="2936290" y="2835262"/>
                </a:lnTo>
                <a:lnTo>
                  <a:pt x="2966110" y="2809062"/>
                </a:lnTo>
                <a:lnTo>
                  <a:pt x="2967012" y="2804541"/>
                </a:lnTo>
                <a:lnTo>
                  <a:pt x="2967012" y="2423337"/>
                </a:lnTo>
                <a:close/>
              </a:path>
              <a:path w="7607934" h="4749800">
                <a:moveTo>
                  <a:pt x="3271316" y="1944814"/>
                </a:moveTo>
                <a:lnTo>
                  <a:pt x="3245116" y="1914994"/>
                </a:lnTo>
                <a:lnTo>
                  <a:pt x="3240595" y="1914093"/>
                </a:lnTo>
                <a:lnTo>
                  <a:pt x="0" y="1914093"/>
                </a:lnTo>
                <a:lnTo>
                  <a:pt x="0" y="2356739"/>
                </a:lnTo>
                <a:lnTo>
                  <a:pt x="3240595" y="2356739"/>
                </a:lnTo>
                <a:lnTo>
                  <a:pt x="3270415" y="2330539"/>
                </a:lnTo>
                <a:lnTo>
                  <a:pt x="3271316" y="2326017"/>
                </a:lnTo>
                <a:lnTo>
                  <a:pt x="3271316" y="1944814"/>
                </a:lnTo>
                <a:close/>
              </a:path>
              <a:path w="7607934" h="4749800">
                <a:moveTo>
                  <a:pt x="3575621" y="1466291"/>
                </a:moveTo>
                <a:lnTo>
                  <a:pt x="3549421" y="1436471"/>
                </a:lnTo>
                <a:lnTo>
                  <a:pt x="3544913" y="1435569"/>
                </a:lnTo>
                <a:lnTo>
                  <a:pt x="0" y="1435569"/>
                </a:lnTo>
                <a:lnTo>
                  <a:pt x="0" y="1878215"/>
                </a:lnTo>
                <a:lnTo>
                  <a:pt x="3544913" y="1878215"/>
                </a:lnTo>
                <a:lnTo>
                  <a:pt x="3574732" y="1852015"/>
                </a:lnTo>
                <a:lnTo>
                  <a:pt x="3575621" y="1847494"/>
                </a:lnTo>
                <a:lnTo>
                  <a:pt x="3575621" y="1466291"/>
                </a:lnTo>
                <a:close/>
              </a:path>
              <a:path w="7607934" h="4749800">
                <a:moveTo>
                  <a:pt x="3879939" y="987767"/>
                </a:moveTo>
                <a:lnTo>
                  <a:pt x="3853738" y="957948"/>
                </a:lnTo>
                <a:lnTo>
                  <a:pt x="3849217" y="957046"/>
                </a:lnTo>
                <a:lnTo>
                  <a:pt x="0" y="957046"/>
                </a:lnTo>
                <a:lnTo>
                  <a:pt x="0" y="1399679"/>
                </a:lnTo>
                <a:lnTo>
                  <a:pt x="3849217" y="1399679"/>
                </a:lnTo>
                <a:lnTo>
                  <a:pt x="3879037" y="1373492"/>
                </a:lnTo>
                <a:lnTo>
                  <a:pt x="3879939" y="1368971"/>
                </a:lnTo>
                <a:lnTo>
                  <a:pt x="3879939" y="987767"/>
                </a:lnTo>
                <a:close/>
              </a:path>
              <a:path w="7607934" h="4749800">
                <a:moveTo>
                  <a:pt x="4716780" y="509244"/>
                </a:moveTo>
                <a:lnTo>
                  <a:pt x="4690580" y="479425"/>
                </a:lnTo>
                <a:lnTo>
                  <a:pt x="4686071" y="478523"/>
                </a:lnTo>
                <a:lnTo>
                  <a:pt x="0" y="478523"/>
                </a:lnTo>
                <a:lnTo>
                  <a:pt x="0" y="921156"/>
                </a:lnTo>
                <a:lnTo>
                  <a:pt x="4686071" y="921156"/>
                </a:lnTo>
                <a:lnTo>
                  <a:pt x="4715878" y="894969"/>
                </a:lnTo>
                <a:lnTo>
                  <a:pt x="4716780" y="890447"/>
                </a:lnTo>
                <a:lnTo>
                  <a:pt x="4716780" y="509244"/>
                </a:lnTo>
                <a:close/>
              </a:path>
              <a:path w="7607934" h="4749800">
                <a:moveTo>
                  <a:pt x="7607719" y="30721"/>
                </a:moveTo>
                <a:lnTo>
                  <a:pt x="7581519" y="901"/>
                </a:lnTo>
                <a:lnTo>
                  <a:pt x="7576998" y="0"/>
                </a:lnTo>
                <a:lnTo>
                  <a:pt x="0" y="0"/>
                </a:lnTo>
                <a:lnTo>
                  <a:pt x="0" y="442633"/>
                </a:lnTo>
                <a:lnTo>
                  <a:pt x="7576998" y="442633"/>
                </a:lnTo>
                <a:lnTo>
                  <a:pt x="7606817" y="416445"/>
                </a:lnTo>
                <a:lnTo>
                  <a:pt x="7607719" y="411924"/>
                </a:lnTo>
                <a:lnTo>
                  <a:pt x="7607719" y="30721"/>
                </a:lnTo>
                <a:close/>
              </a:path>
            </a:pathLst>
          </a:custGeom>
          <a:solidFill>
            <a:srgbClr val="16B8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10572749" y="3238499"/>
            <a:ext cx="2952750" cy="4191000"/>
          </a:xfrm>
          <a:prstGeom prst="rect">
            <a:avLst/>
          </a:prstGeom>
          <a:solidFill>
            <a:srgbClr val="FF6A5E"/>
          </a:solidFill>
        </p:spPr>
        <p:txBody>
          <a:bodyPr vert="horz" wrap="square" lIns="0" tIns="1778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endParaRPr sz="1500">
              <a:latin typeface="Times New Roman"/>
              <a:cs typeface="Times New Roman"/>
            </a:endParaRPr>
          </a:p>
          <a:p>
            <a:pPr marL="285115">
              <a:lnSpc>
                <a:spcPct val="100000"/>
              </a:lnSpc>
            </a:pPr>
            <a:r>
              <a:rPr sz="1500" b="1" spc="50" dirty="0">
                <a:solidFill>
                  <a:srgbClr val="FFFFFF"/>
                </a:solidFill>
                <a:latin typeface="Trebuchet MS"/>
                <a:cs typeface="Trebuchet MS"/>
              </a:rPr>
              <a:t>NEGATIVE</a:t>
            </a:r>
            <a:r>
              <a:rPr sz="1500" b="1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b="1" spc="-229" dirty="0">
                <a:solidFill>
                  <a:srgbClr val="FFFFFF"/>
                </a:solidFill>
                <a:latin typeface="Trebuchet MS"/>
                <a:cs typeface="Trebuchet MS"/>
              </a:rPr>
              <a:t>•</a:t>
            </a:r>
            <a:r>
              <a:rPr sz="1500" b="1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b="1" dirty="0">
                <a:solidFill>
                  <a:srgbClr val="FFFFFF"/>
                </a:solidFill>
                <a:latin typeface="Trebuchet MS"/>
                <a:cs typeface="Trebuchet MS"/>
              </a:rPr>
              <a:t>1–</a:t>
            </a:r>
            <a:r>
              <a:rPr sz="1500" b="1" spc="-25" dirty="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r>
              <a:rPr sz="1600" b="1" spc="-25" dirty="0">
                <a:solidFill>
                  <a:srgbClr val="FFFFFF"/>
                </a:solidFill>
                <a:latin typeface="Malgun Gothic"/>
                <a:cs typeface="Malgun Gothic"/>
              </a:rPr>
              <a:t>★</a:t>
            </a:r>
            <a:endParaRPr sz="16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1230"/>
              </a:spcBef>
            </a:pPr>
            <a:endParaRPr sz="1500">
              <a:latin typeface="Malgun Gothic"/>
              <a:cs typeface="Malgun Gothic"/>
            </a:endParaRPr>
          </a:p>
          <a:p>
            <a:pPr marL="285115" marR="1258570">
              <a:lnSpc>
                <a:spcPct val="132600"/>
              </a:lnSpc>
              <a:spcBef>
                <a:spcPts val="5"/>
              </a:spcBef>
            </a:pPr>
            <a:r>
              <a:rPr sz="1650" dirty="0">
                <a:solidFill>
                  <a:srgbClr val="FFFFFF"/>
                </a:solidFill>
                <a:latin typeface="Trebuchet MS"/>
                <a:cs typeface="Trebuchet MS"/>
              </a:rPr>
              <a:t>Battery</a:t>
            </a:r>
            <a:r>
              <a:rPr sz="1650" spc="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50" spc="-20" dirty="0">
                <a:solidFill>
                  <a:srgbClr val="FFFFFF"/>
                </a:solidFill>
                <a:latin typeface="Trebuchet MS"/>
                <a:cs typeface="Trebuchet MS"/>
              </a:rPr>
              <a:t>drain </a:t>
            </a:r>
            <a:r>
              <a:rPr sz="1650" dirty="0">
                <a:solidFill>
                  <a:srgbClr val="FFFFFF"/>
                </a:solidFill>
                <a:latin typeface="Trebuchet MS"/>
                <a:cs typeface="Trebuchet MS"/>
              </a:rPr>
              <a:t>Heating</a:t>
            </a:r>
            <a:r>
              <a:rPr sz="1650" spc="65" dirty="0">
                <a:solidFill>
                  <a:srgbClr val="FFFFFF"/>
                </a:solidFill>
                <a:latin typeface="Trebuchet MS"/>
                <a:cs typeface="Trebuchet MS"/>
              </a:rPr>
              <a:t> issues</a:t>
            </a:r>
            <a:endParaRPr sz="1650">
              <a:latin typeface="Trebuchet MS"/>
              <a:cs typeface="Trebuchet MS"/>
            </a:endParaRPr>
          </a:p>
          <a:p>
            <a:pPr marL="285115" marR="297180">
              <a:lnSpc>
                <a:spcPct val="132600"/>
              </a:lnSpc>
            </a:pPr>
            <a:r>
              <a:rPr sz="1650" spc="55" dirty="0">
                <a:solidFill>
                  <a:srgbClr val="FFFFFF"/>
                </a:solidFill>
                <a:latin typeface="Trebuchet MS"/>
                <a:cs typeface="Trebuchet MS"/>
              </a:rPr>
              <a:t>Camera</a:t>
            </a:r>
            <a:r>
              <a:rPr sz="165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50" spc="-10" dirty="0">
                <a:solidFill>
                  <a:srgbClr val="FFFFFF"/>
                </a:solidFill>
                <a:latin typeface="Trebuchet MS"/>
                <a:cs typeface="Trebuchet MS"/>
              </a:rPr>
              <a:t>disappointment </a:t>
            </a:r>
            <a:r>
              <a:rPr sz="1650" dirty="0">
                <a:solidFill>
                  <a:srgbClr val="FFFFFF"/>
                </a:solidFill>
                <a:latin typeface="Trebuchet MS"/>
                <a:cs typeface="Trebuchet MS"/>
              </a:rPr>
              <a:t>Value</a:t>
            </a:r>
            <a:r>
              <a:rPr sz="1650" spc="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50" spc="55" dirty="0">
                <a:solidFill>
                  <a:srgbClr val="FFFFFF"/>
                </a:solidFill>
                <a:latin typeface="Trebuchet MS"/>
                <a:cs typeface="Trebuchet MS"/>
              </a:rPr>
              <a:t>concerns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3906500" y="3238499"/>
            <a:ext cx="2952750" cy="4191000"/>
          </a:xfrm>
          <a:prstGeom prst="rect">
            <a:avLst/>
          </a:prstGeom>
          <a:solidFill>
            <a:srgbClr val="16B8A6"/>
          </a:solidFill>
        </p:spPr>
        <p:txBody>
          <a:bodyPr vert="horz" wrap="square" lIns="0" tIns="1778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endParaRPr sz="1500">
              <a:latin typeface="Times New Roman"/>
              <a:cs typeface="Times New Roman"/>
            </a:endParaRPr>
          </a:p>
          <a:p>
            <a:pPr marL="285115">
              <a:lnSpc>
                <a:spcPct val="100000"/>
              </a:lnSpc>
            </a:pPr>
            <a:r>
              <a:rPr sz="1500" b="1" spc="45" dirty="0">
                <a:solidFill>
                  <a:srgbClr val="FFFFFF"/>
                </a:solidFill>
                <a:latin typeface="Trebuchet MS"/>
                <a:cs typeface="Trebuchet MS"/>
              </a:rPr>
              <a:t>POSITIVE</a:t>
            </a:r>
            <a:r>
              <a:rPr sz="1500" b="1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b="1" spc="-229" dirty="0">
                <a:solidFill>
                  <a:srgbClr val="FFFFFF"/>
                </a:solidFill>
                <a:latin typeface="Trebuchet MS"/>
                <a:cs typeface="Trebuchet MS"/>
              </a:rPr>
              <a:t>•</a:t>
            </a:r>
            <a:r>
              <a:rPr sz="1500" b="1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b="1" spc="245" dirty="0">
                <a:solidFill>
                  <a:srgbClr val="FFFFFF"/>
                </a:solidFill>
                <a:latin typeface="Trebuchet MS"/>
                <a:cs typeface="Trebuchet MS"/>
              </a:rPr>
              <a:t>4–</a:t>
            </a:r>
            <a:r>
              <a:rPr sz="1500" b="1" spc="-25" dirty="0">
                <a:solidFill>
                  <a:srgbClr val="FFFFFF"/>
                </a:solidFill>
                <a:latin typeface="Trebuchet MS"/>
                <a:cs typeface="Trebuchet MS"/>
              </a:rPr>
              <a:t>5</a:t>
            </a:r>
            <a:r>
              <a:rPr sz="1600" b="1" spc="-25" dirty="0">
                <a:solidFill>
                  <a:srgbClr val="FFFFFF"/>
                </a:solidFill>
                <a:latin typeface="Malgun Gothic"/>
                <a:cs typeface="Malgun Gothic"/>
              </a:rPr>
              <a:t>★</a:t>
            </a:r>
            <a:endParaRPr sz="16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1080"/>
              </a:spcBef>
            </a:pPr>
            <a:endParaRPr sz="1500">
              <a:latin typeface="Malgun Gothic"/>
              <a:cs typeface="Malgun Gothic"/>
            </a:endParaRPr>
          </a:p>
          <a:p>
            <a:pPr marL="285115" marR="307340">
              <a:lnSpc>
                <a:spcPct val="135100"/>
              </a:lnSpc>
            </a:pPr>
            <a:r>
              <a:rPr sz="1850" spc="75" dirty="0">
                <a:solidFill>
                  <a:srgbClr val="FFFFFF"/>
                </a:solidFill>
                <a:latin typeface="Trebuchet MS"/>
                <a:cs typeface="Trebuchet MS"/>
              </a:rPr>
              <a:t>Camera</a:t>
            </a:r>
            <a:r>
              <a:rPr sz="1850" spc="-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Trebuchet MS"/>
                <a:cs typeface="Trebuchet MS"/>
              </a:rPr>
              <a:t>quality </a:t>
            </a:r>
            <a:r>
              <a:rPr sz="1850" spc="100" dirty="0">
                <a:solidFill>
                  <a:srgbClr val="FFFFFF"/>
                </a:solidFill>
                <a:latin typeface="Trebuchet MS"/>
                <a:cs typeface="Trebuchet MS"/>
              </a:rPr>
              <a:t>Smooth</a:t>
            </a:r>
            <a:r>
              <a:rPr sz="185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50" spc="40" dirty="0">
                <a:solidFill>
                  <a:srgbClr val="FFFFFF"/>
                </a:solidFill>
                <a:latin typeface="Trebuchet MS"/>
                <a:cs typeface="Trebuchet MS"/>
              </a:rPr>
              <a:t>performance </a:t>
            </a:r>
            <a:r>
              <a:rPr sz="1850" spc="60" dirty="0">
                <a:solidFill>
                  <a:srgbClr val="FFFFFF"/>
                </a:solidFill>
                <a:latin typeface="Trebuchet MS"/>
                <a:cs typeface="Trebuchet MS"/>
              </a:rPr>
              <a:t>Display</a:t>
            </a:r>
            <a:r>
              <a:rPr sz="185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Trebuchet MS"/>
                <a:cs typeface="Trebuchet MS"/>
              </a:rPr>
              <a:t>clarity</a:t>
            </a:r>
            <a:r>
              <a:rPr sz="1850" spc="5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50" dirty="0">
                <a:solidFill>
                  <a:srgbClr val="FFFFFF"/>
                </a:solidFill>
                <a:latin typeface="Trebuchet MS"/>
                <a:cs typeface="Trebuchet MS"/>
              </a:rPr>
              <a:t>Overall</a:t>
            </a:r>
            <a:r>
              <a:rPr sz="1850" spc="-20" dirty="0">
                <a:solidFill>
                  <a:srgbClr val="FFFFFF"/>
                </a:solidFill>
                <a:latin typeface="Trebuchet MS"/>
                <a:cs typeface="Trebuchet MS"/>
              </a:rPr>
              <a:t> value</a:t>
            </a:r>
            <a:endParaRPr sz="185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09915" y="8013155"/>
            <a:ext cx="137795" cy="2197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spc="175" dirty="0">
                <a:solidFill>
                  <a:srgbClr val="0F2536"/>
                </a:solidFill>
                <a:latin typeface="Trebuchet MS"/>
                <a:cs typeface="Trebuchet MS"/>
              </a:rPr>
              <a:t>0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81156" y="8013155"/>
            <a:ext cx="229235" cy="2197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spc="120" dirty="0">
                <a:solidFill>
                  <a:srgbClr val="0F2536"/>
                </a:solidFill>
                <a:latin typeface="Trebuchet MS"/>
                <a:cs typeface="Trebuchet MS"/>
              </a:rPr>
              <a:t>20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04039" y="8013155"/>
            <a:ext cx="235585" cy="2197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spc="135" dirty="0">
                <a:solidFill>
                  <a:srgbClr val="0F2536"/>
                </a:solidFill>
                <a:latin typeface="Trebuchet MS"/>
                <a:cs typeface="Trebuchet MS"/>
              </a:rPr>
              <a:t>40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23500" y="8013155"/>
            <a:ext cx="240029" cy="2197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spc="160" dirty="0">
                <a:solidFill>
                  <a:srgbClr val="0F2536"/>
                </a:solidFill>
                <a:latin typeface="Trebuchet MS"/>
                <a:cs typeface="Trebuchet MS"/>
              </a:rPr>
              <a:t>60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041919" y="8013155"/>
            <a:ext cx="236854" cy="2197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spc="150" dirty="0">
                <a:solidFill>
                  <a:srgbClr val="0F2536"/>
                </a:solidFill>
                <a:latin typeface="Trebuchet MS"/>
                <a:cs typeface="Trebuchet MS"/>
              </a:rPr>
              <a:t>80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537120" y="8013155"/>
            <a:ext cx="299085" cy="2197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spc="35" dirty="0">
                <a:solidFill>
                  <a:srgbClr val="0F2536"/>
                </a:solidFill>
                <a:latin typeface="Trebuchet MS"/>
                <a:cs typeface="Trebuchet MS"/>
              </a:rPr>
              <a:t>100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173965" y="8256043"/>
            <a:ext cx="1410335" cy="2197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spc="-10" dirty="0">
                <a:solidFill>
                  <a:srgbClr val="0F2536"/>
                </a:solidFill>
                <a:latin typeface="Trebuchet MS"/>
                <a:cs typeface="Trebuchet MS"/>
              </a:rPr>
              <a:t>Relative</a:t>
            </a:r>
            <a:r>
              <a:rPr sz="1250" spc="-30" dirty="0">
                <a:solidFill>
                  <a:srgbClr val="0F2536"/>
                </a:solidFill>
                <a:latin typeface="Trebuchet MS"/>
                <a:cs typeface="Trebuchet MS"/>
              </a:rPr>
              <a:t> </a:t>
            </a:r>
            <a:r>
              <a:rPr sz="1250" spc="-10" dirty="0">
                <a:solidFill>
                  <a:srgbClr val="0F2536"/>
                </a:solidFill>
                <a:latin typeface="Trebuchet MS"/>
                <a:cs typeface="Trebuchet MS"/>
              </a:rPr>
              <a:t>frequency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047750" y="9639300"/>
            <a:ext cx="16192500" cy="0"/>
          </a:xfrm>
          <a:custGeom>
            <a:avLst/>
            <a:gdLst/>
            <a:ahLst/>
            <a:cxnLst/>
            <a:rect l="l" t="t" r="r" b="b"/>
            <a:pathLst>
              <a:path w="16192500">
                <a:moveTo>
                  <a:pt x="0" y="0"/>
                </a:moveTo>
                <a:lnTo>
                  <a:pt x="16192498" y="0"/>
                </a:lnTo>
              </a:path>
            </a:pathLst>
          </a:custGeom>
          <a:ln w="19049">
            <a:solidFill>
              <a:srgbClr val="CBD5D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16105683" y="9733279"/>
            <a:ext cx="114744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160" dirty="0">
                <a:solidFill>
                  <a:srgbClr val="60707C"/>
                </a:solidFill>
                <a:latin typeface="Trebuchet MS"/>
                <a:cs typeface="Trebuchet MS"/>
              </a:rPr>
              <a:t>04</a:t>
            </a:r>
            <a:r>
              <a:rPr sz="1350" spc="215" dirty="0">
                <a:solidFill>
                  <a:srgbClr val="60707C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60707C"/>
                </a:solidFill>
                <a:latin typeface="Trebuchet MS"/>
                <a:cs typeface="Trebuchet MS"/>
              </a:rPr>
              <a:t>/</a:t>
            </a:r>
            <a:r>
              <a:rPr sz="1350" spc="220" dirty="0">
                <a:solidFill>
                  <a:srgbClr val="60707C"/>
                </a:solidFill>
                <a:latin typeface="Trebuchet MS"/>
                <a:cs typeface="Trebuchet MS"/>
              </a:rPr>
              <a:t> </a:t>
            </a:r>
            <a:r>
              <a:rPr sz="1350" spc="50" dirty="0">
                <a:solidFill>
                  <a:srgbClr val="60707C"/>
                </a:solidFill>
                <a:latin typeface="Trebuchet MS"/>
                <a:cs typeface="Trebuchet MS"/>
              </a:rPr>
              <a:t>THEMES</a:t>
            </a:r>
            <a:endParaRPr sz="13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71A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459" dirty="0">
                <a:solidFill>
                  <a:srgbClr val="FFFFFF"/>
                </a:solidFill>
              </a:rPr>
              <a:t>Labels</a:t>
            </a:r>
            <a:r>
              <a:rPr spc="300" dirty="0">
                <a:solidFill>
                  <a:srgbClr val="FFFFFF"/>
                </a:solidFill>
              </a:rPr>
              <a:t> </a:t>
            </a:r>
            <a:r>
              <a:rPr spc="525" dirty="0">
                <a:solidFill>
                  <a:srgbClr val="FFFFFF"/>
                </a:solidFill>
              </a:rPr>
              <a:t>turn</a:t>
            </a:r>
            <a:r>
              <a:rPr spc="305" dirty="0">
                <a:solidFill>
                  <a:srgbClr val="FFFFFF"/>
                </a:solidFill>
              </a:rPr>
              <a:t> </a:t>
            </a:r>
            <a:r>
              <a:rPr spc="520" dirty="0">
                <a:solidFill>
                  <a:srgbClr val="FFFFFF"/>
                </a:solidFill>
              </a:rPr>
              <a:t>stars</a:t>
            </a:r>
            <a:r>
              <a:rPr spc="305" dirty="0">
                <a:solidFill>
                  <a:srgbClr val="FFFFFF"/>
                </a:solidFill>
              </a:rPr>
              <a:t> </a:t>
            </a:r>
            <a:r>
              <a:rPr spc="520" dirty="0">
                <a:solidFill>
                  <a:srgbClr val="FFFFFF"/>
                </a:solidFill>
              </a:rPr>
              <a:t>into</a:t>
            </a:r>
            <a:r>
              <a:rPr spc="300" dirty="0">
                <a:solidFill>
                  <a:srgbClr val="FFFFFF"/>
                </a:solidFill>
              </a:rPr>
              <a:t> </a:t>
            </a:r>
            <a:r>
              <a:rPr spc="535" dirty="0">
                <a:solidFill>
                  <a:srgbClr val="FFFFFF"/>
                </a:solidFill>
              </a:rPr>
              <a:t>sentiment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35050" y="1466532"/>
            <a:ext cx="7859395" cy="3340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160" dirty="0">
                <a:solidFill>
                  <a:srgbClr val="9DB4C2"/>
                </a:solidFill>
                <a:latin typeface="Trebuchet MS"/>
                <a:cs typeface="Trebuchet MS"/>
              </a:rPr>
              <a:t>A</a:t>
            </a:r>
            <a:r>
              <a:rPr sz="2000" spc="15" dirty="0">
                <a:solidFill>
                  <a:srgbClr val="9DB4C2"/>
                </a:solidFill>
                <a:latin typeface="Trebuchet MS"/>
                <a:cs typeface="Trebuchet MS"/>
              </a:rPr>
              <a:t> </a:t>
            </a:r>
            <a:r>
              <a:rPr sz="2000" spc="55" dirty="0">
                <a:solidFill>
                  <a:srgbClr val="9DB4C2"/>
                </a:solidFill>
                <a:latin typeface="Trebuchet MS"/>
                <a:cs typeface="Trebuchet MS"/>
              </a:rPr>
              <a:t>pragmatic</a:t>
            </a:r>
            <a:r>
              <a:rPr sz="2000" spc="20" dirty="0">
                <a:solidFill>
                  <a:srgbClr val="9DB4C2"/>
                </a:solidFill>
                <a:latin typeface="Trebuchet MS"/>
                <a:cs typeface="Trebuchet MS"/>
              </a:rPr>
              <a:t> </a:t>
            </a:r>
            <a:r>
              <a:rPr sz="2000" spc="65" dirty="0">
                <a:solidFill>
                  <a:srgbClr val="9DB4C2"/>
                </a:solidFill>
                <a:latin typeface="Trebuchet MS"/>
                <a:cs typeface="Trebuchet MS"/>
              </a:rPr>
              <a:t>three-</a:t>
            </a:r>
            <a:r>
              <a:rPr sz="2000" spc="85" dirty="0">
                <a:solidFill>
                  <a:srgbClr val="9DB4C2"/>
                </a:solidFill>
                <a:latin typeface="Trebuchet MS"/>
                <a:cs typeface="Trebuchet MS"/>
              </a:rPr>
              <a:t>class</a:t>
            </a:r>
            <a:r>
              <a:rPr sz="2000" spc="20" dirty="0">
                <a:solidFill>
                  <a:srgbClr val="9DB4C2"/>
                </a:solidFill>
                <a:latin typeface="Trebuchet MS"/>
                <a:cs typeface="Trebuchet MS"/>
              </a:rPr>
              <a:t> </a:t>
            </a:r>
            <a:r>
              <a:rPr sz="2000" spc="80" dirty="0">
                <a:solidFill>
                  <a:srgbClr val="9DB4C2"/>
                </a:solidFill>
                <a:latin typeface="Trebuchet MS"/>
                <a:cs typeface="Trebuchet MS"/>
              </a:rPr>
              <a:t>mapping</a:t>
            </a:r>
            <a:r>
              <a:rPr sz="2000" spc="20" dirty="0">
                <a:solidFill>
                  <a:srgbClr val="9DB4C2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9DB4C2"/>
                </a:solidFill>
                <a:latin typeface="Trebuchet MS"/>
                <a:cs typeface="Trebuchet MS"/>
              </a:rPr>
              <a:t>reveals</a:t>
            </a:r>
            <a:r>
              <a:rPr sz="2000" spc="20" dirty="0">
                <a:solidFill>
                  <a:srgbClr val="9DB4C2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9DB4C2"/>
                </a:solidFill>
                <a:latin typeface="Trebuchet MS"/>
                <a:cs typeface="Trebuchet MS"/>
              </a:rPr>
              <a:t>a</a:t>
            </a:r>
            <a:r>
              <a:rPr sz="2000" spc="20" dirty="0">
                <a:solidFill>
                  <a:srgbClr val="9DB4C2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9DB4C2"/>
                </a:solidFill>
                <a:latin typeface="Trebuchet MS"/>
                <a:cs typeface="Trebuchet MS"/>
              </a:rPr>
              <a:t>meaningful</a:t>
            </a:r>
            <a:r>
              <a:rPr sz="2000" spc="20" dirty="0">
                <a:solidFill>
                  <a:srgbClr val="9DB4C2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9DB4C2"/>
                </a:solidFill>
                <a:latin typeface="Trebuchet MS"/>
                <a:cs typeface="Trebuchet MS"/>
              </a:rPr>
              <a:t>imbalance.</a:t>
            </a:r>
            <a:endParaRPr sz="20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29268" y="2793251"/>
            <a:ext cx="190499" cy="1904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31589" y="2793251"/>
            <a:ext cx="190499" cy="19049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595114" y="2732926"/>
            <a:ext cx="79248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FFFFFF"/>
                </a:solidFill>
                <a:latin typeface="Trebuchet MS"/>
                <a:cs typeface="Trebuchet MS"/>
              </a:rPr>
              <a:t>Negative</a:t>
            </a:r>
            <a:endParaRPr sz="1500">
              <a:latin typeface="Trebuchet MS"/>
              <a:cs typeface="Trebuchet MS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20206" y="2793251"/>
            <a:ext cx="190499" cy="19049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5983731" y="2732926"/>
            <a:ext cx="66230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FFFFFF"/>
                </a:solidFill>
                <a:latin typeface="Trebuchet MS"/>
                <a:cs typeface="Trebuchet MS"/>
              </a:rPr>
              <a:t>Neutral</a:t>
            </a:r>
            <a:endParaRPr sz="1500">
              <a:latin typeface="Trebuchet MS"/>
              <a:cs typeface="Trebuchet MS"/>
            </a:endParaRPr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377120" y="3484914"/>
            <a:ext cx="5056539" cy="5056580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3292793" y="2732926"/>
            <a:ext cx="729615" cy="892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FFFFFF"/>
                </a:solidFill>
                <a:latin typeface="Trebuchet MS"/>
                <a:cs typeface="Trebuchet MS"/>
              </a:rPr>
              <a:t>Positive</a:t>
            </a:r>
            <a:endParaRPr sz="1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500">
              <a:latin typeface="Trebuchet MS"/>
              <a:cs typeface="Trebuchet MS"/>
            </a:endParaRPr>
          </a:p>
          <a:p>
            <a:pPr marL="166370" marR="5080" indent="-86995">
              <a:lnSpc>
                <a:spcPts val="1650"/>
              </a:lnSpc>
            </a:pPr>
            <a:r>
              <a:rPr sz="1500" spc="-10" dirty="0">
                <a:solidFill>
                  <a:srgbClr val="FFFFFF"/>
                </a:solidFill>
                <a:latin typeface="Trebuchet MS"/>
                <a:cs typeface="Trebuchet MS"/>
              </a:rPr>
              <a:t>Neutral 13.9%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0287000" y="3000374"/>
            <a:ext cx="6475095" cy="1285875"/>
          </a:xfrm>
          <a:custGeom>
            <a:avLst/>
            <a:gdLst/>
            <a:ahLst/>
            <a:cxnLst/>
            <a:rect l="l" t="t" r="r" b="b"/>
            <a:pathLst>
              <a:path w="6475094" h="1285875">
                <a:moveTo>
                  <a:pt x="6400800" y="1285874"/>
                </a:moveTo>
                <a:lnTo>
                  <a:pt x="76200" y="1285874"/>
                </a:lnTo>
                <a:lnTo>
                  <a:pt x="46539" y="1279886"/>
                </a:lnTo>
                <a:lnTo>
                  <a:pt x="22318" y="1263556"/>
                </a:lnTo>
                <a:lnTo>
                  <a:pt x="5988" y="1239335"/>
                </a:lnTo>
                <a:lnTo>
                  <a:pt x="0" y="1209675"/>
                </a:lnTo>
                <a:lnTo>
                  <a:pt x="0" y="76200"/>
                </a:lnTo>
                <a:lnTo>
                  <a:pt x="5988" y="46539"/>
                </a:lnTo>
                <a:lnTo>
                  <a:pt x="22318" y="22318"/>
                </a:lnTo>
                <a:lnTo>
                  <a:pt x="46539" y="5988"/>
                </a:lnTo>
                <a:lnTo>
                  <a:pt x="76200" y="0"/>
                </a:lnTo>
                <a:lnTo>
                  <a:pt x="6400800" y="0"/>
                </a:lnTo>
                <a:lnTo>
                  <a:pt x="6430460" y="5988"/>
                </a:lnTo>
                <a:lnTo>
                  <a:pt x="6454681" y="22318"/>
                </a:lnTo>
                <a:lnTo>
                  <a:pt x="6471012" y="46539"/>
                </a:lnTo>
                <a:lnTo>
                  <a:pt x="6474581" y="64218"/>
                </a:lnTo>
                <a:lnTo>
                  <a:pt x="6474581" y="1221656"/>
                </a:lnTo>
                <a:lnTo>
                  <a:pt x="6471012" y="1239335"/>
                </a:lnTo>
                <a:lnTo>
                  <a:pt x="6454681" y="1263556"/>
                </a:lnTo>
                <a:lnTo>
                  <a:pt x="6430460" y="1279886"/>
                </a:lnTo>
                <a:lnTo>
                  <a:pt x="6400800" y="1285874"/>
                </a:lnTo>
                <a:close/>
              </a:path>
            </a:pathLst>
          </a:custGeom>
          <a:solidFill>
            <a:srgbClr val="FF6A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349433" y="3435464"/>
            <a:ext cx="435229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23315" algn="l"/>
                <a:tab pos="1656714" algn="l"/>
                <a:tab pos="3464560" algn="l"/>
                <a:tab pos="3804920" algn="l"/>
              </a:tabLst>
            </a:pPr>
            <a:r>
              <a:rPr sz="2100" spc="330" dirty="0">
                <a:solidFill>
                  <a:srgbClr val="FFFFFF"/>
                </a:solidFill>
                <a:latin typeface="Microsoft Sans Serif"/>
                <a:cs typeface="Microsoft Sans Serif"/>
              </a:rPr>
              <a:t>1–</a:t>
            </a:r>
            <a:r>
              <a:rPr sz="2100" spc="229" dirty="0">
                <a:solidFill>
                  <a:srgbClr val="FFFFFF"/>
                </a:solidFill>
                <a:latin typeface="Microsoft Sans Serif"/>
                <a:cs typeface="Microsoft Sans Serif"/>
              </a:rPr>
              <a:t>2</a:t>
            </a:r>
            <a:r>
              <a:rPr sz="2100" spc="1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spc="-50" dirty="0">
                <a:solidFill>
                  <a:srgbClr val="FFFFFF"/>
                </a:solidFill>
                <a:latin typeface="Malgun Gothic"/>
                <a:cs typeface="Malgun Gothic"/>
              </a:rPr>
              <a:t>★</a:t>
            </a:r>
            <a:r>
              <a:rPr sz="2250" dirty="0">
                <a:solidFill>
                  <a:srgbClr val="FFFFFF"/>
                </a:solidFill>
                <a:latin typeface="Malgun Gothic"/>
                <a:cs typeface="Malgun Gothic"/>
              </a:rPr>
              <a:t>	</a:t>
            </a:r>
            <a:r>
              <a:rPr sz="21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→</a:t>
            </a:r>
            <a:r>
              <a:rPr sz="2100" dirty="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sz="2100" spc="170" dirty="0">
                <a:solidFill>
                  <a:srgbClr val="FFFFFF"/>
                </a:solidFill>
                <a:latin typeface="Microsoft Sans Serif"/>
                <a:cs typeface="Microsoft Sans Serif"/>
              </a:rPr>
              <a:t>NEGATIVE</a:t>
            </a:r>
            <a:r>
              <a:rPr sz="2100" dirty="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sz="21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|</a:t>
            </a:r>
            <a:r>
              <a:rPr sz="2100" dirty="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sz="2100" spc="204" dirty="0">
                <a:solidFill>
                  <a:srgbClr val="FFFFFF"/>
                </a:solidFill>
                <a:latin typeface="Microsoft Sans Serif"/>
                <a:cs typeface="Microsoft Sans Serif"/>
              </a:rPr>
              <a:t>508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0287000" y="4810124"/>
            <a:ext cx="6475095" cy="1285875"/>
          </a:xfrm>
          <a:custGeom>
            <a:avLst/>
            <a:gdLst/>
            <a:ahLst/>
            <a:cxnLst/>
            <a:rect l="l" t="t" r="r" b="b"/>
            <a:pathLst>
              <a:path w="6475094" h="1285875">
                <a:moveTo>
                  <a:pt x="6400800" y="1285874"/>
                </a:moveTo>
                <a:lnTo>
                  <a:pt x="76200" y="1285874"/>
                </a:lnTo>
                <a:lnTo>
                  <a:pt x="46539" y="1279886"/>
                </a:lnTo>
                <a:lnTo>
                  <a:pt x="22318" y="1263556"/>
                </a:lnTo>
                <a:lnTo>
                  <a:pt x="5988" y="1239335"/>
                </a:lnTo>
                <a:lnTo>
                  <a:pt x="0" y="1209675"/>
                </a:lnTo>
                <a:lnTo>
                  <a:pt x="0" y="76200"/>
                </a:lnTo>
                <a:lnTo>
                  <a:pt x="22318" y="22318"/>
                </a:lnTo>
                <a:lnTo>
                  <a:pt x="76200" y="0"/>
                </a:lnTo>
                <a:lnTo>
                  <a:pt x="6400800" y="0"/>
                </a:lnTo>
                <a:lnTo>
                  <a:pt x="6430460" y="5988"/>
                </a:lnTo>
                <a:lnTo>
                  <a:pt x="6454681" y="22318"/>
                </a:lnTo>
                <a:lnTo>
                  <a:pt x="6471012" y="46539"/>
                </a:lnTo>
                <a:lnTo>
                  <a:pt x="6474581" y="64218"/>
                </a:lnTo>
                <a:lnTo>
                  <a:pt x="6474581" y="1221656"/>
                </a:lnTo>
                <a:lnTo>
                  <a:pt x="6471012" y="1239335"/>
                </a:lnTo>
                <a:lnTo>
                  <a:pt x="6454681" y="1263556"/>
                </a:lnTo>
                <a:lnTo>
                  <a:pt x="6430460" y="1279886"/>
                </a:lnTo>
                <a:lnTo>
                  <a:pt x="6400800" y="1285874"/>
                </a:lnTo>
                <a:close/>
              </a:path>
            </a:pathLst>
          </a:custGeom>
          <a:solidFill>
            <a:srgbClr val="F1C1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564341" y="5245213"/>
            <a:ext cx="392239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12165" algn="l"/>
                <a:tab pos="1345565" algn="l"/>
                <a:tab pos="3034665" algn="l"/>
                <a:tab pos="3375660" algn="l"/>
              </a:tabLst>
            </a:pPr>
            <a:r>
              <a:rPr sz="2100" spc="229" dirty="0">
                <a:solidFill>
                  <a:srgbClr val="0F2536"/>
                </a:solidFill>
                <a:latin typeface="Microsoft Sans Serif"/>
                <a:cs typeface="Microsoft Sans Serif"/>
              </a:rPr>
              <a:t>3</a:t>
            </a:r>
            <a:r>
              <a:rPr sz="2100" spc="140" dirty="0">
                <a:solidFill>
                  <a:srgbClr val="0F2536"/>
                </a:solidFill>
                <a:latin typeface="Microsoft Sans Serif"/>
                <a:cs typeface="Microsoft Sans Serif"/>
              </a:rPr>
              <a:t> </a:t>
            </a:r>
            <a:r>
              <a:rPr sz="2250" spc="-50" dirty="0">
                <a:solidFill>
                  <a:srgbClr val="0F2536"/>
                </a:solidFill>
                <a:latin typeface="Malgun Gothic"/>
                <a:cs typeface="Malgun Gothic"/>
              </a:rPr>
              <a:t>★</a:t>
            </a:r>
            <a:r>
              <a:rPr sz="2250" dirty="0">
                <a:solidFill>
                  <a:srgbClr val="0F2536"/>
                </a:solidFill>
                <a:latin typeface="Malgun Gothic"/>
                <a:cs typeface="Malgun Gothic"/>
              </a:rPr>
              <a:t>	</a:t>
            </a:r>
            <a:r>
              <a:rPr sz="2100" spc="-60" dirty="0">
                <a:solidFill>
                  <a:srgbClr val="0F2536"/>
                </a:solidFill>
                <a:latin typeface="Microsoft Sans Serif"/>
                <a:cs typeface="Microsoft Sans Serif"/>
              </a:rPr>
              <a:t>→</a:t>
            </a:r>
            <a:r>
              <a:rPr sz="2100" dirty="0">
                <a:solidFill>
                  <a:srgbClr val="0F2536"/>
                </a:solidFill>
                <a:latin typeface="Microsoft Sans Serif"/>
                <a:cs typeface="Microsoft Sans Serif"/>
              </a:rPr>
              <a:t>	</a:t>
            </a:r>
            <a:r>
              <a:rPr sz="2100" spc="180" dirty="0">
                <a:solidFill>
                  <a:srgbClr val="0F2536"/>
                </a:solidFill>
                <a:latin typeface="Microsoft Sans Serif"/>
                <a:cs typeface="Microsoft Sans Serif"/>
              </a:rPr>
              <a:t>NEUTRAL</a:t>
            </a:r>
            <a:r>
              <a:rPr sz="2100" dirty="0">
                <a:solidFill>
                  <a:srgbClr val="0F2536"/>
                </a:solidFill>
                <a:latin typeface="Microsoft Sans Serif"/>
                <a:cs typeface="Microsoft Sans Serif"/>
              </a:rPr>
              <a:t>	</a:t>
            </a:r>
            <a:r>
              <a:rPr sz="2100" spc="-50" dirty="0">
                <a:solidFill>
                  <a:srgbClr val="0F2536"/>
                </a:solidFill>
                <a:latin typeface="Microsoft Sans Serif"/>
                <a:cs typeface="Microsoft Sans Serif"/>
              </a:rPr>
              <a:t>|</a:t>
            </a:r>
            <a:r>
              <a:rPr sz="2100" dirty="0">
                <a:solidFill>
                  <a:srgbClr val="0F2536"/>
                </a:solidFill>
                <a:latin typeface="Microsoft Sans Serif"/>
                <a:cs typeface="Microsoft Sans Serif"/>
              </a:rPr>
              <a:t>	</a:t>
            </a:r>
            <a:r>
              <a:rPr sz="2100" spc="204" dirty="0">
                <a:solidFill>
                  <a:srgbClr val="0F2536"/>
                </a:solidFill>
                <a:latin typeface="Microsoft Sans Serif"/>
                <a:cs typeface="Microsoft Sans Serif"/>
              </a:rPr>
              <a:t>199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515175" y="5843344"/>
            <a:ext cx="706120" cy="46355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79375" marR="5080" indent="-67310">
              <a:lnSpc>
                <a:spcPts val="1650"/>
              </a:lnSpc>
              <a:spcBef>
                <a:spcPts val="280"/>
              </a:spcBef>
            </a:pPr>
            <a:r>
              <a:rPr sz="1500" spc="-10" dirty="0">
                <a:solidFill>
                  <a:srgbClr val="FFFFFF"/>
                </a:solidFill>
                <a:latin typeface="Trebuchet MS"/>
                <a:cs typeface="Trebuchet MS"/>
              </a:rPr>
              <a:t>Positive </a:t>
            </a:r>
            <a:r>
              <a:rPr sz="1500" spc="75" dirty="0">
                <a:solidFill>
                  <a:srgbClr val="FFFFFF"/>
                </a:solidFill>
                <a:latin typeface="Trebuchet MS"/>
                <a:cs typeface="Trebuchet MS"/>
              </a:rPr>
              <a:t>50.8%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13110" y="6953453"/>
            <a:ext cx="792480" cy="520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9539" marR="5080" indent="-117475">
              <a:lnSpc>
                <a:spcPct val="108300"/>
              </a:lnSpc>
              <a:spcBef>
                <a:spcPts val="100"/>
              </a:spcBef>
            </a:pPr>
            <a:r>
              <a:rPr sz="1500" spc="-10" dirty="0">
                <a:solidFill>
                  <a:srgbClr val="FFFFFF"/>
                </a:solidFill>
                <a:latin typeface="Trebuchet MS"/>
                <a:cs typeface="Trebuchet MS"/>
              </a:rPr>
              <a:t>Negative </a:t>
            </a:r>
            <a:r>
              <a:rPr sz="1500" spc="50" dirty="0">
                <a:solidFill>
                  <a:srgbClr val="FFFFFF"/>
                </a:solidFill>
                <a:latin typeface="Trebuchet MS"/>
                <a:cs typeface="Trebuchet MS"/>
              </a:rPr>
              <a:t>35.4%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0287000" y="6619875"/>
            <a:ext cx="6475095" cy="1285875"/>
          </a:xfrm>
          <a:custGeom>
            <a:avLst/>
            <a:gdLst/>
            <a:ahLst/>
            <a:cxnLst/>
            <a:rect l="l" t="t" r="r" b="b"/>
            <a:pathLst>
              <a:path w="6475094" h="1285875">
                <a:moveTo>
                  <a:pt x="6400800" y="1285874"/>
                </a:moveTo>
                <a:lnTo>
                  <a:pt x="76200" y="1285874"/>
                </a:lnTo>
                <a:lnTo>
                  <a:pt x="46539" y="1279886"/>
                </a:lnTo>
                <a:lnTo>
                  <a:pt x="22318" y="1263556"/>
                </a:lnTo>
                <a:lnTo>
                  <a:pt x="5988" y="1239335"/>
                </a:lnTo>
                <a:lnTo>
                  <a:pt x="0" y="1209675"/>
                </a:lnTo>
                <a:lnTo>
                  <a:pt x="0" y="76200"/>
                </a:lnTo>
                <a:lnTo>
                  <a:pt x="5988" y="46539"/>
                </a:lnTo>
                <a:lnTo>
                  <a:pt x="22318" y="22318"/>
                </a:lnTo>
                <a:lnTo>
                  <a:pt x="46539" y="5988"/>
                </a:lnTo>
                <a:lnTo>
                  <a:pt x="76200" y="0"/>
                </a:lnTo>
                <a:lnTo>
                  <a:pt x="6400800" y="0"/>
                </a:lnTo>
                <a:lnTo>
                  <a:pt x="6430460" y="5988"/>
                </a:lnTo>
                <a:lnTo>
                  <a:pt x="6454681" y="22318"/>
                </a:lnTo>
                <a:lnTo>
                  <a:pt x="6471012" y="46539"/>
                </a:lnTo>
                <a:lnTo>
                  <a:pt x="6474581" y="64218"/>
                </a:lnTo>
                <a:lnTo>
                  <a:pt x="6474581" y="1221656"/>
                </a:lnTo>
                <a:lnTo>
                  <a:pt x="6471012" y="1239335"/>
                </a:lnTo>
                <a:lnTo>
                  <a:pt x="6454681" y="1263556"/>
                </a:lnTo>
                <a:lnTo>
                  <a:pt x="6430460" y="1279886"/>
                </a:lnTo>
                <a:lnTo>
                  <a:pt x="6400800" y="1285874"/>
                </a:lnTo>
                <a:close/>
              </a:path>
            </a:pathLst>
          </a:custGeom>
          <a:solidFill>
            <a:srgbClr val="16B8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416108" y="7054963"/>
            <a:ext cx="421894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23315" algn="l"/>
                <a:tab pos="1656714" algn="l"/>
                <a:tab pos="3331210" algn="l"/>
                <a:tab pos="3671570" algn="l"/>
              </a:tabLst>
            </a:pPr>
            <a:r>
              <a:rPr sz="2100" spc="330" dirty="0">
                <a:solidFill>
                  <a:srgbClr val="FFFFFF"/>
                </a:solidFill>
                <a:latin typeface="Microsoft Sans Serif"/>
                <a:cs typeface="Microsoft Sans Serif"/>
              </a:rPr>
              <a:t>4–</a:t>
            </a:r>
            <a:r>
              <a:rPr sz="2100" spc="229" dirty="0">
                <a:solidFill>
                  <a:srgbClr val="FFFFFF"/>
                </a:solidFill>
                <a:latin typeface="Microsoft Sans Serif"/>
                <a:cs typeface="Microsoft Sans Serif"/>
              </a:rPr>
              <a:t>5</a:t>
            </a:r>
            <a:r>
              <a:rPr sz="2100" spc="1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spc="-50" dirty="0">
                <a:solidFill>
                  <a:srgbClr val="FFFFFF"/>
                </a:solidFill>
                <a:latin typeface="Malgun Gothic"/>
                <a:cs typeface="Malgun Gothic"/>
              </a:rPr>
              <a:t>★</a:t>
            </a:r>
            <a:r>
              <a:rPr sz="2250" dirty="0">
                <a:solidFill>
                  <a:srgbClr val="FFFFFF"/>
                </a:solidFill>
                <a:latin typeface="Malgun Gothic"/>
                <a:cs typeface="Malgun Gothic"/>
              </a:rPr>
              <a:t>	</a:t>
            </a:r>
            <a:r>
              <a:rPr sz="21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→</a:t>
            </a:r>
            <a:r>
              <a:rPr sz="2100" dirty="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sz="2100" spc="155" dirty="0">
                <a:solidFill>
                  <a:srgbClr val="FFFFFF"/>
                </a:solidFill>
                <a:latin typeface="Microsoft Sans Serif"/>
                <a:cs typeface="Microsoft Sans Serif"/>
              </a:rPr>
              <a:t>POSITIVE</a:t>
            </a:r>
            <a:r>
              <a:rPr sz="2100" dirty="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sz="21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|</a:t>
            </a:r>
            <a:r>
              <a:rPr sz="2100" dirty="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sz="2100" spc="204" dirty="0">
                <a:solidFill>
                  <a:srgbClr val="FFFFFF"/>
                </a:solidFill>
                <a:latin typeface="Microsoft Sans Serif"/>
                <a:cs typeface="Microsoft Sans Serif"/>
              </a:rPr>
              <a:t>729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047750" y="9639300"/>
            <a:ext cx="16192500" cy="0"/>
          </a:xfrm>
          <a:custGeom>
            <a:avLst/>
            <a:gdLst/>
            <a:ahLst/>
            <a:cxnLst/>
            <a:rect l="l" t="t" r="r" b="b"/>
            <a:pathLst>
              <a:path w="16192500">
                <a:moveTo>
                  <a:pt x="0" y="0"/>
                </a:moveTo>
                <a:lnTo>
                  <a:pt x="16192498" y="0"/>
                </a:lnTo>
              </a:path>
            </a:pathLst>
          </a:custGeom>
          <a:ln w="19049">
            <a:solidFill>
              <a:srgbClr val="314F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6161791" y="9733279"/>
            <a:ext cx="109156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160" dirty="0">
                <a:solidFill>
                  <a:srgbClr val="89A3B4"/>
                </a:solidFill>
                <a:latin typeface="Trebuchet MS"/>
                <a:cs typeface="Trebuchet MS"/>
              </a:rPr>
              <a:t>05</a:t>
            </a:r>
            <a:r>
              <a:rPr sz="1350" spc="220" dirty="0">
                <a:solidFill>
                  <a:srgbClr val="89A3B4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89A3B4"/>
                </a:solidFill>
                <a:latin typeface="Trebuchet MS"/>
                <a:cs typeface="Trebuchet MS"/>
              </a:rPr>
              <a:t>/</a:t>
            </a:r>
            <a:r>
              <a:rPr sz="1350" spc="220" dirty="0">
                <a:solidFill>
                  <a:srgbClr val="89A3B4"/>
                </a:solidFill>
                <a:latin typeface="Trebuchet MS"/>
                <a:cs typeface="Trebuchet MS"/>
              </a:rPr>
              <a:t> </a:t>
            </a:r>
            <a:r>
              <a:rPr sz="1350" spc="45" dirty="0">
                <a:solidFill>
                  <a:srgbClr val="89A3B4"/>
                </a:solidFill>
                <a:latin typeface="Trebuchet MS"/>
                <a:cs typeface="Trebuchet MS"/>
              </a:rPr>
              <a:t>LABELS</a:t>
            </a:r>
            <a:endParaRPr sz="13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455" dirty="0"/>
              <a:t>Build</a:t>
            </a:r>
            <a:r>
              <a:rPr spc="310" dirty="0"/>
              <a:t> </a:t>
            </a:r>
            <a:r>
              <a:rPr spc="465" dirty="0"/>
              <a:t>features.</a:t>
            </a:r>
            <a:r>
              <a:rPr spc="310" dirty="0"/>
              <a:t> </a:t>
            </a:r>
            <a:r>
              <a:rPr spc="440" dirty="0"/>
              <a:t>Preserve</a:t>
            </a:r>
            <a:r>
              <a:rPr spc="310" dirty="0"/>
              <a:t> </a:t>
            </a:r>
            <a:r>
              <a:rPr spc="450" dirty="0"/>
              <a:t>balance.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35050" y="1463437"/>
            <a:ext cx="9540240" cy="3340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180" dirty="0">
                <a:solidFill>
                  <a:srgbClr val="60707C"/>
                </a:solidFill>
                <a:latin typeface="Trebuchet MS"/>
                <a:cs typeface="Trebuchet MS"/>
              </a:rPr>
              <a:t>TF–</a:t>
            </a:r>
            <a:r>
              <a:rPr sz="2000" dirty="0">
                <a:solidFill>
                  <a:srgbClr val="60707C"/>
                </a:solidFill>
                <a:latin typeface="Trebuchet MS"/>
                <a:cs typeface="Trebuchet MS"/>
              </a:rPr>
              <a:t>IDF</a:t>
            </a:r>
            <a:r>
              <a:rPr sz="2000" spc="10" dirty="0">
                <a:solidFill>
                  <a:srgbClr val="60707C"/>
                </a:solidFill>
                <a:latin typeface="Trebuchet MS"/>
                <a:cs typeface="Trebuchet MS"/>
              </a:rPr>
              <a:t> </a:t>
            </a:r>
            <a:r>
              <a:rPr sz="2000" spc="75" dirty="0">
                <a:solidFill>
                  <a:srgbClr val="60707C"/>
                </a:solidFill>
                <a:latin typeface="Trebuchet MS"/>
                <a:cs typeface="Trebuchet MS"/>
              </a:rPr>
              <a:t>converts</a:t>
            </a:r>
            <a:r>
              <a:rPr sz="2000" spc="10" dirty="0">
                <a:solidFill>
                  <a:srgbClr val="60707C"/>
                </a:solidFill>
                <a:latin typeface="Trebuchet MS"/>
                <a:cs typeface="Trebuchet MS"/>
              </a:rPr>
              <a:t> </a:t>
            </a:r>
            <a:r>
              <a:rPr sz="2000" spc="55" dirty="0">
                <a:solidFill>
                  <a:srgbClr val="60707C"/>
                </a:solidFill>
                <a:latin typeface="Trebuchet MS"/>
                <a:cs typeface="Trebuchet MS"/>
              </a:rPr>
              <a:t>cleaned</a:t>
            </a:r>
            <a:r>
              <a:rPr sz="2000" spc="15" dirty="0">
                <a:solidFill>
                  <a:srgbClr val="60707C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60707C"/>
                </a:solidFill>
                <a:latin typeface="Trebuchet MS"/>
                <a:cs typeface="Trebuchet MS"/>
              </a:rPr>
              <a:t>language</a:t>
            </a:r>
            <a:r>
              <a:rPr sz="2000" spc="10" dirty="0">
                <a:solidFill>
                  <a:srgbClr val="60707C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60707C"/>
                </a:solidFill>
                <a:latin typeface="Trebuchet MS"/>
                <a:cs typeface="Trebuchet MS"/>
              </a:rPr>
              <a:t>into</a:t>
            </a:r>
            <a:r>
              <a:rPr sz="2000" spc="15" dirty="0">
                <a:solidFill>
                  <a:srgbClr val="60707C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60707C"/>
                </a:solidFill>
                <a:latin typeface="Trebuchet MS"/>
                <a:cs typeface="Trebuchet MS"/>
              </a:rPr>
              <a:t>a</a:t>
            </a:r>
            <a:r>
              <a:rPr sz="2000" spc="10" dirty="0">
                <a:solidFill>
                  <a:srgbClr val="60707C"/>
                </a:solidFill>
                <a:latin typeface="Trebuchet MS"/>
                <a:cs typeface="Trebuchet MS"/>
              </a:rPr>
              <a:t> </a:t>
            </a:r>
            <a:r>
              <a:rPr sz="2000" spc="45" dirty="0">
                <a:solidFill>
                  <a:srgbClr val="60707C"/>
                </a:solidFill>
                <a:latin typeface="Trebuchet MS"/>
                <a:cs typeface="Trebuchet MS"/>
              </a:rPr>
              <a:t>compact,</a:t>
            </a:r>
            <a:r>
              <a:rPr sz="2000" spc="15" dirty="0">
                <a:solidFill>
                  <a:srgbClr val="60707C"/>
                </a:solidFill>
                <a:latin typeface="Trebuchet MS"/>
                <a:cs typeface="Trebuchet MS"/>
              </a:rPr>
              <a:t> </a:t>
            </a:r>
            <a:r>
              <a:rPr sz="2000" spc="105" dirty="0">
                <a:solidFill>
                  <a:srgbClr val="60707C"/>
                </a:solidFill>
                <a:latin typeface="Trebuchet MS"/>
                <a:cs typeface="Trebuchet MS"/>
              </a:rPr>
              <a:t>model-</a:t>
            </a:r>
            <a:r>
              <a:rPr sz="2000" spc="65" dirty="0">
                <a:solidFill>
                  <a:srgbClr val="60707C"/>
                </a:solidFill>
                <a:latin typeface="Trebuchet MS"/>
                <a:cs typeface="Trebuchet MS"/>
              </a:rPr>
              <a:t>ready</a:t>
            </a:r>
            <a:r>
              <a:rPr sz="2000" spc="10" dirty="0">
                <a:solidFill>
                  <a:srgbClr val="60707C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60707C"/>
                </a:solidFill>
                <a:latin typeface="Trebuchet MS"/>
                <a:cs typeface="Trebuchet MS"/>
              </a:rPr>
              <a:t>representation.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1999" y="2714625"/>
            <a:ext cx="9525000" cy="4572000"/>
          </a:xfrm>
          <a:prstGeom prst="rect">
            <a:avLst/>
          </a:prstGeom>
          <a:solidFill>
            <a:srgbClr val="0F2536"/>
          </a:solidFill>
        </p:spPr>
        <p:txBody>
          <a:bodyPr vert="horz" wrap="square" lIns="0" tIns="590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65"/>
              </a:spcBef>
            </a:pPr>
            <a:endParaRPr sz="1800">
              <a:latin typeface="Times New Roman"/>
              <a:cs typeface="Times New Roman"/>
            </a:endParaRPr>
          </a:p>
          <a:p>
            <a:pPr marL="285115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tfidf</a:t>
            </a:r>
            <a:r>
              <a:rPr sz="1800" spc="-1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=</a:t>
            </a:r>
            <a:r>
              <a:rPr sz="1800" spc="-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TfidfVectorizer(max_features=5000)</a:t>
            </a:r>
            <a:endParaRPr sz="1800">
              <a:latin typeface="Courier New"/>
              <a:cs typeface="Courier New"/>
            </a:endParaRPr>
          </a:p>
          <a:p>
            <a:pPr marL="285115">
              <a:lnSpc>
                <a:spcPct val="100000"/>
              </a:lnSpc>
              <a:spcBef>
                <a:spcPts val="615"/>
              </a:spcBef>
            </a:pP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X</a:t>
            </a:r>
            <a:r>
              <a:rPr sz="1800" spc="-1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=</a:t>
            </a:r>
            <a:r>
              <a:rPr sz="1800" spc="-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tfidf.fit_transform(clean_reviews)</a:t>
            </a:r>
            <a:endParaRPr sz="1800">
              <a:latin typeface="Courier New"/>
              <a:cs typeface="Courier New"/>
            </a:endParaRPr>
          </a:p>
          <a:p>
            <a:pPr marL="834390" marR="1824355" indent="-549275">
              <a:lnSpc>
                <a:spcPct val="128499"/>
              </a:lnSpc>
            </a:pP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X_train,</a:t>
            </a:r>
            <a:r>
              <a:rPr sz="1800" spc="-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X_test,</a:t>
            </a:r>
            <a:r>
              <a:rPr sz="1800" spc="-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y_train,</a:t>
            </a:r>
            <a:r>
              <a:rPr sz="1800" spc="-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y_test</a:t>
            </a:r>
            <a:r>
              <a:rPr sz="1800" spc="-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=</a:t>
            </a:r>
            <a:r>
              <a:rPr sz="1800" spc="-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train_test_split(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X,</a:t>
            </a:r>
            <a:r>
              <a:rPr sz="1800" spc="-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y,</a:t>
            </a:r>
            <a:r>
              <a:rPr sz="1800" spc="-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test_size=0.20,</a:t>
            </a:r>
            <a:r>
              <a:rPr sz="1800" spc="-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stratify=y,</a:t>
            </a:r>
            <a:r>
              <a:rPr sz="1800" spc="-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random_state=42)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620500" y="3333749"/>
            <a:ext cx="4093210" cy="1809750"/>
          </a:xfrm>
          <a:custGeom>
            <a:avLst/>
            <a:gdLst/>
            <a:ahLst/>
            <a:cxnLst/>
            <a:rect l="l" t="t" r="r" b="b"/>
            <a:pathLst>
              <a:path w="4093209" h="1809750">
                <a:moveTo>
                  <a:pt x="4000499" y="1809749"/>
                </a:moveTo>
                <a:lnTo>
                  <a:pt x="95250" y="1809749"/>
                </a:lnTo>
                <a:lnTo>
                  <a:pt x="58174" y="1802264"/>
                </a:lnTo>
                <a:lnTo>
                  <a:pt x="27898" y="1781851"/>
                </a:lnTo>
                <a:lnTo>
                  <a:pt x="7485" y="1751575"/>
                </a:lnTo>
                <a:lnTo>
                  <a:pt x="0" y="1714499"/>
                </a:lnTo>
                <a:lnTo>
                  <a:pt x="0" y="95250"/>
                </a:lnTo>
                <a:lnTo>
                  <a:pt x="7485" y="58174"/>
                </a:lnTo>
                <a:lnTo>
                  <a:pt x="27898" y="27898"/>
                </a:lnTo>
                <a:lnTo>
                  <a:pt x="58174" y="7485"/>
                </a:lnTo>
                <a:lnTo>
                  <a:pt x="95250" y="0"/>
                </a:lnTo>
                <a:lnTo>
                  <a:pt x="4000499" y="0"/>
                </a:lnTo>
                <a:lnTo>
                  <a:pt x="4037575" y="7485"/>
                </a:lnTo>
                <a:lnTo>
                  <a:pt x="4067851" y="27898"/>
                </a:lnTo>
                <a:lnTo>
                  <a:pt x="4088264" y="58174"/>
                </a:lnTo>
                <a:lnTo>
                  <a:pt x="4093144" y="82346"/>
                </a:lnTo>
                <a:lnTo>
                  <a:pt x="4093144" y="1727403"/>
                </a:lnTo>
                <a:lnTo>
                  <a:pt x="4088264" y="1751575"/>
                </a:lnTo>
                <a:lnTo>
                  <a:pt x="4067851" y="1781851"/>
                </a:lnTo>
                <a:lnTo>
                  <a:pt x="4037575" y="1802264"/>
                </a:lnTo>
                <a:lnTo>
                  <a:pt x="4000499" y="1809749"/>
                </a:lnTo>
                <a:close/>
              </a:path>
            </a:pathLst>
          </a:custGeom>
          <a:solidFill>
            <a:srgbClr val="16B8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2488712" y="3692525"/>
            <a:ext cx="2359025" cy="958850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50"/>
              </a:spcBef>
            </a:pPr>
            <a:r>
              <a:rPr sz="2600" spc="250" dirty="0">
                <a:solidFill>
                  <a:srgbClr val="FFFFFF"/>
                </a:solidFill>
                <a:latin typeface="Microsoft Sans Serif"/>
                <a:cs typeface="Microsoft Sans Serif"/>
              </a:rPr>
              <a:t>1,148</a:t>
            </a:r>
            <a:endParaRPr sz="2600">
              <a:latin typeface="Microsoft Sans Serif"/>
              <a:cs typeface="Microsoft Sans Serif"/>
            </a:endParaRPr>
          </a:p>
          <a:p>
            <a:pPr algn="ctr">
              <a:lnSpc>
                <a:spcPct val="100000"/>
              </a:lnSpc>
              <a:spcBef>
                <a:spcPts val="555"/>
              </a:spcBef>
            </a:pPr>
            <a:r>
              <a:rPr sz="2600" spc="265" dirty="0">
                <a:solidFill>
                  <a:srgbClr val="FFFFFF"/>
                </a:solidFill>
                <a:latin typeface="Microsoft Sans Serif"/>
                <a:cs typeface="Microsoft Sans Serif"/>
              </a:rPr>
              <a:t>TRAIN</a:t>
            </a:r>
            <a:r>
              <a:rPr sz="2600" spc="18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600" spc="390" dirty="0">
                <a:solidFill>
                  <a:srgbClr val="FFFFFF"/>
                </a:solidFill>
                <a:latin typeface="Microsoft Sans Serif"/>
                <a:cs typeface="Microsoft Sans Serif"/>
              </a:rPr>
              <a:t>•</a:t>
            </a:r>
            <a:r>
              <a:rPr sz="2600" spc="18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600" spc="265" dirty="0">
                <a:solidFill>
                  <a:srgbClr val="FFFFFF"/>
                </a:solidFill>
                <a:latin typeface="Microsoft Sans Serif"/>
                <a:cs typeface="Microsoft Sans Serif"/>
              </a:rPr>
              <a:t>80%</a:t>
            </a:r>
            <a:endParaRPr sz="26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1620500" y="5715000"/>
            <a:ext cx="4095750" cy="1428750"/>
          </a:xfrm>
          <a:custGeom>
            <a:avLst/>
            <a:gdLst/>
            <a:ahLst/>
            <a:cxnLst/>
            <a:rect l="l" t="t" r="r" b="b"/>
            <a:pathLst>
              <a:path w="4095750" h="1428750">
                <a:moveTo>
                  <a:pt x="4000500" y="1428750"/>
                </a:moveTo>
                <a:lnTo>
                  <a:pt x="95250" y="1428750"/>
                </a:lnTo>
                <a:lnTo>
                  <a:pt x="58174" y="1421264"/>
                </a:lnTo>
                <a:lnTo>
                  <a:pt x="27898" y="1400851"/>
                </a:lnTo>
                <a:lnTo>
                  <a:pt x="7485" y="1370575"/>
                </a:lnTo>
                <a:lnTo>
                  <a:pt x="0" y="1333500"/>
                </a:lnTo>
                <a:lnTo>
                  <a:pt x="0" y="95250"/>
                </a:lnTo>
                <a:lnTo>
                  <a:pt x="7485" y="58174"/>
                </a:lnTo>
                <a:lnTo>
                  <a:pt x="27898" y="27898"/>
                </a:lnTo>
                <a:lnTo>
                  <a:pt x="58174" y="7485"/>
                </a:lnTo>
                <a:lnTo>
                  <a:pt x="95250" y="0"/>
                </a:lnTo>
                <a:lnTo>
                  <a:pt x="4000500" y="0"/>
                </a:lnTo>
                <a:lnTo>
                  <a:pt x="4037575" y="7485"/>
                </a:lnTo>
                <a:lnTo>
                  <a:pt x="4067851" y="27898"/>
                </a:lnTo>
                <a:lnTo>
                  <a:pt x="4088264" y="58174"/>
                </a:lnTo>
                <a:lnTo>
                  <a:pt x="4095750" y="95250"/>
                </a:lnTo>
                <a:lnTo>
                  <a:pt x="4095750" y="1333500"/>
                </a:lnTo>
                <a:lnTo>
                  <a:pt x="4088264" y="1370575"/>
                </a:lnTo>
                <a:lnTo>
                  <a:pt x="4067851" y="1400851"/>
                </a:lnTo>
                <a:lnTo>
                  <a:pt x="4037575" y="1421264"/>
                </a:lnTo>
                <a:lnTo>
                  <a:pt x="4000500" y="1428750"/>
                </a:lnTo>
                <a:close/>
              </a:path>
            </a:pathLst>
          </a:custGeom>
          <a:solidFill>
            <a:srgbClr val="FF6A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2682040" y="5944234"/>
            <a:ext cx="1972945" cy="863600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20"/>
              </a:spcBef>
            </a:pPr>
            <a:r>
              <a:rPr sz="2400" spc="225" dirty="0">
                <a:solidFill>
                  <a:srgbClr val="FFFFFF"/>
                </a:solidFill>
                <a:latin typeface="Microsoft Sans Serif"/>
                <a:cs typeface="Microsoft Sans Serif"/>
              </a:rPr>
              <a:t>288</a:t>
            </a:r>
            <a:endParaRPr sz="2400" dirty="0">
              <a:latin typeface="Microsoft Sans Serif"/>
              <a:cs typeface="Microsoft Sans Serif"/>
            </a:endParaRPr>
          </a:p>
          <a:p>
            <a:pPr algn="ctr">
              <a:lnSpc>
                <a:spcPct val="100000"/>
              </a:lnSpc>
              <a:spcBef>
                <a:spcPts val="420"/>
              </a:spcBef>
            </a:pPr>
            <a:r>
              <a:rPr sz="2400" spc="195" dirty="0">
                <a:solidFill>
                  <a:srgbClr val="FFFFFF"/>
                </a:solidFill>
                <a:latin typeface="Microsoft Sans Serif"/>
                <a:cs typeface="Microsoft Sans Serif"/>
              </a:rPr>
              <a:t>TEST</a:t>
            </a:r>
            <a:r>
              <a:rPr sz="2400" spc="16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360" dirty="0">
                <a:solidFill>
                  <a:srgbClr val="FFFFFF"/>
                </a:solidFill>
                <a:latin typeface="Microsoft Sans Serif"/>
                <a:cs typeface="Microsoft Sans Serif"/>
              </a:rPr>
              <a:t>•</a:t>
            </a:r>
            <a:r>
              <a:rPr sz="2400" spc="16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225" dirty="0">
                <a:solidFill>
                  <a:srgbClr val="FFFFFF"/>
                </a:solidFill>
                <a:latin typeface="Microsoft Sans Serif"/>
                <a:cs typeface="Microsoft Sans Serif"/>
              </a:rPr>
              <a:t>20%</a:t>
            </a:r>
            <a:endParaRPr sz="2400" dirty="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678338" y="7970202"/>
            <a:ext cx="3980179" cy="2425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915160" algn="l"/>
                <a:tab pos="2135505" algn="l"/>
              </a:tabLst>
            </a:pPr>
            <a:r>
              <a:rPr sz="1400" b="1" spc="55" dirty="0">
                <a:solidFill>
                  <a:srgbClr val="16B8A6"/>
                </a:solidFill>
                <a:latin typeface="Trebuchet MS"/>
                <a:cs typeface="Trebuchet MS"/>
              </a:rPr>
              <a:t>5</a:t>
            </a:r>
            <a:r>
              <a:rPr sz="1400" b="1" spc="-254" dirty="0">
                <a:solidFill>
                  <a:srgbClr val="16B8A6"/>
                </a:solidFill>
                <a:latin typeface="Trebuchet MS"/>
                <a:cs typeface="Trebuchet MS"/>
              </a:rPr>
              <a:t> </a:t>
            </a:r>
            <a:r>
              <a:rPr sz="1400" b="1" spc="-190" dirty="0">
                <a:solidFill>
                  <a:srgbClr val="16B8A6"/>
                </a:solidFill>
                <a:latin typeface="Trebuchet MS"/>
                <a:cs typeface="Trebuchet MS"/>
              </a:rPr>
              <a:t>,</a:t>
            </a:r>
            <a:r>
              <a:rPr sz="1400" b="1" spc="-250" dirty="0">
                <a:solidFill>
                  <a:srgbClr val="16B8A6"/>
                </a:solidFill>
                <a:latin typeface="Trebuchet MS"/>
                <a:cs typeface="Trebuchet MS"/>
              </a:rPr>
              <a:t> </a:t>
            </a:r>
            <a:r>
              <a:rPr sz="1400" b="1" spc="290" dirty="0">
                <a:solidFill>
                  <a:srgbClr val="16B8A6"/>
                </a:solidFill>
                <a:latin typeface="Trebuchet MS"/>
                <a:cs typeface="Trebuchet MS"/>
              </a:rPr>
              <a:t>000</a:t>
            </a:r>
            <a:r>
              <a:rPr sz="1400" b="1" spc="275" dirty="0">
                <a:solidFill>
                  <a:srgbClr val="16B8A6"/>
                </a:solidFill>
                <a:latin typeface="Trebuchet MS"/>
                <a:cs typeface="Trebuchet MS"/>
              </a:rPr>
              <a:t> </a:t>
            </a:r>
            <a:r>
              <a:rPr sz="1400" b="1" spc="170" dirty="0">
                <a:solidFill>
                  <a:srgbClr val="16B8A6"/>
                </a:solidFill>
                <a:latin typeface="Trebuchet MS"/>
                <a:cs typeface="Trebuchet MS"/>
              </a:rPr>
              <a:t>FEATURES</a:t>
            </a:r>
            <a:r>
              <a:rPr sz="1400" b="1" dirty="0">
                <a:solidFill>
                  <a:srgbClr val="16B8A6"/>
                </a:solidFill>
                <a:latin typeface="Trebuchet MS"/>
                <a:cs typeface="Trebuchet MS"/>
              </a:rPr>
              <a:t>	</a:t>
            </a:r>
            <a:r>
              <a:rPr sz="1400" b="1" spc="-50" dirty="0">
                <a:solidFill>
                  <a:srgbClr val="16B8A6"/>
                </a:solidFill>
                <a:latin typeface="Trebuchet MS"/>
                <a:cs typeface="Trebuchet MS"/>
              </a:rPr>
              <a:t>•</a:t>
            </a:r>
            <a:r>
              <a:rPr sz="1400" b="1" dirty="0">
                <a:solidFill>
                  <a:srgbClr val="16B8A6"/>
                </a:solidFill>
                <a:latin typeface="Trebuchet MS"/>
                <a:cs typeface="Trebuchet MS"/>
              </a:rPr>
              <a:t>	</a:t>
            </a:r>
            <a:r>
              <a:rPr sz="1400" b="1" spc="180" dirty="0">
                <a:solidFill>
                  <a:srgbClr val="16B8A6"/>
                </a:solidFill>
                <a:latin typeface="Trebuchet MS"/>
                <a:cs typeface="Trebuchet MS"/>
              </a:rPr>
              <a:t>STRATIFIED</a:t>
            </a:r>
            <a:r>
              <a:rPr sz="1400" b="1" spc="280" dirty="0">
                <a:solidFill>
                  <a:srgbClr val="16B8A6"/>
                </a:solidFill>
                <a:latin typeface="Trebuchet MS"/>
                <a:cs typeface="Trebuchet MS"/>
              </a:rPr>
              <a:t> </a:t>
            </a:r>
            <a:r>
              <a:rPr sz="1400" b="1" spc="150" dirty="0">
                <a:solidFill>
                  <a:srgbClr val="16B8A6"/>
                </a:solidFill>
                <a:latin typeface="Trebuchet MS"/>
                <a:cs typeface="Trebuchet MS"/>
              </a:rPr>
              <a:t>SPLIT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047750" y="9639300"/>
            <a:ext cx="16192500" cy="0"/>
          </a:xfrm>
          <a:custGeom>
            <a:avLst/>
            <a:gdLst/>
            <a:ahLst/>
            <a:cxnLst/>
            <a:rect l="l" t="t" r="r" b="b"/>
            <a:pathLst>
              <a:path w="16192500">
                <a:moveTo>
                  <a:pt x="0" y="0"/>
                </a:moveTo>
                <a:lnTo>
                  <a:pt x="16192498" y="0"/>
                </a:lnTo>
              </a:path>
            </a:pathLst>
          </a:custGeom>
          <a:ln w="19049">
            <a:solidFill>
              <a:srgbClr val="CBD5D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5943460" y="9733279"/>
            <a:ext cx="131000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175" dirty="0">
                <a:solidFill>
                  <a:srgbClr val="60707C"/>
                </a:solidFill>
                <a:latin typeface="Trebuchet MS"/>
                <a:cs typeface="Trebuchet MS"/>
              </a:rPr>
              <a:t>06</a:t>
            </a:r>
            <a:r>
              <a:rPr sz="1350" spc="220" dirty="0">
                <a:solidFill>
                  <a:srgbClr val="60707C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60707C"/>
                </a:solidFill>
                <a:latin typeface="Trebuchet MS"/>
                <a:cs typeface="Trebuchet MS"/>
              </a:rPr>
              <a:t>/</a:t>
            </a:r>
            <a:r>
              <a:rPr sz="1350" spc="220" dirty="0">
                <a:solidFill>
                  <a:srgbClr val="60707C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60707C"/>
                </a:solidFill>
                <a:latin typeface="Trebuchet MS"/>
                <a:cs typeface="Trebuchet MS"/>
              </a:rPr>
              <a:t>FEATURES</a:t>
            </a:r>
            <a:endParaRPr sz="13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459" dirty="0"/>
              <a:t>Three</a:t>
            </a:r>
            <a:r>
              <a:rPr spc="295" dirty="0"/>
              <a:t> </a:t>
            </a:r>
            <a:r>
              <a:rPr spc="505" dirty="0"/>
              <a:t>models</a:t>
            </a:r>
            <a:r>
              <a:rPr spc="295" dirty="0"/>
              <a:t> </a:t>
            </a:r>
            <a:r>
              <a:rPr spc="515" dirty="0"/>
              <a:t>enter</a:t>
            </a:r>
            <a:r>
              <a:rPr spc="295" dirty="0"/>
              <a:t> </a:t>
            </a:r>
            <a:r>
              <a:rPr spc="545" dirty="0"/>
              <a:t>the</a:t>
            </a:r>
            <a:r>
              <a:rPr spc="300" dirty="0"/>
              <a:t> </a:t>
            </a:r>
            <a:r>
              <a:rPr spc="570" dirty="0"/>
              <a:t>test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35050" y="1463437"/>
            <a:ext cx="10170795" cy="3340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110" dirty="0">
                <a:solidFill>
                  <a:srgbClr val="60707C"/>
                </a:solidFill>
                <a:latin typeface="Trebuchet MS"/>
                <a:cs typeface="Trebuchet MS"/>
              </a:rPr>
              <a:t>Same</a:t>
            </a:r>
            <a:r>
              <a:rPr sz="2000" spc="-85" dirty="0">
                <a:solidFill>
                  <a:srgbClr val="60707C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60707C"/>
                </a:solidFill>
                <a:latin typeface="Trebuchet MS"/>
                <a:cs typeface="Trebuchet MS"/>
              </a:rPr>
              <a:t>features.</a:t>
            </a:r>
            <a:r>
              <a:rPr sz="2000" spc="-80" dirty="0">
                <a:solidFill>
                  <a:srgbClr val="60707C"/>
                </a:solidFill>
                <a:latin typeface="Trebuchet MS"/>
                <a:cs typeface="Trebuchet MS"/>
              </a:rPr>
              <a:t> </a:t>
            </a:r>
            <a:r>
              <a:rPr sz="2000" spc="110" dirty="0">
                <a:solidFill>
                  <a:srgbClr val="60707C"/>
                </a:solidFill>
                <a:latin typeface="Trebuchet MS"/>
                <a:cs typeface="Trebuchet MS"/>
              </a:rPr>
              <a:t>Same</a:t>
            </a:r>
            <a:r>
              <a:rPr sz="2000" spc="-80" dirty="0">
                <a:solidFill>
                  <a:srgbClr val="60707C"/>
                </a:solidFill>
                <a:latin typeface="Trebuchet MS"/>
                <a:cs typeface="Trebuchet MS"/>
              </a:rPr>
              <a:t> </a:t>
            </a:r>
            <a:r>
              <a:rPr sz="2000" spc="-35" dirty="0">
                <a:solidFill>
                  <a:srgbClr val="60707C"/>
                </a:solidFill>
                <a:latin typeface="Trebuchet MS"/>
                <a:cs typeface="Trebuchet MS"/>
              </a:rPr>
              <a:t>split.</a:t>
            </a:r>
            <a:r>
              <a:rPr sz="2000" spc="-80" dirty="0">
                <a:solidFill>
                  <a:srgbClr val="60707C"/>
                </a:solidFill>
                <a:latin typeface="Trebuchet MS"/>
                <a:cs typeface="Trebuchet MS"/>
              </a:rPr>
              <a:t> </a:t>
            </a:r>
            <a:r>
              <a:rPr sz="2000" spc="160" dirty="0">
                <a:solidFill>
                  <a:srgbClr val="60707C"/>
                </a:solidFill>
                <a:latin typeface="Trebuchet MS"/>
                <a:cs typeface="Trebuchet MS"/>
              </a:rPr>
              <a:t>A</a:t>
            </a:r>
            <a:r>
              <a:rPr sz="2000" spc="-80" dirty="0">
                <a:solidFill>
                  <a:srgbClr val="60707C"/>
                </a:solidFill>
                <a:latin typeface="Trebuchet MS"/>
                <a:cs typeface="Trebuchet MS"/>
              </a:rPr>
              <a:t> </a:t>
            </a:r>
            <a:r>
              <a:rPr sz="2000" spc="-30" dirty="0">
                <a:solidFill>
                  <a:srgbClr val="60707C"/>
                </a:solidFill>
                <a:latin typeface="Trebuchet MS"/>
                <a:cs typeface="Trebuchet MS"/>
              </a:rPr>
              <a:t>fair</a:t>
            </a:r>
            <a:r>
              <a:rPr sz="2000" spc="-80" dirty="0">
                <a:solidFill>
                  <a:srgbClr val="60707C"/>
                </a:solidFill>
                <a:latin typeface="Trebuchet MS"/>
                <a:cs typeface="Trebuchet MS"/>
              </a:rPr>
              <a:t> </a:t>
            </a:r>
            <a:r>
              <a:rPr sz="2000" spc="85" dirty="0">
                <a:solidFill>
                  <a:srgbClr val="60707C"/>
                </a:solidFill>
                <a:latin typeface="Trebuchet MS"/>
                <a:cs typeface="Trebuchet MS"/>
              </a:rPr>
              <a:t>comparison</a:t>
            </a:r>
            <a:r>
              <a:rPr sz="2000" spc="-80" dirty="0">
                <a:solidFill>
                  <a:srgbClr val="60707C"/>
                </a:solidFill>
                <a:latin typeface="Trebuchet MS"/>
                <a:cs typeface="Trebuchet MS"/>
              </a:rPr>
              <a:t> </a:t>
            </a:r>
            <a:r>
              <a:rPr sz="2000" spc="110" dirty="0">
                <a:solidFill>
                  <a:srgbClr val="60707C"/>
                </a:solidFill>
                <a:latin typeface="Trebuchet MS"/>
                <a:cs typeface="Trebuchet MS"/>
              </a:rPr>
              <a:t>across</a:t>
            </a:r>
            <a:r>
              <a:rPr sz="2000" spc="-80" dirty="0">
                <a:solidFill>
                  <a:srgbClr val="60707C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60707C"/>
                </a:solidFill>
                <a:latin typeface="Trebuchet MS"/>
                <a:cs typeface="Trebuchet MS"/>
              </a:rPr>
              <a:t>linear</a:t>
            </a:r>
            <a:r>
              <a:rPr sz="2000" spc="-80" dirty="0">
                <a:solidFill>
                  <a:srgbClr val="60707C"/>
                </a:solidFill>
                <a:latin typeface="Trebuchet MS"/>
                <a:cs typeface="Trebuchet MS"/>
              </a:rPr>
              <a:t> </a:t>
            </a:r>
            <a:r>
              <a:rPr sz="2000" spc="85" dirty="0">
                <a:solidFill>
                  <a:srgbClr val="60707C"/>
                </a:solidFill>
                <a:latin typeface="Trebuchet MS"/>
                <a:cs typeface="Trebuchet MS"/>
              </a:rPr>
              <a:t>and</a:t>
            </a:r>
            <a:r>
              <a:rPr sz="2000" spc="-80" dirty="0">
                <a:solidFill>
                  <a:srgbClr val="60707C"/>
                </a:solidFill>
                <a:latin typeface="Trebuchet MS"/>
                <a:cs typeface="Trebuchet MS"/>
              </a:rPr>
              <a:t> </a:t>
            </a:r>
            <a:r>
              <a:rPr sz="2000" spc="70" dirty="0">
                <a:solidFill>
                  <a:srgbClr val="60707C"/>
                </a:solidFill>
                <a:latin typeface="Trebuchet MS"/>
                <a:cs typeface="Trebuchet MS"/>
              </a:rPr>
              <a:t>ensemble</a:t>
            </a:r>
            <a:r>
              <a:rPr sz="2000" spc="-80" dirty="0">
                <a:solidFill>
                  <a:srgbClr val="60707C"/>
                </a:solidFill>
                <a:latin typeface="Trebuchet MS"/>
                <a:cs typeface="Trebuchet MS"/>
              </a:rPr>
              <a:t> </a:t>
            </a:r>
            <a:r>
              <a:rPr sz="2000" spc="40" dirty="0">
                <a:solidFill>
                  <a:srgbClr val="60707C"/>
                </a:solidFill>
                <a:latin typeface="Trebuchet MS"/>
                <a:cs typeface="Trebuchet MS"/>
              </a:rPr>
              <a:t>approaches.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47750" y="2857500"/>
            <a:ext cx="4762500" cy="4762500"/>
          </a:xfrm>
          <a:custGeom>
            <a:avLst/>
            <a:gdLst/>
            <a:ahLst/>
            <a:cxnLst/>
            <a:rect l="l" t="t" r="r" b="b"/>
            <a:pathLst>
              <a:path w="4762500" h="4762500">
                <a:moveTo>
                  <a:pt x="4762499" y="4762499"/>
                </a:moveTo>
                <a:lnTo>
                  <a:pt x="0" y="4762499"/>
                </a:lnTo>
                <a:lnTo>
                  <a:pt x="0" y="0"/>
                </a:lnTo>
                <a:lnTo>
                  <a:pt x="4762499" y="0"/>
                </a:lnTo>
                <a:lnTo>
                  <a:pt x="4762499" y="4762499"/>
                </a:lnTo>
                <a:close/>
              </a:path>
            </a:pathLst>
          </a:custGeom>
          <a:solidFill>
            <a:srgbClr val="0F25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715749" y="2857500"/>
            <a:ext cx="4762500" cy="4762500"/>
          </a:xfrm>
          <a:custGeom>
            <a:avLst/>
            <a:gdLst/>
            <a:ahLst/>
            <a:cxnLst/>
            <a:rect l="l" t="t" r="r" b="b"/>
            <a:pathLst>
              <a:path w="4762500" h="4762500">
                <a:moveTo>
                  <a:pt x="4762499" y="4762499"/>
                </a:moveTo>
                <a:lnTo>
                  <a:pt x="0" y="4762499"/>
                </a:lnTo>
                <a:lnTo>
                  <a:pt x="0" y="0"/>
                </a:lnTo>
                <a:lnTo>
                  <a:pt x="4762499" y="0"/>
                </a:lnTo>
                <a:lnTo>
                  <a:pt x="4762499" y="4762499"/>
                </a:lnTo>
                <a:close/>
              </a:path>
            </a:pathLst>
          </a:custGeom>
          <a:solidFill>
            <a:srgbClr val="FF6A5E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8411524"/>
              </p:ext>
            </p:extLst>
          </p:nvPr>
        </p:nvGraphicFramePr>
        <p:xfrm>
          <a:off x="1377949" y="2857500"/>
          <a:ext cx="13439775" cy="47612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32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62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01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3789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endParaRPr sz="2100" dirty="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</a:pPr>
                      <a:r>
                        <a:rPr sz="2100" spc="-25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01</a:t>
                      </a:r>
                      <a:endParaRPr sz="2100" dirty="0">
                        <a:latin typeface="Courier New"/>
                        <a:cs typeface="Courier New"/>
                      </a:endParaRPr>
                    </a:p>
                  </a:txBody>
                  <a:tcPr marL="0" marR="0" marT="66675" marB="0">
                    <a:solidFill>
                      <a:srgbClr val="0F25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endParaRPr sz="2100" dirty="0">
                        <a:latin typeface="Times New Roman"/>
                        <a:cs typeface="Times New Roman"/>
                      </a:endParaRPr>
                    </a:p>
                    <a:p>
                      <a:pPr marL="361315">
                        <a:lnSpc>
                          <a:spcPct val="100000"/>
                        </a:lnSpc>
                      </a:pPr>
                      <a:r>
                        <a:rPr sz="2100" spc="-25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02</a:t>
                      </a:r>
                      <a:endParaRPr sz="2100" dirty="0">
                        <a:latin typeface="Courier New"/>
                        <a:cs typeface="Courier New"/>
                      </a:endParaRPr>
                    </a:p>
                  </a:txBody>
                  <a:tcPr marL="0" marR="0" marT="66675" marB="0">
                    <a:solidFill>
                      <a:srgbClr val="16B8A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endParaRPr sz="2100" dirty="0">
                        <a:latin typeface="Times New Roman"/>
                        <a:cs typeface="Times New Roman"/>
                      </a:endParaRPr>
                    </a:p>
                    <a:p>
                      <a:pPr marL="361315">
                        <a:lnSpc>
                          <a:spcPct val="100000"/>
                        </a:lnSpc>
                      </a:pPr>
                      <a:r>
                        <a:rPr sz="2100" spc="-25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03</a:t>
                      </a:r>
                      <a:endParaRPr sz="2100" dirty="0">
                        <a:latin typeface="Courier New"/>
                        <a:cs typeface="Courier New"/>
                      </a:endParaRPr>
                    </a:p>
                  </a:txBody>
                  <a:tcPr marL="0" marR="0" marT="66675" marB="0">
                    <a:solidFill>
                      <a:srgbClr val="FF6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14830">
                <a:tc>
                  <a:txBody>
                    <a:bodyPr/>
                    <a:lstStyle/>
                    <a:p>
                      <a:pPr marL="31750" marR="1423670">
                        <a:lnSpc>
                          <a:spcPts val="3979"/>
                        </a:lnSpc>
                        <a:spcBef>
                          <a:spcPts val="1939"/>
                        </a:spcBef>
                      </a:pPr>
                      <a:r>
                        <a:rPr sz="3800" spc="465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Logistic </a:t>
                      </a:r>
                      <a:r>
                        <a:rPr sz="3800" spc="39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Regression</a:t>
                      </a:r>
                      <a:endParaRPr sz="3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46379" marB="0">
                    <a:solidFill>
                      <a:srgbClr val="0F25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1315" marR="2232660">
                        <a:lnSpc>
                          <a:spcPts val="3979"/>
                        </a:lnSpc>
                        <a:spcBef>
                          <a:spcPts val="1939"/>
                        </a:spcBef>
                      </a:pPr>
                      <a:r>
                        <a:rPr sz="3800" spc="409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Random </a:t>
                      </a:r>
                      <a:r>
                        <a:rPr sz="3800" spc="415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Forest</a:t>
                      </a:r>
                      <a:endParaRPr sz="3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46379" marB="0">
                    <a:solidFill>
                      <a:srgbClr val="16B8A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1315" marR="1058545">
                        <a:lnSpc>
                          <a:spcPts val="3979"/>
                        </a:lnSpc>
                        <a:spcBef>
                          <a:spcPts val="1939"/>
                        </a:spcBef>
                      </a:pPr>
                      <a:r>
                        <a:rPr sz="3800" spc="409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Linear </a:t>
                      </a:r>
                      <a:r>
                        <a:rPr sz="3800" spc="330" dirty="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SVM</a:t>
                      </a:r>
                      <a:endParaRPr sz="3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46379" marB="0">
                    <a:solidFill>
                      <a:srgbClr val="FF6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756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Balanced</a:t>
                      </a:r>
                      <a:r>
                        <a:rPr sz="1800" spc="24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baseline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0F25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61315">
                        <a:lnSpc>
                          <a:spcPct val="100000"/>
                        </a:lnSpc>
                      </a:pPr>
                      <a:r>
                        <a:rPr sz="1800" spc="22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200</a:t>
                      </a:r>
                      <a:r>
                        <a:rPr sz="1800" spc="-6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estimators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16B8A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61315">
                        <a:lnSpc>
                          <a:spcPct val="100000"/>
                        </a:lnSpc>
                      </a:pPr>
                      <a:r>
                        <a:rPr sz="1800" spc="7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Margin-</a:t>
                      </a:r>
                      <a:r>
                        <a:rPr sz="1800" spc="9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based</a:t>
                      </a:r>
                      <a:r>
                        <a:rPr sz="1800" spc="-4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classifier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FF6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093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Regularized</a:t>
                      </a:r>
                      <a:r>
                        <a:rPr sz="1800" spc="-6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2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linear</a:t>
                      </a:r>
                      <a:r>
                        <a:rPr sz="1800" spc="-6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classifier</a:t>
                      </a:r>
                      <a:endParaRPr sz="1800" dirty="0">
                        <a:latin typeface="Trebuchet MS"/>
                        <a:cs typeface="Trebuchet MS"/>
                      </a:endParaRPr>
                    </a:p>
                  </a:txBody>
                  <a:tcPr marL="0" marR="0" marT="20320" marB="0">
                    <a:solidFill>
                      <a:srgbClr val="0F25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131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Nonlinear</a:t>
                      </a:r>
                      <a:r>
                        <a:rPr sz="1800" spc="-3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4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ensemble</a:t>
                      </a:r>
                      <a:endParaRPr sz="1800" dirty="0">
                        <a:latin typeface="Trebuchet MS"/>
                        <a:cs typeface="Trebuchet MS"/>
                      </a:endParaRPr>
                    </a:p>
                  </a:txBody>
                  <a:tcPr marL="0" marR="0" marT="20320" marB="0">
                    <a:solidFill>
                      <a:srgbClr val="16B8A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131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Optimized</a:t>
                      </a:r>
                      <a:r>
                        <a:rPr sz="1800" spc="4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for</a:t>
                      </a:r>
                      <a:r>
                        <a:rPr sz="1800" spc="5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7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sparse</a:t>
                      </a:r>
                      <a:r>
                        <a:rPr sz="1800" spc="5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2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text</a:t>
                      </a:r>
                      <a:endParaRPr sz="1800" dirty="0">
                        <a:latin typeface="Trebuchet MS"/>
                        <a:cs typeface="Trebuchet MS"/>
                      </a:endParaRPr>
                    </a:p>
                  </a:txBody>
                  <a:tcPr marL="0" marR="0" marT="20320" marB="0">
                    <a:solidFill>
                      <a:srgbClr val="FF6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6007546" y="8248332"/>
            <a:ext cx="6273165" cy="3340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10" dirty="0">
                <a:solidFill>
                  <a:srgbClr val="60707C"/>
                </a:solidFill>
                <a:latin typeface="Trebuchet MS"/>
                <a:cs typeface="Trebuchet MS"/>
              </a:rPr>
              <a:t>Evaluation:</a:t>
            </a:r>
            <a:r>
              <a:rPr sz="2000" spc="-90" dirty="0">
                <a:solidFill>
                  <a:srgbClr val="60707C"/>
                </a:solidFill>
                <a:latin typeface="Trebuchet MS"/>
                <a:cs typeface="Trebuchet MS"/>
              </a:rPr>
              <a:t> </a:t>
            </a:r>
            <a:r>
              <a:rPr sz="2000" spc="45" dirty="0">
                <a:solidFill>
                  <a:srgbClr val="60707C"/>
                </a:solidFill>
                <a:latin typeface="Trebuchet MS"/>
                <a:cs typeface="Trebuchet MS"/>
              </a:rPr>
              <a:t>weighted</a:t>
            </a:r>
            <a:r>
              <a:rPr sz="2000" spc="-70" dirty="0">
                <a:solidFill>
                  <a:srgbClr val="60707C"/>
                </a:solidFill>
                <a:latin typeface="Trebuchet MS"/>
                <a:cs typeface="Trebuchet MS"/>
              </a:rPr>
              <a:t> </a:t>
            </a:r>
            <a:r>
              <a:rPr sz="2000" spc="55" dirty="0">
                <a:solidFill>
                  <a:srgbClr val="60707C"/>
                </a:solidFill>
                <a:latin typeface="Trebuchet MS"/>
                <a:cs typeface="Trebuchet MS"/>
              </a:rPr>
              <a:t>precision</a:t>
            </a:r>
            <a:r>
              <a:rPr sz="2000" spc="-75" dirty="0">
                <a:solidFill>
                  <a:srgbClr val="60707C"/>
                </a:solidFill>
                <a:latin typeface="Trebuchet MS"/>
                <a:cs typeface="Trebuchet MS"/>
              </a:rPr>
              <a:t> </a:t>
            </a:r>
            <a:r>
              <a:rPr sz="2000" spc="-330" dirty="0">
                <a:solidFill>
                  <a:srgbClr val="60707C"/>
                </a:solidFill>
                <a:latin typeface="Trebuchet MS"/>
                <a:cs typeface="Trebuchet MS"/>
              </a:rPr>
              <a:t>•</a:t>
            </a:r>
            <a:r>
              <a:rPr sz="2000" spc="-70" dirty="0">
                <a:solidFill>
                  <a:srgbClr val="60707C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60707C"/>
                </a:solidFill>
                <a:latin typeface="Trebuchet MS"/>
                <a:cs typeface="Trebuchet MS"/>
              </a:rPr>
              <a:t>recall</a:t>
            </a:r>
            <a:r>
              <a:rPr sz="2000" spc="-70" dirty="0">
                <a:solidFill>
                  <a:srgbClr val="60707C"/>
                </a:solidFill>
                <a:latin typeface="Trebuchet MS"/>
                <a:cs typeface="Trebuchet MS"/>
              </a:rPr>
              <a:t> </a:t>
            </a:r>
            <a:r>
              <a:rPr sz="2000" spc="-330" dirty="0">
                <a:solidFill>
                  <a:srgbClr val="60707C"/>
                </a:solidFill>
                <a:latin typeface="Trebuchet MS"/>
                <a:cs typeface="Trebuchet MS"/>
              </a:rPr>
              <a:t>•</a:t>
            </a:r>
            <a:r>
              <a:rPr sz="2000" spc="-70" dirty="0">
                <a:solidFill>
                  <a:srgbClr val="60707C"/>
                </a:solidFill>
                <a:latin typeface="Trebuchet MS"/>
                <a:cs typeface="Trebuchet MS"/>
              </a:rPr>
              <a:t> </a:t>
            </a:r>
            <a:r>
              <a:rPr sz="2000" spc="-210" dirty="0">
                <a:solidFill>
                  <a:srgbClr val="60707C"/>
                </a:solidFill>
                <a:latin typeface="Trebuchet MS"/>
                <a:cs typeface="Trebuchet MS"/>
              </a:rPr>
              <a:t>F1</a:t>
            </a:r>
            <a:r>
              <a:rPr sz="2000" spc="-70" dirty="0">
                <a:solidFill>
                  <a:srgbClr val="60707C"/>
                </a:solidFill>
                <a:latin typeface="Trebuchet MS"/>
                <a:cs typeface="Trebuchet MS"/>
              </a:rPr>
              <a:t> </a:t>
            </a:r>
            <a:r>
              <a:rPr sz="2000" spc="-330" dirty="0">
                <a:solidFill>
                  <a:srgbClr val="60707C"/>
                </a:solidFill>
                <a:latin typeface="Trebuchet MS"/>
                <a:cs typeface="Trebuchet MS"/>
              </a:rPr>
              <a:t>•</a:t>
            </a:r>
            <a:r>
              <a:rPr sz="2000" spc="-70" dirty="0">
                <a:solidFill>
                  <a:srgbClr val="60707C"/>
                </a:solidFill>
                <a:latin typeface="Trebuchet MS"/>
                <a:cs typeface="Trebuchet MS"/>
              </a:rPr>
              <a:t> </a:t>
            </a:r>
            <a:r>
              <a:rPr sz="2000" spc="75" dirty="0">
                <a:solidFill>
                  <a:srgbClr val="60707C"/>
                </a:solidFill>
                <a:latin typeface="Trebuchet MS"/>
                <a:cs typeface="Trebuchet MS"/>
              </a:rPr>
              <a:t>accuracy</a:t>
            </a:r>
            <a:endParaRPr sz="2000" dirty="0">
              <a:latin typeface="Trebuchet MS"/>
              <a:cs typeface="Trebuchet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47750" y="9639300"/>
            <a:ext cx="16192500" cy="0"/>
          </a:xfrm>
          <a:custGeom>
            <a:avLst/>
            <a:gdLst/>
            <a:ahLst/>
            <a:cxnLst/>
            <a:rect l="l" t="t" r="r" b="b"/>
            <a:pathLst>
              <a:path w="16192500">
                <a:moveTo>
                  <a:pt x="0" y="0"/>
                </a:moveTo>
                <a:lnTo>
                  <a:pt x="16192498" y="0"/>
                </a:lnTo>
              </a:path>
            </a:pathLst>
          </a:custGeom>
          <a:ln w="19049">
            <a:solidFill>
              <a:srgbClr val="CBD5D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6083359" y="9733279"/>
            <a:ext cx="116967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110" dirty="0">
                <a:solidFill>
                  <a:srgbClr val="60707C"/>
                </a:solidFill>
                <a:latin typeface="Trebuchet MS"/>
                <a:cs typeface="Trebuchet MS"/>
              </a:rPr>
              <a:t>07</a:t>
            </a:r>
            <a:r>
              <a:rPr sz="1350" spc="215" dirty="0">
                <a:solidFill>
                  <a:srgbClr val="60707C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60707C"/>
                </a:solidFill>
                <a:latin typeface="Trebuchet MS"/>
                <a:cs typeface="Trebuchet MS"/>
              </a:rPr>
              <a:t>/</a:t>
            </a:r>
            <a:r>
              <a:rPr sz="1350" spc="220" dirty="0">
                <a:solidFill>
                  <a:srgbClr val="60707C"/>
                </a:solidFill>
                <a:latin typeface="Trebuchet MS"/>
                <a:cs typeface="Trebuchet MS"/>
              </a:rPr>
              <a:t> </a:t>
            </a:r>
            <a:r>
              <a:rPr sz="1350" spc="90" dirty="0">
                <a:solidFill>
                  <a:srgbClr val="60707C"/>
                </a:solidFill>
                <a:latin typeface="Trebuchet MS"/>
                <a:cs typeface="Trebuchet MS"/>
              </a:rPr>
              <a:t>MODELS</a:t>
            </a:r>
            <a:endParaRPr sz="13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5EAFCC3-013D-AFCE-6BE3-22D6E6742627}"/>
              </a:ext>
            </a:extLst>
          </p:cNvPr>
          <p:cNvSpPr/>
          <p:nvPr/>
        </p:nvSpPr>
        <p:spPr>
          <a:xfrm>
            <a:off x="1828800" y="1028700"/>
            <a:ext cx="13716000" cy="1371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>
                    <a:lumMod val="75000"/>
                  </a:schemeClr>
                </a:solidFill>
              </a:rPr>
              <a:t>Why Chose these Three Machine Learning Models?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EB617CA-AD26-F619-77B0-5B0D06CC9A18}"/>
              </a:ext>
            </a:extLst>
          </p:cNvPr>
          <p:cNvSpPr/>
          <p:nvPr/>
        </p:nvSpPr>
        <p:spPr>
          <a:xfrm>
            <a:off x="1905000" y="2857500"/>
            <a:ext cx="13716000" cy="6248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sz="2800" b="1" dirty="0"/>
              <a:t>Logistic Regression (Baseline &amp; Efficiency):</a:t>
            </a:r>
            <a:r>
              <a:rPr lang="en-US" sz="2800" dirty="0"/>
              <a:t> Fast to train and highly interpretable, performing exceptionally well on high-dimensional, sparse TF-IDF text features with linear decision boundaries.</a:t>
            </a:r>
            <a:br>
              <a:rPr lang="en-US" sz="2800" dirty="0"/>
            </a:br>
            <a:endParaRPr lang="en-US" sz="2800" dirty="0"/>
          </a:p>
          <a:p>
            <a:pPr lvl="0"/>
            <a:r>
              <a:rPr lang="en-US" sz="2800" b="1" dirty="0"/>
              <a:t>Random Forest (Non-Linearity &amp; Robustness):</a:t>
            </a:r>
            <a:r>
              <a:rPr lang="en-US" sz="2800" dirty="0"/>
              <a:t> Captures complex word interactions and feature dependencies while reducing variance/overfitting through decision tree ensemble bagging.</a:t>
            </a:r>
            <a:br>
              <a:rPr lang="en-US" sz="2800" dirty="0"/>
            </a:br>
            <a:endParaRPr lang="en-US" sz="2800" dirty="0"/>
          </a:p>
          <a:p>
            <a:pPr lvl="0"/>
            <a:r>
              <a:rPr lang="en-US" sz="2800" b="1" dirty="0"/>
              <a:t>SVM (Optimal High-Dimensional Separation):</a:t>
            </a:r>
            <a:r>
              <a:rPr lang="en-US" sz="2800" dirty="0"/>
              <a:t> Maximize margin separation between sentiment classes in high-dimensional vector spaces, making it highly effective for text boundary classification.</a:t>
            </a:r>
          </a:p>
        </p:txBody>
      </p:sp>
    </p:spTree>
    <p:extLst>
      <p:ext uri="{BB962C8B-B14F-4D97-AF65-F5344CB8AC3E}">
        <p14:creationId xmlns:p14="http://schemas.microsoft.com/office/powerpoint/2010/main" val="30380870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35050" y="349955"/>
            <a:ext cx="10093325" cy="1447800"/>
          </a:xfrm>
          <a:prstGeom prst="rect">
            <a:avLst/>
          </a:prstGeom>
        </p:spPr>
        <p:txBody>
          <a:bodyPr vert="horz" wrap="square" lIns="0" tIns="3200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20"/>
              </a:spcBef>
            </a:pPr>
            <a:r>
              <a:rPr spc="459" dirty="0"/>
              <a:t>Linear</a:t>
            </a:r>
            <a:r>
              <a:rPr spc="300" dirty="0"/>
              <a:t> </a:t>
            </a:r>
            <a:r>
              <a:rPr spc="385" dirty="0"/>
              <a:t>SVM</a:t>
            </a:r>
            <a:r>
              <a:rPr spc="300" dirty="0"/>
              <a:t> </a:t>
            </a:r>
            <a:r>
              <a:rPr spc="459" dirty="0"/>
              <a:t>leads</a:t>
            </a:r>
            <a:r>
              <a:rPr spc="305" dirty="0"/>
              <a:t> </a:t>
            </a:r>
            <a:r>
              <a:rPr spc="459" dirty="0"/>
              <a:t>on</a:t>
            </a:r>
            <a:r>
              <a:rPr spc="300" dirty="0"/>
              <a:t> </a:t>
            </a:r>
            <a:r>
              <a:rPr spc="550" dirty="0"/>
              <a:t>weighted</a:t>
            </a:r>
            <a:r>
              <a:rPr spc="300" dirty="0"/>
              <a:t> </a:t>
            </a:r>
            <a:r>
              <a:rPr spc="310" dirty="0"/>
              <a:t>F1</a:t>
            </a:r>
          </a:p>
          <a:p>
            <a:pPr marL="12700">
              <a:lnSpc>
                <a:spcPct val="100000"/>
              </a:lnSpc>
              <a:spcBef>
                <a:spcPts val="1150"/>
              </a:spcBef>
            </a:pPr>
            <a:r>
              <a:rPr sz="2000" spc="45" dirty="0">
                <a:solidFill>
                  <a:srgbClr val="60707C"/>
                </a:solidFill>
                <a:latin typeface="Trebuchet MS"/>
                <a:cs typeface="Trebuchet MS"/>
              </a:rPr>
              <a:t>Performance</a:t>
            </a:r>
            <a:r>
              <a:rPr sz="2000" spc="-25" dirty="0">
                <a:solidFill>
                  <a:srgbClr val="60707C"/>
                </a:solidFill>
                <a:latin typeface="Trebuchet MS"/>
                <a:cs typeface="Trebuchet MS"/>
              </a:rPr>
              <a:t> </a:t>
            </a:r>
            <a:r>
              <a:rPr sz="2000" spc="90" dirty="0">
                <a:solidFill>
                  <a:srgbClr val="60707C"/>
                </a:solidFill>
                <a:latin typeface="Trebuchet MS"/>
                <a:cs typeface="Trebuchet MS"/>
              </a:rPr>
              <a:t>on</a:t>
            </a:r>
            <a:r>
              <a:rPr sz="2000" spc="-20" dirty="0">
                <a:solidFill>
                  <a:srgbClr val="60707C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60707C"/>
                </a:solidFill>
                <a:latin typeface="Trebuchet MS"/>
                <a:cs typeface="Trebuchet MS"/>
              </a:rPr>
              <a:t>the</a:t>
            </a:r>
            <a:r>
              <a:rPr sz="2000" spc="-25" dirty="0">
                <a:solidFill>
                  <a:srgbClr val="60707C"/>
                </a:solidFill>
                <a:latin typeface="Trebuchet MS"/>
                <a:cs typeface="Trebuchet MS"/>
              </a:rPr>
              <a:t> </a:t>
            </a:r>
            <a:r>
              <a:rPr sz="2000" spc="185" dirty="0">
                <a:solidFill>
                  <a:srgbClr val="60707C"/>
                </a:solidFill>
                <a:latin typeface="Trebuchet MS"/>
                <a:cs typeface="Trebuchet MS"/>
              </a:rPr>
              <a:t>288-</a:t>
            </a:r>
            <a:r>
              <a:rPr sz="2000" dirty="0">
                <a:solidFill>
                  <a:srgbClr val="60707C"/>
                </a:solidFill>
                <a:latin typeface="Trebuchet MS"/>
                <a:cs typeface="Trebuchet MS"/>
              </a:rPr>
              <a:t>review</a:t>
            </a:r>
            <a:r>
              <a:rPr sz="2000" spc="-20" dirty="0">
                <a:solidFill>
                  <a:srgbClr val="60707C"/>
                </a:solidFill>
                <a:latin typeface="Trebuchet MS"/>
                <a:cs typeface="Trebuchet MS"/>
              </a:rPr>
              <a:t> </a:t>
            </a:r>
            <a:r>
              <a:rPr sz="2000" spc="85" dirty="0">
                <a:solidFill>
                  <a:srgbClr val="60707C"/>
                </a:solidFill>
                <a:latin typeface="Trebuchet MS"/>
                <a:cs typeface="Trebuchet MS"/>
              </a:rPr>
              <a:t>held-</a:t>
            </a:r>
            <a:r>
              <a:rPr sz="2000" spc="55" dirty="0">
                <a:solidFill>
                  <a:srgbClr val="60707C"/>
                </a:solidFill>
                <a:latin typeface="Trebuchet MS"/>
                <a:cs typeface="Trebuchet MS"/>
              </a:rPr>
              <a:t>out</a:t>
            </a:r>
            <a:r>
              <a:rPr sz="2000" spc="-25" dirty="0">
                <a:solidFill>
                  <a:srgbClr val="60707C"/>
                </a:solidFill>
                <a:latin typeface="Trebuchet MS"/>
                <a:cs typeface="Trebuchet MS"/>
              </a:rPr>
              <a:t> </a:t>
            </a:r>
            <a:r>
              <a:rPr sz="2000" spc="55" dirty="0">
                <a:solidFill>
                  <a:srgbClr val="60707C"/>
                </a:solidFill>
                <a:latin typeface="Trebuchet MS"/>
                <a:cs typeface="Trebuchet MS"/>
              </a:rPr>
              <a:t>test</a:t>
            </a:r>
            <a:r>
              <a:rPr sz="2000" spc="-20" dirty="0">
                <a:solidFill>
                  <a:srgbClr val="60707C"/>
                </a:solidFill>
                <a:latin typeface="Trebuchet MS"/>
                <a:cs typeface="Trebuchet MS"/>
              </a:rPr>
              <a:t> set.</a:t>
            </a:r>
            <a:endParaRPr sz="200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71570" y="2964904"/>
            <a:ext cx="171449" cy="17144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916045" y="2909342"/>
            <a:ext cx="77660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45" dirty="0">
                <a:solidFill>
                  <a:srgbClr val="0F2536"/>
                </a:solidFill>
                <a:latin typeface="Trebuchet MS"/>
                <a:cs typeface="Trebuchet MS"/>
              </a:rPr>
              <a:t>Accuracy</a:t>
            </a:r>
            <a:endParaRPr sz="135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93769" y="2964904"/>
            <a:ext cx="171449" cy="17144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238244" y="2909342"/>
            <a:ext cx="97218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solidFill>
                  <a:srgbClr val="0F2536"/>
                </a:solidFill>
                <a:latin typeface="Trebuchet MS"/>
                <a:cs typeface="Trebuchet MS"/>
              </a:rPr>
              <a:t>Weighted</a:t>
            </a:r>
            <a:r>
              <a:rPr sz="1350" spc="180" dirty="0">
                <a:solidFill>
                  <a:srgbClr val="0F2536"/>
                </a:solidFill>
                <a:latin typeface="Trebuchet MS"/>
                <a:cs typeface="Trebuchet MS"/>
              </a:rPr>
              <a:t> </a:t>
            </a:r>
            <a:r>
              <a:rPr sz="1350" spc="-120" dirty="0">
                <a:solidFill>
                  <a:srgbClr val="0F2536"/>
                </a:solidFill>
                <a:latin typeface="Trebuchet MS"/>
                <a:cs typeface="Trebuchet MS"/>
              </a:rPr>
              <a:t>F1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14849" y="3232239"/>
            <a:ext cx="38163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160" dirty="0">
                <a:solidFill>
                  <a:srgbClr val="0F2536"/>
                </a:solidFill>
                <a:latin typeface="Trebuchet MS"/>
                <a:cs typeface="Trebuchet MS"/>
              </a:rPr>
              <a:t>80%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615491" y="3359239"/>
            <a:ext cx="11262360" cy="0"/>
          </a:xfrm>
          <a:custGeom>
            <a:avLst/>
            <a:gdLst/>
            <a:ahLst/>
            <a:cxnLst/>
            <a:rect l="l" t="t" r="r" b="b"/>
            <a:pathLst>
              <a:path w="11262360">
                <a:moveTo>
                  <a:pt x="0" y="0"/>
                </a:moveTo>
                <a:lnTo>
                  <a:pt x="11262102" y="0"/>
                </a:lnTo>
              </a:path>
            </a:pathLst>
          </a:custGeom>
          <a:ln w="9524">
            <a:solidFill>
              <a:srgbClr val="0F253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11498" y="4444409"/>
            <a:ext cx="38481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165" dirty="0">
                <a:solidFill>
                  <a:srgbClr val="0F2536"/>
                </a:solidFill>
                <a:latin typeface="Trebuchet MS"/>
                <a:cs typeface="Trebuchet MS"/>
              </a:rPr>
              <a:t>60%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15724" y="5656579"/>
            <a:ext cx="38100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155" dirty="0">
                <a:solidFill>
                  <a:srgbClr val="0F2536"/>
                </a:solidFill>
                <a:latin typeface="Trebuchet MS"/>
                <a:cs typeface="Trebuchet MS"/>
              </a:rPr>
              <a:t>40%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23131" y="6868750"/>
            <a:ext cx="37338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135" dirty="0">
                <a:solidFill>
                  <a:srgbClr val="0F2536"/>
                </a:solidFill>
                <a:latin typeface="Trebuchet MS"/>
                <a:cs typeface="Trebuchet MS"/>
              </a:rPr>
              <a:t>20%</a:t>
            </a:r>
            <a:endParaRPr sz="1350"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610728" y="4566647"/>
            <a:ext cx="11271885" cy="3646170"/>
            <a:chOff x="1610728" y="4566647"/>
            <a:chExt cx="11271885" cy="3646170"/>
          </a:xfrm>
        </p:grpSpPr>
        <p:sp>
          <p:nvSpPr>
            <p:cNvPr id="8" name="object 8"/>
            <p:cNvSpPr/>
            <p:nvPr/>
          </p:nvSpPr>
          <p:spPr>
            <a:xfrm>
              <a:off x="1615491" y="8207919"/>
              <a:ext cx="11262360" cy="0"/>
            </a:xfrm>
            <a:custGeom>
              <a:avLst/>
              <a:gdLst/>
              <a:ahLst/>
              <a:cxnLst/>
              <a:rect l="l" t="t" r="r" b="b"/>
              <a:pathLst>
                <a:path w="11262360">
                  <a:moveTo>
                    <a:pt x="0" y="0"/>
                  </a:moveTo>
                  <a:lnTo>
                    <a:pt x="11262102" y="0"/>
                  </a:lnTo>
                </a:path>
              </a:pathLst>
            </a:custGeom>
            <a:ln w="9524">
              <a:solidFill>
                <a:srgbClr val="0F253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615491" y="4571409"/>
              <a:ext cx="11262360" cy="2424430"/>
            </a:xfrm>
            <a:custGeom>
              <a:avLst/>
              <a:gdLst/>
              <a:ahLst/>
              <a:cxnLst/>
              <a:rect l="l" t="t" r="r" b="b"/>
              <a:pathLst>
                <a:path w="11262360" h="2424429">
                  <a:moveTo>
                    <a:pt x="0" y="2424340"/>
                  </a:moveTo>
                  <a:lnTo>
                    <a:pt x="11262102" y="2424340"/>
                  </a:lnTo>
                </a:path>
                <a:path w="11262360" h="2424429">
                  <a:moveTo>
                    <a:pt x="0" y="1212170"/>
                  </a:moveTo>
                  <a:lnTo>
                    <a:pt x="11262102" y="1212170"/>
                  </a:lnTo>
                </a:path>
                <a:path w="11262360" h="2424429">
                  <a:moveTo>
                    <a:pt x="0" y="0"/>
                  </a:moveTo>
                  <a:lnTo>
                    <a:pt x="11262102" y="0"/>
                  </a:lnTo>
                </a:path>
              </a:pathLst>
            </a:custGeom>
            <a:ln w="9524">
              <a:solidFill>
                <a:srgbClr val="0F253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1615491" y="3619855"/>
            <a:ext cx="11262360" cy="4588510"/>
            <a:chOff x="1615491" y="3619855"/>
            <a:chExt cx="11262360" cy="4588510"/>
          </a:xfrm>
        </p:grpSpPr>
        <p:sp>
          <p:nvSpPr>
            <p:cNvPr id="20" name="object 20"/>
            <p:cNvSpPr/>
            <p:nvPr/>
          </p:nvSpPr>
          <p:spPr>
            <a:xfrm>
              <a:off x="1615491" y="3704707"/>
              <a:ext cx="1735455" cy="4503420"/>
            </a:xfrm>
            <a:custGeom>
              <a:avLst/>
              <a:gdLst/>
              <a:ahLst/>
              <a:cxnLst/>
              <a:rect l="l" t="t" r="r" b="b"/>
              <a:pathLst>
                <a:path w="1735454" h="4503420">
                  <a:moveTo>
                    <a:pt x="1735099" y="4503211"/>
                  </a:moveTo>
                  <a:lnTo>
                    <a:pt x="0" y="4503211"/>
                  </a:lnTo>
                  <a:lnTo>
                    <a:pt x="0" y="138807"/>
                  </a:lnTo>
                  <a:lnTo>
                    <a:pt x="5975" y="98513"/>
                  </a:lnTo>
                  <a:lnTo>
                    <a:pt x="23393" y="61690"/>
                  </a:lnTo>
                  <a:lnTo>
                    <a:pt x="50748" y="31506"/>
                  </a:lnTo>
                  <a:lnTo>
                    <a:pt x="85688" y="10566"/>
                  </a:lnTo>
                  <a:lnTo>
                    <a:pt x="125202" y="666"/>
                  </a:lnTo>
                  <a:lnTo>
                    <a:pt x="138807" y="0"/>
                  </a:lnTo>
                  <a:lnTo>
                    <a:pt x="1596291" y="0"/>
                  </a:lnTo>
                  <a:lnTo>
                    <a:pt x="1636585" y="5975"/>
                  </a:lnTo>
                  <a:lnTo>
                    <a:pt x="1673408" y="23393"/>
                  </a:lnTo>
                  <a:lnTo>
                    <a:pt x="1703592" y="50748"/>
                  </a:lnTo>
                  <a:lnTo>
                    <a:pt x="1724532" y="85688"/>
                  </a:lnTo>
                  <a:lnTo>
                    <a:pt x="1734432" y="125202"/>
                  </a:lnTo>
                  <a:lnTo>
                    <a:pt x="1735099" y="138807"/>
                  </a:lnTo>
                  <a:lnTo>
                    <a:pt x="1735099" y="4503211"/>
                  </a:lnTo>
                  <a:close/>
                </a:path>
              </a:pathLst>
            </a:custGeom>
            <a:solidFill>
              <a:srgbClr val="0F25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441911" y="4013810"/>
              <a:ext cx="1735455" cy="4194175"/>
            </a:xfrm>
            <a:custGeom>
              <a:avLst/>
              <a:gdLst/>
              <a:ahLst/>
              <a:cxnLst/>
              <a:rect l="l" t="t" r="r" b="b"/>
              <a:pathLst>
                <a:path w="1735454" h="4194175">
                  <a:moveTo>
                    <a:pt x="1735099" y="4194108"/>
                  </a:moveTo>
                  <a:lnTo>
                    <a:pt x="0" y="4194108"/>
                  </a:lnTo>
                  <a:lnTo>
                    <a:pt x="0" y="138807"/>
                  </a:lnTo>
                  <a:lnTo>
                    <a:pt x="5975" y="98513"/>
                  </a:lnTo>
                  <a:lnTo>
                    <a:pt x="23393" y="61690"/>
                  </a:lnTo>
                  <a:lnTo>
                    <a:pt x="50748" y="31506"/>
                  </a:lnTo>
                  <a:lnTo>
                    <a:pt x="85688" y="10566"/>
                  </a:lnTo>
                  <a:lnTo>
                    <a:pt x="125202" y="666"/>
                  </a:lnTo>
                  <a:lnTo>
                    <a:pt x="138808" y="0"/>
                  </a:lnTo>
                  <a:lnTo>
                    <a:pt x="1596291" y="0"/>
                  </a:lnTo>
                  <a:lnTo>
                    <a:pt x="1636585" y="5975"/>
                  </a:lnTo>
                  <a:lnTo>
                    <a:pt x="1673408" y="23393"/>
                  </a:lnTo>
                  <a:lnTo>
                    <a:pt x="1703592" y="50747"/>
                  </a:lnTo>
                  <a:lnTo>
                    <a:pt x="1724532" y="85688"/>
                  </a:lnTo>
                  <a:lnTo>
                    <a:pt x="1734432" y="125202"/>
                  </a:lnTo>
                  <a:lnTo>
                    <a:pt x="1735099" y="138807"/>
                  </a:lnTo>
                  <a:lnTo>
                    <a:pt x="1735099" y="4194108"/>
                  </a:lnTo>
                  <a:close/>
                </a:path>
              </a:pathLst>
            </a:custGeom>
            <a:solidFill>
              <a:srgbClr val="16B8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465782" y="3874411"/>
              <a:ext cx="1735455" cy="4333875"/>
            </a:xfrm>
            <a:custGeom>
              <a:avLst/>
              <a:gdLst/>
              <a:ahLst/>
              <a:cxnLst/>
              <a:rect l="l" t="t" r="r" b="b"/>
              <a:pathLst>
                <a:path w="1735454" h="4333875">
                  <a:moveTo>
                    <a:pt x="1735099" y="4333508"/>
                  </a:moveTo>
                  <a:lnTo>
                    <a:pt x="0" y="4333508"/>
                  </a:lnTo>
                  <a:lnTo>
                    <a:pt x="0" y="138807"/>
                  </a:lnTo>
                  <a:lnTo>
                    <a:pt x="166" y="131988"/>
                  </a:lnTo>
                  <a:lnTo>
                    <a:pt x="8110" y="92052"/>
                  </a:lnTo>
                  <a:lnTo>
                    <a:pt x="27320" y="56112"/>
                  </a:lnTo>
                  <a:lnTo>
                    <a:pt x="56112" y="27320"/>
                  </a:lnTo>
                  <a:lnTo>
                    <a:pt x="92051" y="8110"/>
                  </a:lnTo>
                  <a:lnTo>
                    <a:pt x="131988" y="166"/>
                  </a:lnTo>
                  <a:lnTo>
                    <a:pt x="138807" y="0"/>
                  </a:lnTo>
                  <a:lnTo>
                    <a:pt x="1596291" y="0"/>
                  </a:lnTo>
                  <a:lnTo>
                    <a:pt x="1636585" y="5975"/>
                  </a:lnTo>
                  <a:lnTo>
                    <a:pt x="1673408" y="23393"/>
                  </a:lnTo>
                  <a:lnTo>
                    <a:pt x="1703591" y="50747"/>
                  </a:lnTo>
                  <a:lnTo>
                    <a:pt x="1724532" y="85688"/>
                  </a:lnTo>
                  <a:lnTo>
                    <a:pt x="1734431" y="125202"/>
                  </a:lnTo>
                  <a:lnTo>
                    <a:pt x="1735099" y="138807"/>
                  </a:lnTo>
                  <a:lnTo>
                    <a:pt x="1735099" y="4333508"/>
                  </a:lnTo>
                  <a:close/>
                </a:path>
              </a:pathLst>
            </a:custGeom>
            <a:solidFill>
              <a:srgbClr val="0F25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292202" y="4219880"/>
              <a:ext cx="1735455" cy="3988435"/>
            </a:xfrm>
            <a:custGeom>
              <a:avLst/>
              <a:gdLst/>
              <a:ahLst/>
              <a:cxnLst/>
              <a:rect l="l" t="t" r="r" b="b"/>
              <a:pathLst>
                <a:path w="1735454" h="3988434">
                  <a:moveTo>
                    <a:pt x="1735099" y="3988039"/>
                  </a:moveTo>
                  <a:lnTo>
                    <a:pt x="0" y="3988039"/>
                  </a:lnTo>
                  <a:lnTo>
                    <a:pt x="0" y="138807"/>
                  </a:lnTo>
                  <a:lnTo>
                    <a:pt x="5974" y="98513"/>
                  </a:lnTo>
                  <a:lnTo>
                    <a:pt x="23392" y="61689"/>
                  </a:lnTo>
                  <a:lnTo>
                    <a:pt x="50747" y="31506"/>
                  </a:lnTo>
                  <a:lnTo>
                    <a:pt x="85687" y="10565"/>
                  </a:lnTo>
                  <a:lnTo>
                    <a:pt x="125201" y="666"/>
                  </a:lnTo>
                  <a:lnTo>
                    <a:pt x="138807" y="0"/>
                  </a:lnTo>
                  <a:lnTo>
                    <a:pt x="1596291" y="0"/>
                  </a:lnTo>
                  <a:lnTo>
                    <a:pt x="1636584" y="5975"/>
                  </a:lnTo>
                  <a:lnTo>
                    <a:pt x="1673408" y="23392"/>
                  </a:lnTo>
                  <a:lnTo>
                    <a:pt x="1703592" y="50747"/>
                  </a:lnTo>
                  <a:lnTo>
                    <a:pt x="1724533" y="85687"/>
                  </a:lnTo>
                  <a:lnTo>
                    <a:pt x="1734431" y="125201"/>
                  </a:lnTo>
                  <a:lnTo>
                    <a:pt x="1735099" y="138807"/>
                  </a:lnTo>
                  <a:lnTo>
                    <a:pt x="1735099" y="3988039"/>
                  </a:lnTo>
                  <a:close/>
                </a:path>
              </a:pathLst>
            </a:custGeom>
            <a:solidFill>
              <a:srgbClr val="16B8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9316073" y="3619855"/>
              <a:ext cx="1735455" cy="4588510"/>
            </a:xfrm>
            <a:custGeom>
              <a:avLst/>
              <a:gdLst/>
              <a:ahLst/>
              <a:cxnLst/>
              <a:rect l="l" t="t" r="r" b="b"/>
              <a:pathLst>
                <a:path w="1735454" h="4588509">
                  <a:moveTo>
                    <a:pt x="1735099" y="4588063"/>
                  </a:moveTo>
                  <a:lnTo>
                    <a:pt x="0" y="4588063"/>
                  </a:lnTo>
                  <a:lnTo>
                    <a:pt x="0" y="138807"/>
                  </a:lnTo>
                  <a:lnTo>
                    <a:pt x="5974" y="98513"/>
                  </a:lnTo>
                  <a:lnTo>
                    <a:pt x="23392" y="61690"/>
                  </a:lnTo>
                  <a:lnTo>
                    <a:pt x="50746" y="31506"/>
                  </a:lnTo>
                  <a:lnTo>
                    <a:pt x="85687" y="10565"/>
                  </a:lnTo>
                  <a:lnTo>
                    <a:pt x="125201" y="666"/>
                  </a:lnTo>
                  <a:lnTo>
                    <a:pt x="138807" y="0"/>
                  </a:lnTo>
                  <a:lnTo>
                    <a:pt x="1596291" y="0"/>
                  </a:lnTo>
                  <a:lnTo>
                    <a:pt x="1636584" y="5975"/>
                  </a:lnTo>
                  <a:lnTo>
                    <a:pt x="1673407" y="23393"/>
                  </a:lnTo>
                  <a:lnTo>
                    <a:pt x="1703592" y="50747"/>
                  </a:lnTo>
                  <a:lnTo>
                    <a:pt x="1724531" y="85688"/>
                  </a:lnTo>
                  <a:lnTo>
                    <a:pt x="1734432" y="125202"/>
                  </a:lnTo>
                  <a:lnTo>
                    <a:pt x="1735099" y="138807"/>
                  </a:lnTo>
                  <a:lnTo>
                    <a:pt x="1735099" y="4588063"/>
                  </a:lnTo>
                  <a:close/>
                </a:path>
              </a:pathLst>
            </a:custGeom>
            <a:solidFill>
              <a:srgbClr val="0F25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1142494" y="3765316"/>
              <a:ext cx="1735455" cy="4443095"/>
            </a:xfrm>
            <a:custGeom>
              <a:avLst/>
              <a:gdLst/>
              <a:ahLst/>
              <a:cxnLst/>
              <a:rect l="l" t="t" r="r" b="b"/>
              <a:pathLst>
                <a:path w="1735454" h="4443095">
                  <a:moveTo>
                    <a:pt x="1735099" y="4442603"/>
                  </a:moveTo>
                  <a:lnTo>
                    <a:pt x="0" y="4442603"/>
                  </a:lnTo>
                  <a:lnTo>
                    <a:pt x="0" y="138807"/>
                  </a:lnTo>
                  <a:lnTo>
                    <a:pt x="5974" y="98513"/>
                  </a:lnTo>
                  <a:lnTo>
                    <a:pt x="23392" y="61690"/>
                  </a:lnTo>
                  <a:lnTo>
                    <a:pt x="50746" y="31506"/>
                  </a:lnTo>
                  <a:lnTo>
                    <a:pt x="85687" y="10565"/>
                  </a:lnTo>
                  <a:lnTo>
                    <a:pt x="125201" y="666"/>
                  </a:lnTo>
                  <a:lnTo>
                    <a:pt x="138807" y="0"/>
                  </a:lnTo>
                  <a:lnTo>
                    <a:pt x="1596291" y="0"/>
                  </a:lnTo>
                  <a:lnTo>
                    <a:pt x="1636585" y="5975"/>
                  </a:lnTo>
                  <a:lnTo>
                    <a:pt x="1673407" y="23393"/>
                  </a:lnTo>
                  <a:lnTo>
                    <a:pt x="1703591" y="50747"/>
                  </a:lnTo>
                  <a:lnTo>
                    <a:pt x="1724532" y="85688"/>
                  </a:lnTo>
                  <a:lnTo>
                    <a:pt x="1734432" y="125201"/>
                  </a:lnTo>
                  <a:lnTo>
                    <a:pt x="1735099" y="138807"/>
                  </a:lnTo>
                  <a:lnTo>
                    <a:pt x="1735099" y="4442603"/>
                  </a:lnTo>
                  <a:close/>
                </a:path>
              </a:pathLst>
            </a:custGeom>
            <a:solidFill>
              <a:srgbClr val="16B8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3811250" y="3286125"/>
            <a:ext cx="3333750" cy="3905250"/>
          </a:xfrm>
          <a:prstGeom prst="rect">
            <a:avLst/>
          </a:prstGeom>
          <a:solidFill>
            <a:srgbClr val="FF6A5E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400">
              <a:latin typeface="Times New Roman"/>
              <a:cs typeface="Times New Roman"/>
            </a:endParaRPr>
          </a:p>
          <a:p>
            <a:pPr marL="380365">
              <a:lnSpc>
                <a:spcPct val="100000"/>
              </a:lnSpc>
            </a:pPr>
            <a:r>
              <a:rPr sz="1400" b="1" spc="170" dirty="0">
                <a:solidFill>
                  <a:srgbClr val="FFFFFF"/>
                </a:solidFill>
                <a:latin typeface="Trebuchet MS"/>
                <a:cs typeface="Trebuchet MS"/>
              </a:rPr>
              <a:t>BEST</a:t>
            </a:r>
            <a:r>
              <a:rPr sz="1400" b="1" spc="2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b="1" spc="210" dirty="0">
                <a:solidFill>
                  <a:srgbClr val="FFFFFF"/>
                </a:solidFill>
                <a:latin typeface="Trebuchet MS"/>
                <a:cs typeface="Trebuchet MS"/>
              </a:rPr>
              <a:t>MODEL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34"/>
              </a:spcBef>
            </a:pPr>
            <a:endParaRPr sz="1400">
              <a:latin typeface="Trebuchet MS"/>
              <a:cs typeface="Trebuchet MS"/>
            </a:endParaRPr>
          </a:p>
          <a:p>
            <a:pPr marL="380365">
              <a:lnSpc>
                <a:spcPct val="100000"/>
              </a:lnSpc>
              <a:spcBef>
                <a:spcPts val="5"/>
              </a:spcBef>
            </a:pPr>
            <a:r>
              <a:rPr sz="5250" spc="490" dirty="0">
                <a:solidFill>
                  <a:srgbClr val="FFFFFF"/>
                </a:solidFill>
                <a:latin typeface="Microsoft Sans Serif"/>
                <a:cs typeface="Microsoft Sans Serif"/>
              </a:rPr>
              <a:t>73.3%</a:t>
            </a:r>
            <a:endParaRPr sz="5250">
              <a:latin typeface="Microsoft Sans Serif"/>
              <a:cs typeface="Microsoft Sans Serif"/>
            </a:endParaRPr>
          </a:p>
          <a:p>
            <a:pPr marL="380365" marR="1512570">
              <a:lnSpc>
                <a:spcPct val="107100"/>
              </a:lnSpc>
              <a:spcBef>
                <a:spcPts val="3090"/>
              </a:spcBef>
            </a:pPr>
            <a:r>
              <a:rPr sz="2100" dirty="0">
                <a:solidFill>
                  <a:srgbClr val="FFFFFF"/>
                </a:solidFill>
                <a:latin typeface="Trebuchet MS"/>
                <a:cs typeface="Trebuchet MS"/>
              </a:rPr>
              <a:t>weighted</a:t>
            </a:r>
            <a:r>
              <a:rPr sz="2100" spc="1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100" spc="-225" dirty="0">
                <a:solidFill>
                  <a:srgbClr val="FFFFFF"/>
                </a:solidFill>
                <a:latin typeface="Trebuchet MS"/>
                <a:cs typeface="Trebuchet MS"/>
              </a:rPr>
              <a:t>F1 </a:t>
            </a:r>
            <a:r>
              <a:rPr sz="2100" dirty="0">
                <a:solidFill>
                  <a:srgbClr val="FFFFFF"/>
                </a:solidFill>
                <a:latin typeface="Trebuchet MS"/>
                <a:cs typeface="Trebuchet MS"/>
              </a:rPr>
              <a:t>Linear</a:t>
            </a:r>
            <a:r>
              <a:rPr sz="2100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100" spc="185" dirty="0">
                <a:solidFill>
                  <a:srgbClr val="FFFFFF"/>
                </a:solidFill>
                <a:latin typeface="Trebuchet MS"/>
                <a:cs typeface="Trebuchet MS"/>
              </a:rPr>
              <a:t>SVM</a:t>
            </a:r>
            <a:endParaRPr sz="21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19529" y="8080919"/>
            <a:ext cx="27686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195" dirty="0">
                <a:solidFill>
                  <a:srgbClr val="0F2536"/>
                </a:solidFill>
                <a:latin typeface="Trebuchet MS"/>
                <a:cs typeface="Trebuchet MS"/>
              </a:rPr>
              <a:t>0%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625639" y="8233319"/>
            <a:ext cx="153479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solidFill>
                  <a:srgbClr val="0F2536"/>
                </a:solidFill>
                <a:latin typeface="Trebuchet MS"/>
                <a:cs typeface="Trebuchet MS"/>
              </a:rPr>
              <a:t>Logistic</a:t>
            </a:r>
            <a:r>
              <a:rPr sz="1350" spc="95" dirty="0">
                <a:solidFill>
                  <a:srgbClr val="0F2536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0F2536"/>
                </a:solidFill>
                <a:latin typeface="Trebuchet MS"/>
                <a:cs typeface="Trebuchet MS"/>
              </a:rPr>
              <a:t>Regression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632712" y="8233319"/>
            <a:ext cx="121793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solidFill>
                  <a:srgbClr val="0F2536"/>
                </a:solidFill>
                <a:latin typeface="Trebuchet MS"/>
                <a:cs typeface="Trebuchet MS"/>
              </a:rPr>
              <a:t>Random</a:t>
            </a:r>
            <a:r>
              <a:rPr sz="1350" spc="229" dirty="0">
                <a:solidFill>
                  <a:srgbClr val="0F2536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0F2536"/>
                </a:solidFill>
                <a:latin typeface="Trebuchet MS"/>
                <a:cs typeface="Trebuchet MS"/>
              </a:rPr>
              <a:t>Forest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644029" y="8233319"/>
            <a:ext cx="90805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solidFill>
                  <a:srgbClr val="0F2536"/>
                </a:solidFill>
                <a:latin typeface="Trebuchet MS"/>
                <a:cs typeface="Trebuchet MS"/>
              </a:rPr>
              <a:t>Linear</a:t>
            </a:r>
            <a:r>
              <a:rPr sz="1350" spc="-60" dirty="0">
                <a:solidFill>
                  <a:srgbClr val="0F2536"/>
                </a:solidFill>
                <a:latin typeface="Trebuchet MS"/>
                <a:cs typeface="Trebuchet MS"/>
              </a:rPr>
              <a:t> </a:t>
            </a:r>
            <a:r>
              <a:rPr sz="1350" spc="100" dirty="0">
                <a:solidFill>
                  <a:srgbClr val="0F2536"/>
                </a:solidFill>
                <a:latin typeface="Trebuchet MS"/>
                <a:cs typeface="Trebuchet MS"/>
              </a:rPr>
              <a:t>SVM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047750" y="9639300"/>
            <a:ext cx="16192500" cy="0"/>
          </a:xfrm>
          <a:custGeom>
            <a:avLst/>
            <a:gdLst/>
            <a:ahLst/>
            <a:cxnLst/>
            <a:rect l="l" t="t" r="r" b="b"/>
            <a:pathLst>
              <a:path w="16192500">
                <a:moveTo>
                  <a:pt x="0" y="0"/>
                </a:moveTo>
                <a:lnTo>
                  <a:pt x="16192498" y="0"/>
                </a:lnTo>
              </a:path>
            </a:pathLst>
          </a:custGeom>
          <a:ln w="19049">
            <a:solidFill>
              <a:srgbClr val="CBD5D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16059844" y="9733279"/>
            <a:ext cx="119316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160" dirty="0">
                <a:solidFill>
                  <a:srgbClr val="60707C"/>
                </a:solidFill>
                <a:latin typeface="Trebuchet MS"/>
                <a:cs typeface="Trebuchet MS"/>
              </a:rPr>
              <a:t>08</a:t>
            </a:r>
            <a:r>
              <a:rPr sz="1350" spc="220" dirty="0">
                <a:solidFill>
                  <a:srgbClr val="60707C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60707C"/>
                </a:solidFill>
                <a:latin typeface="Trebuchet MS"/>
                <a:cs typeface="Trebuchet MS"/>
              </a:rPr>
              <a:t>/</a:t>
            </a:r>
            <a:r>
              <a:rPr sz="1350" spc="220" dirty="0">
                <a:solidFill>
                  <a:srgbClr val="60707C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60707C"/>
                </a:solidFill>
                <a:latin typeface="Trebuchet MS"/>
                <a:cs typeface="Trebuchet MS"/>
              </a:rPr>
              <a:t>RESULTS</a:t>
            </a:r>
            <a:endParaRPr sz="13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71A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465" dirty="0">
                <a:solidFill>
                  <a:srgbClr val="FFFFFF"/>
                </a:solidFill>
              </a:rPr>
              <a:t>Strong</a:t>
            </a:r>
            <a:r>
              <a:rPr spc="295" dirty="0">
                <a:solidFill>
                  <a:srgbClr val="FFFFFF"/>
                </a:solidFill>
              </a:rPr>
              <a:t> </a:t>
            </a:r>
            <a:r>
              <a:rPr spc="585" dirty="0">
                <a:solidFill>
                  <a:srgbClr val="FFFFFF"/>
                </a:solidFill>
              </a:rPr>
              <a:t>at</a:t>
            </a:r>
            <a:r>
              <a:rPr spc="300" dirty="0">
                <a:solidFill>
                  <a:srgbClr val="FFFFFF"/>
                </a:solidFill>
              </a:rPr>
              <a:t> </a:t>
            </a:r>
            <a:r>
              <a:rPr spc="545" dirty="0">
                <a:solidFill>
                  <a:srgbClr val="FFFFFF"/>
                </a:solidFill>
              </a:rPr>
              <a:t>the</a:t>
            </a:r>
            <a:r>
              <a:rPr spc="300" dirty="0">
                <a:solidFill>
                  <a:srgbClr val="FFFFFF"/>
                </a:solidFill>
              </a:rPr>
              <a:t> </a:t>
            </a:r>
            <a:r>
              <a:rPr spc="420" dirty="0">
                <a:solidFill>
                  <a:srgbClr val="FFFFFF"/>
                </a:solidFill>
              </a:rPr>
              <a:t>poles.</a:t>
            </a:r>
            <a:r>
              <a:rPr spc="300" dirty="0">
                <a:solidFill>
                  <a:srgbClr val="FFFFFF"/>
                </a:solidFill>
              </a:rPr>
              <a:t> </a:t>
            </a:r>
            <a:r>
              <a:rPr spc="470" dirty="0">
                <a:solidFill>
                  <a:srgbClr val="FFFFFF"/>
                </a:solidFill>
              </a:rPr>
              <a:t>Weak</a:t>
            </a:r>
            <a:r>
              <a:rPr spc="300" dirty="0">
                <a:solidFill>
                  <a:srgbClr val="FFFFFF"/>
                </a:solidFill>
              </a:rPr>
              <a:t> </a:t>
            </a:r>
            <a:r>
              <a:rPr spc="455" dirty="0">
                <a:solidFill>
                  <a:srgbClr val="FFFFFF"/>
                </a:solidFill>
              </a:rPr>
              <a:t>in</a:t>
            </a:r>
            <a:r>
              <a:rPr spc="295" dirty="0">
                <a:solidFill>
                  <a:srgbClr val="FFFFFF"/>
                </a:solidFill>
              </a:rPr>
              <a:t> </a:t>
            </a:r>
            <a:r>
              <a:rPr spc="545" dirty="0">
                <a:solidFill>
                  <a:srgbClr val="FFFFFF"/>
                </a:solidFill>
              </a:rPr>
              <a:t>the</a:t>
            </a:r>
            <a:r>
              <a:rPr spc="300" dirty="0">
                <a:solidFill>
                  <a:srgbClr val="FFFFFF"/>
                </a:solidFill>
              </a:rPr>
              <a:t> </a:t>
            </a:r>
            <a:r>
              <a:rPr spc="450" dirty="0">
                <a:solidFill>
                  <a:srgbClr val="FFFFFF"/>
                </a:solidFill>
              </a:rPr>
              <a:t>middle.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35050" y="1466532"/>
            <a:ext cx="6927215" cy="3340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dirty="0">
                <a:solidFill>
                  <a:srgbClr val="9DB4C2"/>
                </a:solidFill>
                <a:latin typeface="Trebuchet MS"/>
                <a:cs typeface="Trebuchet MS"/>
              </a:rPr>
              <a:t>Linear</a:t>
            </a:r>
            <a:r>
              <a:rPr sz="2000" spc="-50" dirty="0">
                <a:solidFill>
                  <a:srgbClr val="9DB4C2"/>
                </a:solidFill>
                <a:latin typeface="Trebuchet MS"/>
                <a:cs typeface="Trebuchet MS"/>
              </a:rPr>
              <a:t> </a:t>
            </a:r>
            <a:r>
              <a:rPr sz="2000" spc="220" dirty="0">
                <a:solidFill>
                  <a:srgbClr val="9DB4C2"/>
                </a:solidFill>
                <a:latin typeface="Trebuchet MS"/>
                <a:cs typeface="Trebuchet MS"/>
              </a:rPr>
              <a:t>SVM</a:t>
            </a:r>
            <a:r>
              <a:rPr sz="2000" spc="-45" dirty="0">
                <a:solidFill>
                  <a:srgbClr val="9DB4C2"/>
                </a:solidFill>
                <a:latin typeface="Trebuchet MS"/>
                <a:cs typeface="Trebuchet MS"/>
              </a:rPr>
              <a:t> </a:t>
            </a:r>
            <a:r>
              <a:rPr sz="2000" spc="120" dirty="0">
                <a:solidFill>
                  <a:srgbClr val="9DB4C2"/>
                </a:solidFill>
                <a:latin typeface="Trebuchet MS"/>
                <a:cs typeface="Trebuchet MS"/>
              </a:rPr>
              <a:t>class-</a:t>
            </a:r>
            <a:r>
              <a:rPr sz="2000" spc="-10" dirty="0">
                <a:solidFill>
                  <a:srgbClr val="9DB4C2"/>
                </a:solidFill>
                <a:latin typeface="Trebuchet MS"/>
                <a:cs typeface="Trebuchet MS"/>
              </a:rPr>
              <a:t>level</a:t>
            </a:r>
            <a:r>
              <a:rPr sz="2000" spc="-50" dirty="0">
                <a:solidFill>
                  <a:srgbClr val="9DB4C2"/>
                </a:solidFill>
                <a:latin typeface="Trebuchet MS"/>
                <a:cs typeface="Trebuchet MS"/>
              </a:rPr>
              <a:t> </a:t>
            </a:r>
            <a:r>
              <a:rPr sz="2000" spc="55" dirty="0">
                <a:solidFill>
                  <a:srgbClr val="9DB4C2"/>
                </a:solidFill>
                <a:latin typeface="Trebuchet MS"/>
                <a:cs typeface="Trebuchet MS"/>
              </a:rPr>
              <a:t>performance</a:t>
            </a:r>
            <a:r>
              <a:rPr sz="2000" spc="-45" dirty="0">
                <a:solidFill>
                  <a:srgbClr val="9DB4C2"/>
                </a:solidFill>
                <a:latin typeface="Trebuchet MS"/>
                <a:cs typeface="Trebuchet MS"/>
              </a:rPr>
              <a:t> </a:t>
            </a:r>
            <a:r>
              <a:rPr sz="2000" spc="85" dirty="0">
                <a:solidFill>
                  <a:srgbClr val="9DB4C2"/>
                </a:solidFill>
                <a:latin typeface="Trebuchet MS"/>
                <a:cs typeface="Trebuchet MS"/>
              </a:rPr>
              <a:t>and</a:t>
            </a:r>
            <a:r>
              <a:rPr sz="2000" spc="-45" dirty="0">
                <a:solidFill>
                  <a:srgbClr val="9DB4C2"/>
                </a:solidFill>
                <a:latin typeface="Trebuchet MS"/>
                <a:cs typeface="Trebuchet MS"/>
              </a:rPr>
              <a:t> </a:t>
            </a:r>
            <a:r>
              <a:rPr sz="2000" spc="65" dirty="0">
                <a:solidFill>
                  <a:srgbClr val="9DB4C2"/>
                </a:solidFill>
                <a:latin typeface="Trebuchet MS"/>
                <a:cs typeface="Trebuchet MS"/>
              </a:rPr>
              <a:t>confusion</a:t>
            </a:r>
            <a:r>
              <a:rPr sz="2000" spc="-50" dirty="0">
                <a:solidFill>
                  <a:srgbClr val="9DB4C2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9DB4C2"/>
                </a:solidFill>
                <a:latin typeface="Trebuchet MS"/>
                <a:cs typeface="Trebuchet MS"/>
              </a:rPr>
              <a:t>matrix.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2271418" y="2617152"/>
            <a:ext cx="2127250" cy="2425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229" dirty="0">
                <a:solidFill>
                  <a:srgbClr val="16B8A6"/>
                </a:solidFill>
                <a:latin typeface="Trebuchet MS"/>
                <a:cs typeface="Trebuchet MS"/>
              </a:rPr>
              <a:t>CONFUSION</a:t>
            </a:r>
            <a:r>
              <a:rPr sz="1400" b="1" spc="285" dirty="0">
                <a:solidFill>
                  <a:srgbClr val="16B8A6"/>
                </a:solidFill>
                <a:latin typeface="Trebuchet MS"/>
                <a:cs typeface="Trebuchet MS"/>
              </a:rPr>
              <a:t> </a:t>
            </a:r>
            <a:r>
              <a:rPr sz="1400" b="1" spc="200" dirty="0">
                <a:solidFill>
                  <a:srgbClr val="16B8A6"/>
                </a:solidFill>
                <a:latin typeface="Trebuchet MS"/>
                <a:cs typeface="Trebuchet MS"/>
              </a:rPr>
              <a:t>MATRIX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35050" y="2779077"/>
            <a:ext cx="688340" cy="2425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235" dirty="0">
                <a:solidFill>
                  <a:srgbClr val="16B8A6"/>
                </a:solidFill>
                <a:latin typeface="Trebuchet MS"/>
                <a:cs typeface="Trebuchet MS"/>
              </a:rPr>
              <a:t>CLASS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21284" y="2779077"/>
            <a:ext cx="135255" cy="2425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-50" dirty="0">
                <a:solidFill>
                  <a:srgbClr val="16B8A6"/>
                </a:solidFill>
                <a:latin typeface="Trebuchet MS"/>
                <a:cs typeface="Trebuchet MS"/>
              </a:rPr>
              <a:t>P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00995" y="2779077"/>
            <a:ext cx="138430" cy="2425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-50" dirty="0">
                <a:solidFill>
                  <a:srgbClr val="16B8A6"/>
                </a:solidFill>
                <a:latin typeface="Trebuchet MS"/>
                <a:cs typeface="Trebuchet MS"/>
              </a:rPr>
              <a:t>R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83533" y="2779077"/>
            <a:ext cx="209550" cy="2425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-40" dirty="0">
                <a:solidFill>
                  <a:srgbClr val="16B8A6"/>
                </a:solidFill>
                <a:latin typeface="Trebuchet MS"/>
                <a:cs typeface="Trebuchet MS"/>
              </a:rPr>
              <a:t>F</a:t>
            </a:r>
            <a:r>
              <a:rPr sz="1400" b="1" spc="-250" dirty="0">
                <a:solidFill>
                  <a:srgbClr val="16B8A6"/>
                </a:solidFill>
                <a:latin typeface="Trebuchet MS"/>
                <a:cs typeface="Trebuchet MS"/>
              </a:rPr>
              <a:t> </a:t>
            </a:r>
            <a:r>
              <a:rPr sz="1400" b="1" spc="-390" dirty="0">
                <a:solidFill>
                  <a:srgbClr val="16B8A6"/>
                </a:solidFill>
                <a:latin typeface="Trebuchet MS"/>
                <a:cs typeface="Trebuchet MS"/>
              </a:rPr>
              <a:t>1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995669" y="3111500"/>
            <a:ext cx="58293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9DB4C2"/>
                </a:solidFill>
                <a:latin typeface="Trebuchet MS"/>
                <a:cs typeface="Trebuchet MS"/>
              </a:rPr>
              <a:t>Pred</a:t>
            </a:r>
            <a:r>
              <a:rPr sz="1500" spc="60" dirty="0">
                <a:solidFill>
                  <a:srgbClr val="9DB4C2"/>
                </a:solidFill>
                <a:latin typeface="Trebuchet MS"/>
                <a:cs typeface="Trebuchet MS"/>
              </a:rPr>
              <a:t> </a:t>
            </a:r>
            <a:r>
              <a:rPr sz="1500" spc="-50" dirty="0">
                <a:solidFill>
                  <a:srgbClr val="9DB4C2"/>
                </a:solidFill>
                <a:latin typeface="Trebuchet MS"/>
                <a:cs typeface="Trebuchet MS"/>
              </a:rPr>
              <a:t>−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2789048" y="3111500"/>
            <a:ext cx="61595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9DB4C2"/>
                </a:solidFill>
                <a:latin typeface="Trebuchet MS"/>
                <a:cs typeface="Trebuchet MS"/>
              </a:rPr>
              <a:t>Pred</a:t>
            </a:r>
            <a:r>
              <a:rPr sz="1500" spc="60" dirty="0">
                <a:solidFill>
                  <a:srgbClr val="9DB4C2"/>
                </a:solidFill>
                <a:latin typeface="Trebuchet MS"/>
                <a:cs typeface="Trebuchet MS"/>
              </a:rPr>
              <a:t> </a:t>
            </a:r>
            <a:r>
              <a:rPr sz="1500" spc="200" dirty="0">
                <a:solidFill>
                  <a:srgbClr val="9DB4C2"/>
                </a:solidFill>
                <a:latin typeface="Trebuchet MS"/>
                <a:cs typeface="Trebuchet MS"/>
              </a:rPr>
              <a:t>0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4609365" y="3111500"/>
            <a:ext cx="59499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9DB4C2"/>
                </a:solidFill>
                <a:latin typeface="Trebuchet MS"/>
                <a:cs typeface="Trebuchet MS"/>
              </a:rPr>
              <a:t>Pred</a:t>
            </a:r>
            <a:r>
              <a:rPr sz="1500" spc="60" dirty="0">
                <a:solidFill>
                  <a:srgbClr val="9DB4C2"/>
                </a:solidFill>
                <a:latin typeface="Trebuchet MS"/>
                <a:cs typeface="Trebuchet MS"/>
              </a:rPr>
              <a:t> </a:t>
            </a:r>
            <a:r>
              <a:rPr sz="1500" spc="35" dirty="0">
                <a:solidFill>
                  <a:srgbClr val="9DB4C2"/>
                </a:solidFill>
                <a:latin typeface="Trebuchet MS"/>
                <a:cs typeface="Trebuchet MS"/>
              </a:rPr>
              <a:t>+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35050" y="3394392"/>
            <a:ext cx="1054735" cy="2882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spc="55" dirty="0">
                <a:solidFill>
                  <a:srgbClr val="FFFFFF"/>
                </a:solidFill>
                <a:latin typeface="Trebuchet MS"/>
                <a:cs typeface="Trebuchet MS"/>
              </a:rPr>
              <a:t>NEGATIVE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511550" y="3386772"/>
            <a:ext cx="715010" cy="3797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300" spc="210" dirty="0">
                <a:solidFill>
                  <a:srgbClr val="FFFFFF"/>
                </a:solidFill>
                <a:latin typeface="Microsoft Sans Serif"/>
                <a:cs typeface="Microsoft Sans Serif"/>
              </a:rPr>
              <a:t>0.72</a:t>
            </a:r>
            <a:endParaRPr sz="230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130799" y="3386772"/>
            <a:ext cx="715010" cy="3797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300" spc="210" dirty="0">
                <a:solidFill>
                  <a:srgbClr val="FFFFFF"/>
                </a:solidFill>
                <a:latin typeface="Microsoft Sans Serif"/>
                <a:cs typeface="Microsoft Sans Serif"/>
              </a:rPr>
              <a:t>0.81</a:t>
            </a:r>
            <a:endParaRPr sz="230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750050" y="3386772"/>
            <a:ext cx="715010" cy="3797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300" spc="210" dirty="0">
                <a:solidFill>
                  <a:srgbClr val="FFFFFF"/>
                </a:solidFill>
                <a:latin typeface="Microsoft Sans Serif"/>
                <a:cs typeface="Microsoft Sans Serif"/>
              </a:rPr>
              <a:t>0.76</a:t>
            </a:r>
            <a:endParaRPr sz="2300">
              <a:latin typeface="Microsoft Sans Serif"/>
              <a:cs typeface="Microsoft Sans Serif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465864" y="4016375"/>
            <a:ext cx="73850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9DB4C2"/>
                </a:solidFill>
                <a:latin typeface="Trebuchet MS"/>
                <a:cs typeface="Trebuchet MS"/>
              </a:rPr>
              <a:t>Actual</a:t>
            </a:r>
            <a:r>
              <a:rPr sz="1500" spc="85" dirty="0">
                <a:solidFill>
                  <a:srgbClr val="9DB4C2"/>
                </a:solidFill>
                <a:latin typeface="Trebuchet MS"/>
                <a:cs typeface="Trebuchet MS"/>
              </a:rPr>
              <a:t> </a:t>
            </a:r>
            <a:r>
              <a:rPr sz="1500" spc="-50" dirty="0">
                <a:solidFill>
                  <a:srgbClr val="9DB4C2"/>
                </a:solidFill>
                <a:latin typeface="Trebuchet MS"/>
                <a:cs typeface="Trebuchet MS"/>
              </a:rPr>
              <a:t>−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35050" y="4632642"/>
            <a:ext cx="956944" cy="2882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spc="40" dirty="0">
                <a:solidFill>
                  <a:srgbClr val="F1C14E"/>
                </a:solidFill>
                <a:latin typeface="Trebuchet MS"/>
                <a:cs typeface="Trebuchet MS"/>
              </a:rPr>
              <a:t>NEUTRAL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511550" y="4625022"/>
            <a:ext cx="715010" cy="3797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300" spc="210" dirty="0">
                <a:solidFill>
                  <a:srgbClr val="F1C14E"/>
                </a:solidFill>
                <a:latin typeface="Microsoft Sans Serif"/>
                <a:cs typeface="Microsoft Sans Serif"/>
              </a:rPr>
              <a:t>0.50</a:t>
            </a:r>
            <a:endParaRPr sz="2300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130799" y="4625022"/>
            <a:ext cx="715010" cy="3797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300" spc="210" dirty="0">
                <a:solidFill>
                  <a:srgbClr val="F1C14E"/>
                </a:solidFill>
                <a:latin typeface="Microsoft Sans Serif"/>
                <a:cs typeface="Microsoft Sans Serif"/>
              </a:rPr>
              <a:t>0.17</a:t>
            </a:r>
            <a:endParaRPr sz="2300">
              <a:latin typeface="Microsoft Sans Serif"/>
              <a:cs typeface="Microsoft Sans Serif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750050" y="4625022"/>
            <a:ext cx="715010" cy="3797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300" spc="210" dirty="0">
                <a:solidFill>
                  <a:srgbClr val="F1C14E"/>
                </a:solidFill>
                <a:latin typeface="Microsoft Sans Serif"/>
                <a:cs typeface="Microsoft Sans Serif"/>
              </a:rPr>
              <a:t>0.26</a:t>
            </a:r>
            <a:endParaRPr sz="2300">
              <a:latin typeface="Microsoft Sans Serif"/>
              <a:cs typeface="Microsoft Sans Serif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0572750" y="3714749"/>
            <a:ext cx="1428750" cy="1143000"/>
          </a:xfrm>
          <a:custGeom>
            <a:avLst/>
            <a:gdLst/>
            <a:ahLst/>
            <a:cxnLst/>
            <a:rect l="l" t="t" r="r" b="b"/>
            <a:pathLst>
              <a:path w="1428750" h="1143000">
                <a:moveTo>
                  <a:pt x="1381125" y="1143000"/>
                </a:moveTo>
                <a:lnTo>
                  <a:pt x="47625" y="1143000"/>
                </a:lnTo>
                <a:lnTo>
                  <a:pt x="29087" y="1139257"/>
                </a:lnTo>
                <a:lnTo>
                  <a:pt x="13949" y="1129050"/>
                </a:lnTo>
                <a:lnTo>
                  <a:pt x="3742" y="1113912"/>
                </a:lnTo>
                <a:lnTo>
                  <a:pt x="0" y="1095375"/>
                </a:lnTo>
                <a:lnTo>
                  <a:pt x="0" y="47625"/>
                </a:lnTo>
                <a:lnTo>
                  <a:pt x="3742" y="29087"/>
                </a:lnTo>
                <a:lnTo>
                  <a:pt x="13949" y="13949"/>
                </a:lnTo>
                <a:lnTo>
                  <a:pt x="29087" y="3742"/>
                </a:lnTo>
                <a:lnTo>
                  <a:pt x="47625" y="0"/>
                </a:lnTo>
                <a:lnTo>
                  <a:pt x="1381125" y="0"/>
                </a:lnTo>
                <a:lnTo>
                  <a:pt x="1399662" y="3742"/>
                </a:lnTo>
                <a:lnTo>
                  <a:pt x="1414800" y="13949"/>
                </a:lnTo>
                <a:lnTo>
                  <a:pt x="1425007" y="29087"/>
                </a:lnTo>
                <a:lnTo>
                  <a:pt x="1428750" y="47625"/>
                </a:lnTo>
                <a:lnTo>
                  <a:pt x="1428750" y="1095375"/>
                </a:lnTo>
                <a:lnTo>
                  <a:pt x="1425007" y="1113912"/>
                </a:lnTo>
                <a:lnTo>
                  <a:pt x="1414800" y="1129050"/>
                </a:lnTo>
                <a:lnTo>
                  <a:pt x="1399662" y="1139257"/>
                </a:lnTo>
                <a:lnTo>
                  <a:pt x="1381125" y="1143000"/>
                </a:lnTo>
                <a:close/>
              </a:path>
            </a:pathLst>
          </a:custGeom>
          <a:solidFill>
            <a:srgbClr val="16B8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11058325" y="4054475"/>
            <a:ext cx="457834" cy="414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50" spc="254" dirty="0">
                <a:solidFill>
                  <a:srgbClr val="FFFFFF"/>
                </a:solidFill>
                <a:latin typeface="Microsoft Sans Serif"/>
                <a:cs typeface="Microsoft Sans Serif"/>
              </a:rPr>
              <a:t>83</a:t>
            </a:r>
            <a:endParaRPr sz="2550">
              <a:latin typeface="Microsoft Sans Serif"/>
              <a:cs typeface="Microsoft Sans Serif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2382500" y="3714749"/>
            <a:ext cx="1428750" cy="1143000"/>
          </a:xfrm>
          <a:custGeom>
            <a:avLst/>
            <a:gdLst/>
            <a:ahLst/>
            <a:cxnLst/>
            <a:rect l="l" t="t" r="r" b="b"/>
            <a:pathLst>
              <a:path w="1428750" h="1143000">
                <a:moveTo>
                  <a:pt x="1381125" y="1143000"/>
                </a:moveTo>
                <a:lnTo>
                  <a:pt x="47625" y="1143000"/>
                </a:lnTo>
                <a:lnTo>
                  <a:pt x="29087" y="1139257"/>
                </a:lnTo>
                <a:lnTo>
                  <a:pt x="13949" y="1129050"/>
                </a:lnTo>
                <a:lnTo>
                  <a:pt x="3742" y="1113912"/>
                </a:lnTo>
                <a:lnTo>
                  <a:pt x="0" y="1095375"/>
                </a:lnTo>
                <a:lnTo>
                  <a:pt x="0" y="47625"/>
                </a:lnTo>
                <a:lnTo>
                  <a:pt x="3742" y="29087"/>
                </a:lnTo>
                <a:lnTo>
                  <a:pt x="13949" y="13949"/>
                </a:lnTo>
                <a:lnTo>
                  <a:pt x="29087" y="3742"/>
                </a:lnTo>
                <a:lnTo>
                  <a:pt x="47625" y="0"/>
                </a:lnTo>
                <a:lnTo>
                  <a:pt x="1381125" y="0"/>
                </a:lnTo>
                <a:lnTo>
                  <a:pt x="1399662" y="3742"/>
                </a:lnTo>
                <a:lnTo>
                  <a:pt x="1414800" y="13949"/>
                </a:lnTo>
                <a:lnTo>
                  <a:pt x="1425007" y="29087"/>
                </a:lnTo>
                <a:lnTo>
                  <a:pt x="1428750" y="47625"/>
                </a:lnTo>
                <a:lnTo>
                  <a:pt x="1428750" y="1095375"/>
                </a:lnTo>
                <a:lnTo>
                  <a:pt x="1425007" y="1113912"/>
                </a:lnTo>
                <a:lnTo>
                  <a:pt x="1414800" y="1129050"/>
                </a:lnTo>
                <a:lnTo>
                  <a:pt x="1399662" y="1139257"/>
                </a:lnTo>
                <a:lnTo>
                  <a:pt x="1381125" y="1143000"/>
                </a:lnTo>
                <a:close/>
              </a:path>
            </a:pathLst>
          </a:custGeom>
          <a:solidFill>
            <a:srgbClr val="1732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12976125" y="4054475"/>
            <a:ext cx="241935" cy="414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50" spc="229" dirty="0">
                <a:solidFill>
                  <a:srgbClr val="FFFFFF"/>
                </a:solidFill>
                <a:latin typeface="Microsoft Sans Serif"/>
                <a:cs typeface="Microsoft Sans Serif"/>
              </a:rPr>
              <a:t>4</a:t>
            </a:r>
            <a:endParaRPr sz="2550">
              <a:latin typeface="Microsoft Sans Serif"/>
              <a:cs typeface="Microsoft Sans Serif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4192250" y="3714749"/>
            <a:ext cx="1428750" cy="1143000"/>
          </a:xfrm>
          <a:custGeom>
            <a:avLst/>
            <a:gdLst/>
            <a:ahLst/>
            <a:cxnLst/>
            <a:rect l="l" t="t" r="r" b="b"/>
            <a:pathLst>
              <a:path w="1428750" h="1143000">
                <a:moveTo>
                  <a:pt x="1381125" y="1143000"/>
                </a:moveTo>
                <a:lnTo>
                  <a:pt x="47625" y="1143000"/>
                </a:lnTo>
                <a:lnTo>
                  <a:pt x="29087" y="1139257"/>
                </a:lnTo>
                <a:lnTo>
                  <a:pt x="13949" y="1129050"/>
                </a:lnTo>
                <a:lnTo>
                  <a:pt x="3742" y="1113912"/>
                </a:lnTo>
                <a:lnTo>
                  <a:pt x="0" y="1095375"/>
                </a:lnTo>
                <a:lnTo>
                  <a:pt x="0" y="47625"/>
                </a:lnTo>
                <a:lnTo>
                  <a:pt x="3742" y="29087"/>
                </a:lnTo>
                <a:lnTo>
                  <a:pt x="13949" y="13949"/>
                </a:lnTo>
                <a:lnTo>
                  <a:pt x="29087" y="3742"/>
                </a:lnTo>
                <a:lnTo>
                  <a:pt x="47625" y="0"/>
                </a:lnTo>
                <a:lnTo>
                  <a:pt x="1381125" y="0"/>
                </a:lnTo>
                <a:lnTo>
                  <a:pt x="1399662" y="3742"/>
                </a:lnTo>
                <a:lnTo>
                  <a:pt x="1414800" y="13949"/>
                </a:lnTo>
                <a:lnTo>
                  <a:pt x="1425007" y="29087"/>
                </a:lnTo>
                <a:lnTo>
                  <a:pt x="1428750" y="47625"/>
                </a:lnTo>
                <a:lnTo>
                  <a:pt x="1428750" y="1095375"/>
                </a:lnTo>
                <a:lnTo>
                  <a:pt x="1425007" y="1113912"/>
                </a:lnTo>
                <a:lnTo>
                  <a:pt x="1414800" y="1129050"/>
                </a:lnTo>
                <a:lnTo>
                  <a:pt x="1399662" y="1139257"/>
                </a:lnTo>
                <a:lnTo>
                  <a:pt x="1381125" y="1143000"/>
                </a:lnTo>
                <a:close/>
              </a:path>
            </a:pathLst>
          </a:custGeom>
          <a:solidFill>
            <a:srgbClr val="314F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14677826" y="4054475"/>
            <a:ext cx="457834" cy="414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50" spc="254" dirty="0">
                <a:solidFill>
                  <a:srgbClr val="FFFFFF"/>
                </a:solidFill>
                <a:latin typeface="Microsoft Sans Serif"/>
                <a:cs typeface="Microsoft Sans Serif"/>
              </a:rPr>
              <a:t>15</a:t>
            </a:r>
            <a:endParaRPr sz="2550">
              <a:latin typeface="Microsoft Sans Serif"/>
              <a:cs typeface="Microsoft Sans Serif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433420" y="5540374"/>
            <a:ext cx="77152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9DB4C2"/>
                </a:solidFill>
                <a:latin typeface="Trebuchet MS"/>
                <a:cs typeface="Trebuchet MS"/>
              </a:rPr>
              <a:t>Actual</a:t>
            </a:r>
            <a:r>
              <a:rPr sz="1500" spc="85" dirty="0">
                <a:solidFill>
                  <a:srgbClr val="9DB4C2"/>
                </a:solidFill>
                <a:latin typeface="Trebuchet MS"/>
                <a:cs typeface="Trebuchet MS"/>
              </a:rPr>
              <a:t> </a:t>
            </a:r>
            <a:r>
              <a:rPr sz="1500" spc="200" dirty="0">
                <a:solidFill>
                  <a:srgbClr val="9DB4C2"/>
                </a:solidFill>
                <a:latin typeface="Trebuchet MS"/>
                <a:cs typeface="Trebuchet MS"/>
              </a:rPr>
              <a:t>0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35050" y="5870892"/>
            <a:ext cx="944880" cy="2882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spc="45" dirty="0">
                <a:solidFill>
                  <a:srgbClr val="FFFFFF"/>
                </a:solidFill>
                <a:latin typeface="Trebuchet MS"/>
                <a:cs typeface="Trebuchet MS"/>
              </a:rPr>
              <a:t>POSITIVE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511550" y="5863272"/>
            <a:ext cx="715010" cy="3797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300" spc="210" dirty="0">
                <a:solidFill>
                  <a:srgbClr val="FFFFFF"/>
                </a:solidFill>
                <a:latin typeface="Microsoft Sans Serif"/>
                <a:cs typeface="Microsoft Sans Serif"/>
              </a:rPr>
              <a:t>0.81</a:t>
            </a:r>
            <a:endParaRPr sz="2300">
              <a:latin typeface="Microsoft Sans Serif"/>
              <a:cs typeface="Microsoft Sans Serif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130799" y="5863272"/>
            <a:ext cx="715010" cy="3797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300" spc="210" dirty="0">
                <a:solidFill>
                  <a:srgbClr val="FFFFFF"/>
                </a:solidFill>
                <a:latin typeface="Microsoft Sans Serif"/>
                <a:cs typeface="Microsoft Sans Serif"/>
              </a:rPr>
              <a:t>0.88</a:t>
            </a:r>
            <a:endParaRPr sz="2300">
              <a:latin typeface="Microsoft Sans Serif"/>
              <a:cs typeface="Microsoft Sans Serif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750050" y="5863272"/>
            <a:ext cx="715010" cy="3797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300" spc="210" dirty="0">
                <a:solidFill>
                  <a:srgbClr val="FFFFFF"/>
                </a:solidFill>
                <a:latin typeface="Microsoft Sans Serif"/>
                <a:cs typeface="Microsoft Sans Serif"/>
              </a:rPr>
              <a:t>0.84</a:t>
            </a:r>
            <a:endParaRPr sz="2300">
              <a:latin typeface="Microsoft Sans Serif"/>
              <a:cs typeface="Microsoft Sans Serif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0572750" y="5238749"/>
            <a:ext cx="1428750" cy="1143000"/>
          </a:xfrm>
          <a:custGeom>
            <a:avLst/>
            <a:gdLst/>
            <a:ahLst/>
            <a:cxnLst/>
            <a:rect l="l" t="t" r="r" b="b"/>
            <a:pathLst>
              <a:path w="1428750" h="1143000">
                <a:moveTo>
                  <a:pt x="1381125" y="1143000"/>
                </a:moveTo>
                <a:lnTo>
                  <a:pt x="47625" y="1143000"/>
                </a:lnTo>
                <a:lnTo>
                  <a:pt x="29087" y="1139257"/>
                </a:lnTo>
                <a:lnTo>
                  <a:pt x="13949" y="1129050"/>
                </a:lnTo>
                <a:lnTo>
                  <a:pt x="3742" y="1113912"/>
                </a:lnTo>
                <a:lnTo>
                  <a:pt x="0" y="1095375"/>
                </a:lnTo>
                <a:lnTo>
                  <a:pt x="0" y="47625"/>
                </a:lnTo>
                <a:lnTo>
                  <a:pt x="3742" y="29087"/>
                </a:lnTo>
                <a:lnTo>
                  <a:pt x="13949" y="13949"/>
                </a:lnTo>
                <a:lnTo>
                  <a:pt x="29087" y="3742"/>
                </a:lnTo>
                <a:lnTo>
                  <a:pt x="47625" y="0"/>
                </a:lnTo>
                <a:lnTo>
                  <a:pt x="1381125" y="0"/>
                </a:lnTo>
                <a:lnTo>
                  <a:pt x="1399662" y="3742"/>
                </a:lnTo>
                <a:lnTo>
                  <a:pt x="1414800" y="13949"/>
                </a:lnTo>
                <a:lnTo>
                  <a:pt x="1425007" y="29087"/>
                </a:lnTo>
                <a:lnTo>
                  <a:pt x="1428750" y="47625"/>
                </a:lnTo>
                <a:lnTo>
                  <a:pt x="1428750" y="1095375"/>
                </a:lnTo>
                <a:lnTo>
                  <a:pt x="1425007" y="1113912"/>
                </a:lnTo>
                <a:lnTo>
                  <a:pt x="1414800" y="1129050"/>
                </a:lnTo>
                <a:lnTo>
                  <a:pt x="1399662" y="1139257"/>
                </a:lnTo>
                <a:lnTo>
                  <a:pt x="1381125" y="1143000"/>
                </a:lnTo>
                <a:close/>
              </a:path>
            </a:pathLst>
          </a:custGeom>
          <a:solidFill>
            <a:srgbClr val="314F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11058325" y="5578474"/>
            <a:ext cx="457834" cy="414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50" spc="254" dirty="0">
                <a:solidFill>
                  <a:srgbClr val="FFFFFF"/>
                </a:solidFill>
                <a:latin typeface="Microsoft Sans Serif"/>
                <a:cs typeface="Microsoft Sans Serif"/>
              </a:rPr>
              <a:t>18</a:t>
            </a:r>
            <a:endParaRPr sz="2550">
              <a:latin typeface="Microsoft Sans Serif"/>
              <a:cs typeface="Microsoft Sans Serif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2382500" y="5238749"/>
            <a:ext cx="1428750" cy="1143000"/>
          </a:xfrm>
          <a:custGeom>
            <a:avLst/>
            <a:gdLst/>
            <a:ahLst/>
            <a:cxnLst/>
            <a:rect l="l" t="t" r="r" b="b"/>
            <a:pathLst>
              <a:path w="1428750" h="1143000">
                <a:moveTo>
                  <a:pt x="1381125" y="1143000"/>
                </a:moveTo>
                <a:lnTo>
                  <a:pt x="47625" y="1143000"/>
                </a:lnTo>
                <a:lnTo>
                  <a:pt x="29087" y="1139257"/>
                </a:lnTo>
                <a:lnTo>
                  <a:pt x="13949" y="1129050"/>
                </a:lnTo>
                <a:lnTo>
                  <a:pt x="3742" y="1113912"/>
                </a:lnTo>
                <a:lnTo>
                  <a:pt x="0" y="1095375"/>
                </a:lnTo>
                <a:lnTo>
                  <a:pt x="0" y="47625"/>
                </a:lnTo>
                <a:lnTo>
                  <a:pt x="3742" y="29087"/>
                </a:lnTo>
                <a:lnTo>
                  <a:pt x="13949" y="13949"/>
                </a:lnTo>
                <a:lnTo>
                  <a:pt x="29087" y="3742"/>
                </a:lnTo>
                <a:lnTo>
                  <a:pt x="47625" y="0"/>
                </a:lnTo>
                <a:lnTo>
                  <a:pt x="1381125" y="0"/>
                </a:lnTo>
                <a:lnTo>
                  <a:pt x="1399662" y="3742"/>
                </a:lnTo>
                <a:lnTo>
                  <a:pt x="1414800" y="13949"/>
                </a:lnTo>
                <a:lnTo>
                  <a:pt x="1425007" y="29087"/>
                </a:lnTo>
                <a:lnTo>
                  <a:pt x="1428750" y="47625"/>
                </a:lnTo>
                <a:lnTo>
                  <a:pt x="1428750" y="1095375"/>
                </a:lnTo>
                <a:lnTo>
                  <a:pt x="1425007" y="1113912"/>
                </a:lnTo>
                <a:lnTo>
                  <a:pt x="1414800" y="1129050"/>
                </a:lnTo>
                <a:lnTo>
                  <a:pt x="1399662" y="1139257"/>
                </a:lnTo>
                <a:lnTo>
                  <a:pt x="1381125" y="1143000"/>
                </a:lnTo>
                <a:close/>
              </a:path>
            </a:pathLst>
          </a:custGeom>
          <a:solidFill>
            <a:srgbClr val="1732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12976125" y="5578474"/>
            <a:ext cx="241935" cy="414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50" spc="229" dirty="0">
                <a:solidFill>
                  <a:srgbClr val="FFFFFF"/>
                </a:solidFill>
                <a:latin typeface="Microsoft Sans Serif"/>
                <a:cs typeface="Microsoft Sans Serif"/>
              </a:rPr>
              <a:t>7</a:t>
            </a:r>
            <a:endParaRPr sz="2550">
              <a:latin typeface="Microsoft Sans Serif"/>
              <a:cs typeface="Microsoft Sans Serif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14192250" y="5238749"/>
            <a:ext cx="1428750" cy="1143000"/>
          </a:xfrm>
          <a:custGeom>
            <a:avLst/>
            <a:gdLst/>
            <a:ahLst/>
            <a:cxnLst/>
            <a:rect l="l" t="t" r="r" b="b"/>
            <a:pathLst>
              <a:path w="1428750" h="1143000">
                <a:moveTo>
                  <a:pt x="1381125" y="1143000"/>
                </a:moveTo>
                <a:lnTo>
                  <a:pt x="47625" y="1143000"/>
                </a:lnTo>
                <a:lnTo>
                  <a:pt x="29087" y="1139257"/>
                </a:lnTo>
                <a:lnTo>
                  <a:pt x="13949" y="1129050"/>
                </a:lnTo>
                <a:lnTo>
                  <a:pt x="3742" y="1113912"/>
                </a:lnTo>
                <a:lnTo>
                  <a:pt x="0" y="1095375"/>
                </a:lnTo>
                <a:lnTo>
                  <a:pt x="0" y="47625"/>
                </a:lnTo>
                <a:lnTo>
                  <a:pt x="3742" y="29087"/>
                </a:lnTo>
                <a:lnTo>
                  <a:pt x="13949" y="13949"/>
                </a:lnTo>
                <a:lnTo>
                  <a:pt x="29087" y="3742"/>
                </a:lnTo>
                <a:lnTo>
                  <a:pt x="47625" y="0"/>
                </a:lnTo>
                <a:lnTo>
                  <a:pt x="1381125" y="0"/>
                </a:lnTo>
                <a:lnTo>
                  <a:pt x="1399662" y="3742"/>
                </a:lnTo>
                <a:lnTo>
                  <a:pt x="1414800" y="13949"/>
                </a:lnTo>
                <a:lnTo>
                  <a:pt x="1425007" y="29087"/>
                </a:lnTo>
                <a:lnTo>
                  <a:pt x="1428750" y="47625"/>
                </a:lnTo>
                <a:lnTo>
                  <a:pt x="1428750" y="1095375"/>
                </a:lnTo>
                <a:lnTo>
                  <a:pt x="1425007" y="1113912"/>
                </a:lnTo>
                <a:lnTo>
                  <a:pt x="1414800" y="1129050"/>
                </a:lnTo>
                <a:lnTo>
                  <a:pt x="1399662" y="1139257"/>
                </a:lnTo>
                <a:lnTo>
                  <a:pt x="1381125" y="1143000"/>
                </a:lnTo>
                <a:close/>
              </a:path>
            </a:pathLst>
          </a:custGeom>
          <a:solidFill>
            <a:srgbClr val="314F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14677826" y="5578474"/>
            <a:ext cx="457834" cy="414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50" spc="254" dirty="0">
                <a:solidFill>
                  <a:srgbClr val="FFFFFF"/>
                </a:solidFill>
                <a:latin typeface="Microsoft Sans Serif"/>
                <a:cs typeface="Microsoft Sans Serif"/>
              </a:rPr>
              <a:t>15</a:t>
            </a:r>
            <a:endParaRPr sz="2550">
              <a:latin typeface="Microsoft Sans Serif"/>
              <a:cs typeface="Microsoft Sans Serif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9454256" y="7064375"/>
            <a:ext cx="75057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9DB4C2"/>
                </a:solidFill>
                <a:latin typeface="Trebuchet MS"/>
                <a:cs typeface="Trebuchet MS"/>
              </a:rPr>
              <a:t>Actual</a:t>
            </a:r>
            <a:r>
              <a:rPr sz="1500" spc="85" dirty="0">
                <a:solidFill>
                  <a:srgbClr val="9DB4C2"/>
                </a:solidFill>
                <a:latin typeface="Trebuchet MS"/>
                <a:cs typeface="Trebuchet MS"/>
              </a:rPr>
              <a:t> </a:t>
            </a:r>
            <a:r>
              <a:rPr sz="1500" spc="35" dirty="0">
                <a:solidFill>
                  <a:srgbClr val="9DB4C2"/>
                </a:solidFill>
                <a:latin typeface="Trebuchet MS"/>
                <a:cs typeface="Trebuchet MS"/>
              </a:rPr>
              <a:t>+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10572750" y="6762750"/>
            <a:ext cx="1428750" cy="1143000"/>
          </a:xfrm>
          <a:custGeom>
            <a:avLst/>
            <a:gdLst/>
            <a:ahLst/>
            <a:cxnLst/>
            <a:rect l="l" t="t" r="r" b="b"/>
            <a:pathLst>
              <a:path w="1428750" h="1143000">
                <a:moveTo>
                  <a:pt x="1381125" y="1143000"/>
                </a:moveTo>
                <a:lnTo>
                  <a:pt x="47625" y="1143000"/>
                </a:lnTo>
                <a:lnTo>
                  <a:pt x="29087" y="1139257"/>
                </a:lnTo>
                <a:lnTo>
                  <a:pt x="13949" y="1129050"/>
                </a:lnTo>
                <a:lnTo>
                  <a:pt x="3742" y="1113912"/>
                </a:lnTo>
                <a:lnTo>
                  <a:pt x="0" y="1095375"/>
                </a:lnTo>
                <a:lnTo>
                  <a:pt x="0" y="47625"/>
                </a:lnTo>
                <a:lnTo>
                  <a:pt x="3742" y="29087"/>
                </a:lnTo>
                <a:lnTo>
                  <a:pt x="13949" y="13949"/>
                </a:lnTo>
                <a:lnTo>
                  <a:pt x="29087" y="3742"/>
                </a:lnTo>
                <a:lnTo>
                  <a:pt x="47625" y="0"/>
                </a:lnTo>
                <a:lnTo>
                  <a:pt x="1381125" y="0"/>
                </a:lnTo>
                <a:lnTo>
                  <a:pt x="1399662" y="3742"/>
                </a:lnTo>
                <a:lnTo>
                  <a:pt x="1414800" y="13949"/>
                </a:lnTo>
                <a:lnTo>
                  <a:pt x="1425007" y="29087"/>
                </a:lnTo>
                <a:lnTo>
                  <a:pt x="1428750" y="47625"/>
                </a:lnTo>
                <a:lnTo>
                  <a:pt x="1428750" y="1095375"/>
                </a:lnTo>
                <a:lnTo>
                  <a:pt x="1425007" y="1113912"/>
                </a:lnTo>
                <a:lnTo>
                  <a:pt x="1414800" y="1129050"/>
                </a:lnTo>
                <a:lnTo>
                  <a:pt x="1399662" y="1139257"/>
                </a:lnTo>
                <a:lnTo>
                  <a:pt x="1381125" y="1143000"/>
                </a:lnTo>
                <a:close/>
              </a:path>
            </a:pathLst>
          </a:custGeom>
          <a:solidFill>
            <a:srgbClr val="314F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11058325" y="7102475"/>
            <a:ext cx="457834" cy="414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50" spc="254" dirty="0">
                <a:solidFill>
                  <a:srgbClr val="FFFFFF"/>
                </a:solidFill>
                <a:latin typeface="Microsoft Sans Serif"/>
                <a:cs typeface="Microsoft Sans Serif"/>
              </a:rPr>
              <a:t>15</a:t>
            </a:r>
            <a:endParaRPr sz="2550">
              <a:latin typeface="Microsoft Sans Serif"/>
              <a:cs typeface="Microsoft Sans Serif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12382500" y="6762750"/>
            <a:ext cx="1428750" cy="1143000"/>
          </a:xfrm>
          <a:custGeom>
            <a:avLst/>
            <a:gdLst/>
            <a:ahLst/>
            <a:cxnLst/>
            <a:rect l="l" t="t" r="r" b="b"/>
            <a:pathLst>
              <a:path w="1428750" h="1143000">
                <a:moveTo>
                  <a:pt x="1381125" y="1143000"/>
                </a:moveTo>
                <a:lnTo>
                  <a:pt x="47625" y="1143000"/>
                </a:lnTo>
                <a:lnTo>
                  <a:pt x="29087" y="1139257"/>
                </a:lnTo>
                <a:lnTo>
                  <a:pt x="13949" y="1129050"/>
                </a:lnTo>
                <a:lnTo>
                  <a:pt x="3742" y="1113912"/>
                </a:lnTo>
                <a:lnTo>
                  <a:pt x="0" y="1095375"/>
                </a:lnTo>
                <a:lnTo>
                  <a:pt x="0" y="47625"/>
                </a:lnTo>
                <a:lnTo>
                  <a:pt x="3742" y="29087"/>
                </a:lnTo>
                <a:lnTo>
                  <a:pt x="13949" y="13949"/>
                </a:lnTo>
                <a:lnTo>
                  <a:pt x="29087" y="3742"/>
                </a:lnTo>
                <a:lnTo>
                  <a:pt x="47625" y="0"/>
                </a:lnTo>
                <a:lnTo>
                  <a:pt x="1381125" y="0"/>
                </a:lnTo>
                <a:lnTo>
                  <a:pt x="1399662" y="3742"/>
                </a:lnTo>
                <a:lnTo>
                  <a:pt x="1414800" y="13949"/>
                </a:lnTo>
                <a:lnTo>
                  <a:pt x="1425007" y="29087"/>
                </a:lnTo>
                <a:lnTo>
                  <a:pt x="1428750" y="47625"/>
                </a:lnTo>
                <a:lnTo>
                  <a:pt x="1428750" y="1095375"/>
                </a:lnTo>
                <a:lnTo>
                  <a:pt x="1425007" y="1113912"/>
                </a:lnTo>
                <a:lnTo>
                  <a:pt x="1414800" y="1129050"/>
                </a:lnTo>
                <a:lnTo>
                  <a:pt x="1399662" y="1139257"/>
                </a:lnTo>
                <a:lnTo>
                  <a:pt x="1381125" y="1143000"/>
                </a:lnTo>
                <a:close/>
              </a:path>
            </a:pathLst>
          </a:custGeom>
          <a:solidFill>
            <a:srgbClr val="1732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12976125" y="7102475"/>
            <a:ext cx="241935" cy="414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50" spc="229" dirty="0">
                <a:solidFill>
                  <a:srgbClr val="FFFFFF"/>
                </a:solidFill>
                <a:latin typeface="Microsoft Sans Serif"/>
                <a:cs typeface="Microsoft Sans Serif"/>
              </a:rPr>
              <a:t>3</a:t>
            </a:r>
            <a:endParaRPr sz="2550">
              <a:latin typeface="Microsoft Sans Serif"/>
              <a:cs typeface="Microsoft Sans Serif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14192250" y="6762750"/>
            <a:ext cx="1428750" cy="1143000"/>
          </a:xfrm>
          <a:custGeom>
            <a:avLst/>
            <a:gdLst/>
            <a:ahLst/>
            <a:cxnLst/>
            <a:rect l="l" t="t" r="r" b="b"/>
            <a:pathLst>
              <a:path w="1428750" h="1143000">
                <a:moveTo>
                  <a:pt x="1381125" y="1143000"/>
                </a:moveTo>
                <a:lnTo>
                  <a:pt x="47625" y="1143000"/>
                </a:lnTo>
                <a:lnTo>
                  <a:pt x="29087" y="1139257"/>
                </a:lnTo>
                <a:lnTo>
                  <a:pt x="13949" y="1129050"/>
                </a:lnTo>
                <a:lnTo>
                  <a:pt x="3742" y="1113912"/>
                </a:lnTo>
                <a:lnTo>
                  <a:pt x="0" y="1095375"/>
                </a:lnTo>
                <a:lnTo>
                  <a:pt x="0" y="47625"/>
                </a:lnTo>
                <a:lnTo>
                  <a:pt x="3742" y="29087"/>
                </a:lnTo>
                <a:lnTo>
                  <a:pt x="13949" y="13949"/>
                </a:lnTo>
                <a:lnTo>
                  <a:pt x="29087" y="3742"/>
                </a:lnTo>
                <a:lnTo>
                  <a:pt x="47625" y="0"/>
                </a:lnTo>
                <a:lnTo>
                  <a:pt x="1381125" y="0"/>
                </a:lnTo>
                <a:lnTo>
                  <a:pt x="1399662" y="3742"/>
                </a:lnTo>
                <a:lnTo>
                  <a:pt x="1414800" y="13949"/>
                </a:lnTo>
                <a:lnTo>
                  <a:pt x="1425007" y="29087"/>
                </a:lnTo>
                <a:lnTo>
                  <a:pt x="1428750" y="47625"/>
                </a:lnTo>
                <a:lnTo>
                  <a:pt x="1428750" y="1095375"/>
                </a:lnTo>
                <a:lnTo>
                  <a:pt x="1425007" y="1113912"/>
                </a:lnTo>
                <a:lnTo>
                  <a:pt x="1414800" y="1129050"/>
                </a:lnTo>
                <a:lnTo>
                  <a:pt x="1399662" y="1139257"/>
                </a:lnTo>
                <a:lnTo>
                  <a:pt x="1381125" y="1143000"/>
                </a:lnTo>
                <a:close/>
              </a:path>
            </a:pathLst>
          </a:custGeom>
          <a:solidFill>
            <a:srgbClr val="16B8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14569777" y="7102475"/>
            <a:ext cx="673735" cy="414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50" spc="254" dirty="0">
                <a:solidFill>
                  <a:srgbClr val="FFFFFF"/>
                </a:solidFill>
                <a:latin typeface="Microsoft Sans Serif"/>
                <a:cs typeface="Microsoft Sans Serif"/>
              </a:rPr>
              <a:t>128</a:t>
            </a:r>
            <a:endParaRPr sz="2550">
              <a:latin typeface="Microsoft Sans Serif"/>
              <a:cs typeface="Microsoft Sans Serif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1047750" y="9639300"/>
            <a:ext cx="16192500" cy="0"/>
          </a:xfrm>
          <a:custGeom>
            <a:avLst/>
            <a:gdLst/>
            <a:ahLst/>
            <a:cxnLst/>
            <a:rect l="l" t="t" r="r" b="b"/>
            <a:pathLst>
              <a:path w="16192500">
                <a:moveTo>
                  <a:pt x="0" y="0"/>
                </a:moveTo>
                <a:lnTo>
                  <a:pt x="16192498" y="0"/>
                </a:lnTo>
              </a:path>
            </a:pathLst>
          </a:custGeom>
          <a:ln w="19049">
            <a:solidFill>
              <a:srgbClr val="314F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15396964" y="9733279"/>
            <a:ext cx="185610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175" dirty="0">
                <a:solidFill>
                  <a:srgbClr val="89A3B4"/>
                </a:solidFill>
                <a:latin typeface="Trebuchet MS"/>
                <a:cs typeface="Trebuchet MS"/>
              </a:rPr>
              <a:t>09</a:t>
            </a:r>
            <a:r>
              <a:rPr sz="1350" spc="315" dirty="0">
                <a:solidFill>
                  <a:srgbClr val="89A3B4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89A3B4"/>
                </a:solidFill>
                <a:latin typeface="Trebuchet MS"/>
                <a:cs typeface="Trebuchet MS"/>
              </a:rPr>
              <a:t>/</a:t>
            </a:r>
            <a:r>
              <a:rPr sz="1350" spc="315" dirty="0">
                <a:solidFill>
                  <a:srgbClr val="89A3B4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89A3B4"/>
                </a:solidFill>
                <a:latin typeface="Trebuchet MS"/>
                <a:cs typeface="Trebuchet MS"/>
              </a:rPr>
              <a:t>ERROR</a:t>
            </a:r>
            <a:r>
              <a:rPr sz="1350" spc="-45" dirty="0">
                <a:solidFill>
                  <a:srgbClr val="89A3B4"/>
                </a:solidFill>
                <a:latin typeface="Trebuchet MS"/>
                <a:cs typeface="Trebuchet MS"/>
              </a:rPr>
              <a:t> </a:t>
            </a:r>
            <a:r>
              <a:rPr sz="1350" spc="45" dirty="0">
                <a:solidFill>
                  <a:srgbClr val="89A3B4"/>
                </a:solidFill>
                <a:latin typeface="Trebuchet MS"/>
                <a:cs typeface="Trebuchet MS"/>
              </a:rPr>
              <a:t>ANALYSIS</a:t>
            </a:r>
            <a:endParaRPr sz="13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455" dirty="0"/>
              <a:t>The</a:t>
            </a:r>
            <a:r>
              <a:rPr spc="320" dirty="0"/>
              <a:t> </a:t>
            </a:r>
            <a:r>
              <a:rPr spc="430" dirty="0"/>
              <a:t>neutral-</a:t>
            </a:r>
            <a:r>
              <a:rPr spc="515" dirty="0"/>
              <a:t>class</a:t>
            </a:r>
            <a:r>
              <a:rPr spc="320" dirty="0"/>
              <a:t> </a:t>
            </a:r>
            <a:r>
              <a:rPr spc="490" dirty="0"/>
              <a:t>problem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35050" y="1463437"/>
            <a:ext cx="6289675" cy="3340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dirty="0">
                <a:solidFill>
                  <a:srgbClr val="60707C"/>
                </a:solidFill>
                <a:latin typeface="Trebuchet MS"/>
                <a:cs typeface="Trebuchet MS"/>
              </a:rPr>
              <a:t>The</a:t>
            </a:r>
            <a:r>
              <a:rPr sz="2000" spc="-10" dirty="0">
                <a:solidFill>
                  <a:srgbClr val="60707C"/>
                </a:solidFill>
                <a:latin typeface="Trebuchet MS"/>
                <a:cs typeface="Trebuchet MS"/>
              </a:rPr>
              <a:t> </a:t>
            </a:r>
            <a:r>
              <a:rPr sz="2000" spc="65" dirty="0">
                <a:solidFill>
                  <a:srgbClr val="60707C"/>
                </a:solidFill>
                <a:latin typeface="Trebuchet MS"/>
                <a:cs typeface="Trebuchet MS"/>
              </a:rPr>
              <a:t>model</a:t>
            </a:r>
            <a:r>
              <a:rPr sz="2000" spc="-10" dirty="0">
                <a:solidFill>
                  <a:srgbClr val="60707C"/>
                </a:solidFill>
                <a:latin typeface="Trebuchet MS"/>
                <a:cs typeface="Trebuchet MS"/>
              </a:rPr>
              <a:t> </a:t>
            </a:r>
            <a:r>
              <a:rPr sz="2000" spc="50" dirty="0">
                <a:solidFill>
                  <a:srgbClr val="60707C"/>
                </a:solidFill>
                <a:latin typeface="Trebuchet MS"/>
                <a:cs typeface="Trebuchet MS"/>
              </a:rPr>
              <a:t>is</a:t>
            </a:r>
            <a:r>
              <a:rPr sz="2000" spc="-5" dirty="0">
                <a:solidFill>
                  <a:srgbClr val="60707C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60707C"/>
                </a:solidFill>
                <a:latin typeface="Trebuchet MS"/>
                <a:cs typeface="Trebuchet MS"/>
              </a:rPr>
              <a:t>useful</a:t>
            </a:r>
            <a:r>
              <a:rPr sz="2000" spc="-10" dirty="0">
                <a:solidFill>
                  <a:srgbClr val="60707C"/>
                </a:solidFill>
                <a:latin typeface="Trebuchet MS"/>
                <a:cs typeface="Trebuchet MS"/>
              </a:rPr>
              <a:t> </a:t>
            </a:r>
            <a:r>
              <a:rPr sz="2000" spc="110" dirty="0">
                <a:solidFill>
                  <a:srgbClr val="60707C"/>
                </a:solidFill>
                <a:latin typeface="Trebuchet MS"/>
                <a:cs typeface="Trebuchet MS"/>
              </a:rPr>
              <a:t>today—</a:t>
            </a:r>
            <a:r>
              <a:rPr sz="2000" spc="70" dirty="0">
                <a:solidFill>
                  <a:srgbClr val="60707C"/>
                </a:solidFill>
                <a:latin typeface="Trebuchet MS"/>
                <a:cs typeface="Trebuchet MS"/>
              </a:rPr>
              <a:t>but</a:t>
            </a:r>
            <a:r>
              <a:rPr sz="2000" spc="-10" dirty="0">
                <a:solidFill>
                  <a:srgbClr val="60707C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60707C"/>
                </a:solidFill>
                <a:latin typeface="Trebuchet MS"/>
                <a:cs typeface="Trebuchet MS"/>
              </a:rPr>
              <a:t>its</a:t>
            </a:r>
            <a:r>
              <a:rPr sz="2000" spc="-5" dirty="0">
                <a:solidFill>
                  <a:srgbClr val="60707C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60707C"/>
                </a:solidFill>
                <a:latin typeface="Trebuchet MS"/>
                <a:cs typeface="Trebuchet MS"/>
              </a:rPr>
              <a:t>blind</a:t>
            </a:r>
            <a:r>
              <a:rPr sz="2000" spc="-10" dirty="0">
                <a:solidFill>
                  <a:srgbClr val="60707C"/>
                </a:solidFill>
                <a:latin typeface="Trebuchet MS"/>
                <a:cs typeface="Trebuchet MS"/>
              </a:rPr>
              <a:t> </a:t>
            </a:r>
            <a:r>
              <a:rPr sz="2000" spc="110" dirty="0">
                <a:solidFill>
                  <a:srgbClr val="60707C"/>
                </a:solidFill>
                <a:latin typeface="Trebuchet MS"/>
                <a:cs typeface="Trebuchet MS"/>
              </a:rPr>
              <a:t>spot</a:t>
            </a:r>
            <a:r>
              <a:rPr sz="2000" spc="-10" dirty="0">
                <a:solidFill>
                  <a:srgbClr val="60707C"/>
                </a:solidFill>
                <a:latin typeface="Trebuchet MS"/>
                <a:cs typeface="Trebuchet MS"/>
              </a:rPr>
              <a:t> </a:t>
            </a:r>
            <a:r>
              <a:rPr sz="2000" spc="50" dirty="0">
                <a:solidFill>
                  <a:srgbClr val="60707C"/>
                </a:solidFill>
                <a:latin typeface="Trebuchet MS"/>
                <a:cs typeface="Trebuchet MS"/>
              </a:rPr>
              <a:t>is</a:t>
            </a:r>
            <a:r>
              <a:rPr sz="2000" spc="-5" dirty="0">
                <a:solidFill>
                  <a:srgbClr val="60707C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60707C"/>
                </a:solidFill>
                <a:latin typeface="Trebuchet MS"/>
                <a:cs typeface="Trebuchet MS"/>
              </a:rPr>
              <a:t>clear.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47750" y="3143250"/>
            <a:ext cx="4762500" cy="171450"/>
          </a:xfrm>
          <a:custGeom>
            <a:avLst/>
            <a:gdLst/>
            <a:ahLst/>
            <a:cxnLst/>
            <a:rect l="l" t="t" r="r" b="b"/>
            <a:pathLst>
              <a:path w="4762500" h="171450">
                <a:moveTo>
                  <a:pt x="4762425" y="171449"/>
                </a:moveTo>
                <a:lnTo>
                  <a:pt x="0" y="171449"/>
                </a:lnTo>
                <a:lnTo>
                  <a:pt x="0" y="0"/>
                </a:lnTo>
                <a:lnTo>
                  <a:pt x="4762425" y="0"/>
                </a:lnTo>
                <a:lnTo>
                  <a:pt x="4762425" y="171449"/>
                </a:lnTo>
                <a:close/>
              </a:path>
            </a:pathLst>
          </a:custGeom>
          <a:solidFill>
            <a:srgbClr val="FF6A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81749" y="3143250"/>
            <a:ext cx="4762500" cy="171450"/>
          </a:xfrm>
          <a:custGeom>
            <a:avLst/>
            <a:gdLst/>
            <a:ahLst/>
            <a:cxnLst/>
            <a:rect l="l" t="t" r="r" b="b"/>
            <a:pathLst>
              <a:path w="4762500" h="171450">
                <a:moveTo>
                  <a:pt x="4762425" y="171449"/>
                </a:moveTo>
                <a:lnTo>
                  <a:pt x="0" y="171449"/>
                </a:lnTo>
                <a:lnTo>
                  <a:pt x="0" y="0"/>
                </a:lnTo>
                <a:lnTo>
                  <a:pt x="4762425" y="0"/>
                </a:lnTo>
                <a:lnTo>
                  <a:pt x="4762425" y="171449"/>
                </a:lnTo>
                <a:close/>
              </a:path>
            </a:pathLst>
          </a:custGeom>
          <a:solidFill>
            <a:srgbClr val="F1C1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1715749" y="3143250"/>
            <a:ext cx="4762500" cy="171450"/>
          </a:xfrm>
          <a:custGeom>
            <a:avLst/>
            <a:gdLst/>
            <a:ahLst/>
            <a:cxnLst/>
            <a:rect l="l" t="t" r="r" b="b"/>
            <a:pathLst>
              <a:path w="4762500" h="171450">
                <a:moveTo>
                  <a:pt x="4762425" y="171449"/>
                </a:moveTo>
                <a:lnTo>
                  <a:pt x="0" y="171449"/>
                </a:lnTo>
                <a:lnTo>
                  <a:pt x="0" y="0"/>
                </a:lnTo>
                <a:lnTo>
                  <a:pt x="4762425" y="0"/>
                </a:lnTo>
                <a:lnTo>
                  <a:pt x="4762425" y="171449"/>
                </a:lnTo>
                <a:close/>
              </a:path>
            </a:pathLst>
          </a:custGeom>
          <a:solidFill>
            <a:srgbClr val="16B8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35050" y="3663950"/>
            <a:ext cx="1867535" cy="1263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750" spc="370" dirty="0">
                <a:solidFill>
                  <a:srgbClr val="FF6A5E"/>
                </a:solidFill>
                <a:latin typeface="Microsoft Sans Serif"/>
                <a:cs typeface="Microsoft Sans Serif"/>
              </a:rPr>
              <a:t>01</a:t>
            </a:r>
            <a:endParaRPr sz="37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2655"/>
              </a:spcBef>
            </a:pPr>
            <a:r>
              <a:rPr sz="2150" spc="210" dirty="0">
                <a:solidFill>
                  <a:srgbClr val="0F2536"/>
                </a:solidFill>
                <a:latin typeface="Microsoft Sans Serif"/>
                <a:cs typeface="Microsoft Sans Serif"/>
              </a:rPr>
              <a:t>IMBALANCE</a:t>
            </a:r>
            <a:endParaRPr sz="215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69049" y="3663950"/>
            <a:ext cx="1805939" cy="1263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750" spc="370" dirty="0">
                <a:solidFill>
                  <a:srgbClr val="F1C14E"/>
                </a:solidFill>
                <a:latin typeface="Microsoft Sans Serif"/>
                <a:cs typeface="Microsoft Sans Serif"/>
              </a:rPr>
              <a:t>02</a:t>
            </a:r>
            <a:endParaRPr sz="37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2655"/>
              </a:spcBef>
            </a:pPr>
            <a:r>
              <a:rPr sz="2150" spc="220" dirty="0">
                <a:solidFill>
                  <a:srgbClr val="0F2536"/>
                </a:solidFill>
                <a:latin typeface="Microsoft Sans Serif"/>
                <a:cs typeface="Microsoft Sans Serif"/>
              </a:rPr>
              <a:t>AMBIGUITY</a:t>
            </a:r>
            <a:endParaRPr sz="215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703049" y="3663950"/>
            <a:ext cx="1866900" cy="1263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750" spc="370" dirty="0">
                <a:solidFill>
                  <a:srgbClr val="16B8A6"/>
                </a:solidFill>
                <a:latin typeface="Microsoft Sans Serif"/>
                <a:cs typeface="Microsoft Sans Serif"/>
              </a:rPr>
              <a:t>03</a:t>
            </a:r>
            <a:endParaRPr sz="37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2655"/>
              </a:spcBef>
            </a:pPr>
            <a:r>
              <a:rPr sz="2150" spc="215" dirty="0">
                <a:solidFill>
                  <a:srgbClr val="0F2536"/>
                </a:solidFill>
                <a:latin typeface="Microsoft Sans Serif"/>
                <a:cs typeface="Microsoft Sans Serif"/>
              </a:rPr>
              <a:t>NEXT</a:t>
            </a:r>
            <a:r>
              <a:rPr sz="2150" spc="160" dirty="0">
                <a:solidFill>
                  <a:srgbClr val="0F2536"/>
                </a:solidFill>
                <a:latin typeface="Microsoft Sans Serif"/>
                <a:cs typeface="Microsoft Sans Serif"/>
              </a:rPr>
              <a:t> </a:t>
            </a:r>
            <a:r>
              <a:rPr sz="2150" spc="165" dirty="0">
                <a:solidFill>
                  <a:srgbClr val="0F2536"/>
                </a:solidFill>
                <a:latin typeface="Microsoft Sans Serif"/>
                <a:cs typeface="Microsoft Sans Serif"/>
              </a:rPr>
              <a:t>MOVE</a:t>
            </a:r>
            <a:endParaRPr sz="215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35050" y="5235812"/>
            <a:ext cx="4127500" cy="7683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1900"/>
              </a:lnSpc>
              <a:spcBef>
                <a:spcPts val="95"/>
              </a:spcBef>
            </a:pPr>
            <a:r>
              <a:rPr sz="2000" spc="70" dirty="0">
                <a:solidFill>
                  <a:srgbClr val="60707C"/>
                </a:solidFill>
                <a:latin typeface="Trebuchet MS"/>
                <a:cs typeface="Trebuchet MS"/>
              </a:rPr>
              <a:t>Only</a:t>
            </a:r>
            <a:r>
              <a:rPr sz="2000" spc="20" dirty="0">
                <a:solidFill>
                  <a:srgbClr val="60707C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60707C"/>
                </a:solidFill>
                <a:latin typeface="Trebuchet MS"/>
                <a:cs typeface="Trebuchet MS"/>
              </a:rPr>
              <a:t>199</a:t>
            </a:r>
            <a:r>
              <a:rPr sz="2000" spc="20" dirty="0">
                <a:solidFill>
                  <a:srgbClr val="60707C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60707C"/>
                </a:solidFill>
                <a:latin typeface="Trebuchet MS"/>
                <a:cs typeface="Trebuchet MS"/>
              </a:rPr>
              <a:t>Neutral</a:t>
            </a:r>
            <a:r>
              <a:rPr sz="2000" spc="20" dirty="0">
                <a:solidFill>
                  <a:srgbClr val="60707C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60707C"/>
                </a:solidFill>
                <a:latin typeface="Trebuchet MS"/>
                <a:cs typeface="Trebuchet MS"/>
              </a:rPr>
              <a:t>reviews</a:t>
            </a:r>
            <a:r>
              <a:rPr sz="2000" spc="25" dirty="0">
                <a:solidFill>
                  <a:srgbClr val="60707C"/>
                </a:solidFill>
                <a:latin typeface="Trebuchet MS"/>
                <a:cs typeface="Trebuchet MS"/>
              </a:rPr>
              <a:t> </a:t>
            </a:r>
            <a:r>
              <a:rPr sz="2000" spc="45" dirty="0">
                <a:solidFill>
                  <a:srgbClr val="60707C"/>
                </a:solidFill>
                <a:latin typeface="Trebuchet MS"/>
                <a:cs typeface="Trebuchet MS"/>
              </a:rPr>
              <a:t>constrain </a:t>
            </a:r>
            <a:r>
              <a:rPr sz="2000" dirty="0">
                <a:solidFill>
                  <a:srgbClr val="60707C"/>
                </a:solidFill>
                <a:latin typeface="Trebuchet MS"/>
                <a:cs typeface="Trebuchet MS"/>
              </a:rPr>
              <a:t>what</a:t>
            </a:r>
            <a:r>
              <a:rPr sz="2000" spc="-5" dirty="0">
                <a:solidFill>
                  <a:srgbClr val="60707C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60707C"/>
                </a:solidFill>
                <a:latin typeface="Trebuchet MS"/>
                <a:cs typeface="Trebuchet MS"/>
              </a:rPr>
              <a:t>the</a:t>
            </a:r>
            <a:r>
              <a:rPr sz="2000" spc="-5" dirty="0">
                <a:solidFill>
                  <a:srgbClr val="60707C"/>
                </a:solidFill>
                <a:latin typeface="Trebuchet MS"/>
                <a:cs typeface="Trebuchet MS"/>
              </a:rPr>
              <a:t> </a:t>
            </a:r>
            <a:r>
              <a:rPr sz="2000" spc="65" dirty="0">
                <a:solidFill>
                  <a:srgbClr val="60707C"/>
                </a:solidFill>
                <a:latin typeface="Trebuchet MS"/>
                <a:cs typeface="Trebuchet MS"/>
              </a:rPr>
              <a:t>model</a:t>
            </a:r>
            <a:r>
              <a:rPr sz="2000" spc="-5" dirty="0">
                <a:solidFill>
                  <a:srgbClr val="60707C"/>
                </a:solidFill>
                <a:latin typeface="Trebuchet MS"/>
                <a:cs typeface="Trebuchet MS"/>
              </a:rPr>
              <a:t> </a:t>
            </a:r>
            <a:r>
              <a:rPr sz="2000" spc="85" dirty="0">
                <a:solidFill>
                  <a:srgbClr val="60707C"/>
                </a:solidFill>
                <a:latin typeface="Trebuchet MS"/>
                <a:cs typeface="Trebuchet MS"/>
              </a:rPr>
              <a:t>can</a:t>
            </a:r>
            <a:r>
              <a:rPr sz="2000" spc="-5" dirty="0">
                <a:solidFill>
                  <a:srgbClr val="60707C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60707C"/>
                </a:solidFill>
                <a:latin typeface="Trebuchet MS"/>
                <a:cs typeface="Trebuchet MS"/>
              </a:rPr>
              <a:t>learn.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369049" y="5235812"/>
            <a:ext cx="4119879" cy="7683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1900"/>
              </a:lnSpc>
              <a:spcBef>
                <a:spcPts val="95"/>
              </a:spcBef>
            </a:pPr>
            <a:r>
              <a:rPr sz="2000" spc="80" dirty="0">
                <a:solidFill>
                  <a:srgbClr val="60707C"/>
                </a:solidFill>
                <a:latin typeface="Trebuchet MS"/>
                <a:cs typeface="Trebuchet MS"/>
              </a:rPr>
              <a:t>Mixed</a:t>
            </a:r>
            <a:r>
              <a:rPr sz="2000" spc="-50" dirty="0">
                <a:solidFill>
                  <a:srgbClr val="60707C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60707C"/>
                </a:solidFill>
                <a:latin typeface="Trebuchet MS"/>
                <a:cs typeface="Trebuchet MS"/>
              </a:rPr>
              <a:t>or</a:t>
            </a:r>
            <a:r>
              <a:rPr sz="2000" spc="-45" dirty="0">
                <a:solidFill>
                  <a:srgbClr val="60707C"/>
                </a:solidFill>
                <a:latin typeface="Trebuchet MS"/>
                <a:cs typeface="Trebuchet MS"/>
              </a:rPr>
              <a:t> </a:t>
            </a:r>
            <a:r>
              <a:rPr sz="2000" spc="65" dirty="0">
                <a:solidFill>
                  <a:srgbClr val="60707C"/>
                </a:solidFill>
                <a:latin typeface="Trebuchet MS"/>
                <a:cs typeface="Trebuchet MS"/>
              </a:rPr>
              <a:t>understated</a:t>
            </a:r>
            <a:r>
              <a:rPr sz="2000" spc="-45" dirty="0">
                <a:solidFill>
                  <a:srgbClr val="60707C"/>
                </a:solidFill>
                <a:latin typeface="Trebuchet MS"/>
                <a:cs typeface="Trebuchet MS"/>
              </a:rPr>
              <a:t> </a:t>
            </a:r>
            <a:r>
              <a:rPr sz="2000" spc="65" dirty="0">
                <a:solidFill>
                  <a:srgbClr val="60707C"/>
                </a:solidFill>
                <a:latin typeface="Trebuchet MS"/>
                <a:cs typeface="Trebuchet MS"/>
              </a:rPr>
              <a:t>opinions</a:t>
            </a:r>
            <a:r>
              <a:rPr sz="2000" spc="-45" dirty="0">
                <a:solidFill>
                  <a:srgbClr val="60707C"/>
                </a:solidFill>
                <a:latin typeface="Trebuchet MS"/>
                <a:cs typeface="Trebuchet MS"/>
              </a:rPr>
              <a:t> </a:t>
            </a:r>
            <a:r>
              <a:rPr sz="2000" spc="-25" dirty="0">
                <a:solidFill>
                  <a:srgbClr val="60707C"/>
                </a:solidFill>
                <a:latin typeface="Trebuchet MS"/>
                <a:cs typeface="Trebuchet MS"/>
              </a:rPr>
              <a:t>are </a:t>
            </a:r>
            <a:r>
              <a:rPr sz="2000" dirty="0">
                <a:solidFill>
                  <a:srgbClr val="60707C"/>
                </a:solidFill>
                <a:latin typeface="Trebuchet MS"/>
                <a:cs typeface="Trebuchet MS"/>
              </a:rPr>
              <a:t>easily</a:t>
            </a:r>
            <a:r>
              <a:rPr sz="2000" spc="95" dirty="0">
                <a:solidFill>
                  <a:srgbClr val="60707C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60707C"/>
                </a:solidFill>
                <a:latin typeface="Trebuchet MS"/>
                <a:cs typeface="Trebuchet MS"/>
              </a:rPr>
              <a:t>pulled</a:t>
            </a:r>
            <a:r>
              <a:rPr sz="2000" spc="95" dirty="0">
                <a:solidFill>
                  <a:srgbClr val="60707C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60707C"/>
                </a:solidFill>
                <a:latin typeface="Trebuchet MS"/>
                <a:cs typeface="Trebuchet MS"/>
              </a:rPr>
              <a:t>toward</a:t>
            </a:r>
            <a:r>
              <a:rPr sz="2000" spc="95" dirty="0">
                <a:solidFill>
                  <a:srgbClr val="60707C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60707C"/>
                </a:solidFill>
                <a:latin typeface="Trebuchet MS"/>
                <a:cs typeface="Trebuchet MS"/>
              </a:rPr>
              <a:t>either</a:t>
            </a:r>
            <a:r>
              <a:rPr sz="2000" spc="95" dirty="0">
                <a:solidFill>
                  <a:srgbClr val="60707C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60707C"/>
                </a:solidFill>
                <a:latin typeface="Trebuchet MS"/>
                <a:cs typeface="Trebuchet MS"/>
              </a:rPr>
              <a:t>pole.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703049" y="5235812"/>
            <a:ext cx="3702050" cy="7683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1900"/>
              </a:lnSpc>
              <a:spcBef>
                <a:spcPts val="95"/>
              </a:spcBef>
            </a:pPr>
            <a:r>
              <a:rPr sz="2000" spc="85" dirty="0">
                <a:solidFill>
                  <a:srgbClr val="60707C"/>
                </a:solidFill>
                <a:latin typeface="Trebuchet MS"/>
                <a:cs typeface="Trebuchet MS"/>
              </a:rPr>
              <a:t>Augment</a:t>
            </a:r>
            <a:r>
              <a:rPr sz="2000" spc="-45" dirty="0">
                <a:solidFill>
                  <a:srgbClr val="60707C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60707C"/>
                </a:solidFill>
                <a:latin typeface="Trebuchet MS"/>
                <a:cs typeface="Trebuchet MS"/>
              </a:rPr>
              <a:t>Neutral</a:t>
            </a:r>
            <a:r>
              <a:rPr sz="2000" spc="-45" dirty="0">
                <a:solidFill>
                  <a:srgbClr val="60707C"/>
                </a:solidFill>
                <a:latin typeface="Trebuchet MS"/>
                <a:cs typeface="Trebuchet MS"/>
              </a:rPr>
              <a:t> </a:t>
            </a:r>
            <a:r>
              <a:rPr sz="2000" spc="55" dirty="0">
                <a:solidFill>
                  <a:srgbClr val="60707C"/>
                </a:solidFill>
                <a:latin typeface="Trebuchet MS"/>
                <a:cs typeface="Trebuchet MS"/>
              </a:rPr>
              <a:t>data</a:t>
            </a:r>
            <a:r>
              <a:rPr sz="2000" spc="-40" dirty="0">
                <a:solidFill>
                  <a:srgbClr val="60707C"/>
                </a:solidFill>
                <a:latin typeface="Trebuchet MS"/>
                <a:cs typeface="Trebuchet MS"/>
              </a:rPr>
              <a:t> </a:t>
            </a:r>
            <a:r>
              <a:rPr sz="2000" spc="85" dirty="0">
                <a:solidFill>
                  <a:srgbClr val="60707C"/>
                </a:solidFill>
                <a:latin typeface="Trebuchet MS"/>
                <a:cs typeface="Trebuchet MS"/>
              </a:rPr>
              <a:t>and</a:t>
            </a:r>
            <a:r>
              <a:rPr sz="2000" spc="-45" dirty="0">
                <a:solidFill>
                  <a:srgbClr val="60707C"/>
                </a:solidFill>
                <a:latin typeface="Trebuchet MS"/>
                <a:cs typeface="Trebuchet MS"/>
              </a:rPr>
              <a:t> </a:t>
            </a:r>
            <a:r>
              <a:rPr sz="2000" spc="35" dirty="0">
                <a:solidFill>
                  <a:srgbClr val="60707C"/>
                </a:solidFill>
                <a:latin typeface="Trebuchet MS"/>
                <a:cs typeface="Trebuchet MS"/>
              </a:rPr>
              <a:t>test </a:t>
            </a:r>
            <a:r>
              <a:rPr sz="2000" dirty="0">
                <a:solidFill>
                  <a:srgbClr val="60707C"/>
                </a:solidFill>
                <a:latin typeface="Trebuchet MS"/>
                <a:cs typeface="Trebuchet MS"/>
              </a:rPr>
              <a:t>contextual</a:t>
            </a:r>
            <a:r>
              <a:rPr sz="2000" spc="275" dirty="0">
                <a:solidFill>
                  <a:srgbClr val="60707C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60707C"/>
                </a:solidFill>
                <a:latin typeface="Trebuchet MS"/>
                <a:cs typeface="Trebuchet MS"/>
              </a:rPr>
              <a:t>language</a:t>
            </a:r>
            <a:r>
              <a:rPr sz="2000" spc="275" dirty="0">
                <a:solidFill>
                  <a:srgbClr val="60707C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60707C"/>
                </a:solidFill>
                <a:latin typeface="Trebuchet MS"/>
                <a:cs typeface="Trebuchet MS"/>
              </a:rPr>
              <a:t>models.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047750" y="9639300"/>
            <a:ext cx="16192500" cy="0"/>
          </a:xfrm>
          <a:custGeom>
            <a:avLst/>
            <a:gdLst/>
            <a:ahLst/>
            <a:cxnLst/>
            <a:rect l="l" t="t" r="r" b="b"/>
            <a:pathLst>
              <a:path w="16192500">
                <a:moveTo>
                  <a:pt x="0" y="0"/>
                </a:moveTo>
                <a:lnTo>
                  <a:pt x="16192498" y="0"/>
                </a:lnTo>
              </a:path>
            </a:pathLst>
          </a:custGeom>
          <a:ln w="19049">
            <a:solidFill>
              <a:srgbClr val="CBD5D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5795674" y="9733279"/>
            <a:ext cx="145732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solidFill>
                  <a:srgbClr val="60707C"/>
                </a:solidFill>
                <a:latin typeface="Trebuchet MS"/>
                <a:cs typeface="Trebuchet MS"/>
              </a:rPr>
              <a:t>10</a:t>
            </a:r>
            <a:r>
              <a:rPr sz="1350" spc="170" dirty="0">
                <a:solidFill>
                  <a:srgbClr val="60707C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60707C"/>
                </a:solidFill>
                <a:latin typeface="Trebuchet MS"/>
                <a:cs typeface="Trebuchet MS"/>
              </a:rPr>
              <a:t>/</a:t>
            </a:r>
            <a:r>
              <a:rPr sz="1350" spc="175" dirty="0">
                <a:solidFill>
                  <a:srgbClr val="60707C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60707C"/>
                </a:solidFill>
                <a:latin typeface="Trebuchet MS"/>
                <a:cs typeface="Trebuchet MS"/>
              </a:rPr>
              <a:t>LIMITATIONS</a:t>
            </a:r>
            <a:endParaRPr sz="13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465" dirty="0"/>
              <a:t>From</a:t>
            </a:r>
            <a:r>
              <a:rPr spc="305" dirty="0"/>
              <a:t> </a:t>
            </a:r>
            <a:r>
              <a:rPr spc="520" dirty="0"/>
              <a:t>notebook</a:t>
            </a:r>
            <a:r>
              <a:rPr spc="305" dirty="0"/>
              <a:t> </a:t>
            </a:r>
            <a:r>
              <a:rPr spc="585" dirty="0"/>
              <a:t>to</a:t>
            </a:r>
            <a:r>
              <a:rPr spc="310" dirty="0"/>
              <a:t> </a:t>
            </a:r>
            <a:r>
              <a:rPr spc="459" dirty="0"/>
              <a:t>live</a:t>
            </a:r>
            <a:r>
              <a:rPr spc="305" dirty="0"/>
              <a:t> </a:t>
            </a:r>
            <a:r>
              <a:rPr spc="500" dirty="0"/>
              <a:t>prediction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35050" y="1463437"/>
            <a:ext cx="8346440" cy="3340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160" dirty="0">
                <a:solidFill>
                  <a:srgbClr val="60707C"/>
                </a:solidFill>
                <a:latin typeface="Trebuchet MS"/>
                <a:cs typeface="Trebuchet MS"/>
              </a:rPr>
              <a:t>A</a:t>
            </a:r>
            <a:r>
              <a:rPr sz="2000" spc="-55" dirty="0">
                <a:solidFill>
                  <a:srgbClr val="60707C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60707C"/>
                </a:solidFill>
                <a:latin typeface="Trebuchet MS"/>
                <a:cs typeface="Trebuchet MS"/>
              </a:rPr>
              <a:t>lightweight</a:t>
            </a:r>
            <a:r>
              <a:rPr sz="2000" spc="-50" dirty="0">
                <a:solidFill>
                  <a:srgbClr val="60707C"/>
                </a:solidFill>
                <a:latin typeface="Trebuchet MS"/>
                <a:cs typeface="Trebuchet MS"/>
              </a:rPr>
              <a:t> </a:t>
            </a:r>
            <a:r>
              <a:rPr sz="2000" spc="70" dirty="0">
                <a:solidFill>
                  <a:srgbClr val="60707C"/>
                </a:solidFill>
                <a:latin typeface="Trebuchet MS"/>
                <a:cs typeface="Trebuchet MS"/>
              </a:rPr>
              <a:t>deployment</a:t>
            </a:r>
            <a:r>
              <a:rPr sz="2000" spc="-55" dirty="0">
                <a:solidFill>
                  <a:srgbClr val="60707C"/>
                </a:solidFill>
                <a:latin typeface="Trebuchet MS"/>
                <a:cs typeface="Trebuchet MS"/>
              </a:rPr>
              <a:t> </a:t>
            </a:r>
            <a:r>
              <a:rPr sz="2000" spc="60" dirty="0">
                <a:solidFill>
                  <a:srgbClr val="60707C"/>
                </a:solidFill>
                <a:latin typeface="Trebuchet MS"/>
                <a:cs typeface="Trebuchet MS"/>
              </a:rPr>
              <a:t>path</a:t>
            </a:r>
            <a:r>
              <a:rPr sz="2000" spc="-50" dirty="0">
                <a:solidFill>
                  <a:srgbClr val="60707C"/>
                </a:solidFill>
                <a:latin typeface="Trebuchet MS"/>
                <a:cs typeface="Trebuchet MS"/>
              </a:rPr>
              <a:t> </a:t>
            </a:r>
            <a:r>
              <a:rPr sz="2000" spc="85" dirty="0">
                <a:solidFill>
                  <a:srgbClr val="60707C"/>
                </a:solidFill>
                <a:latin typeface="Trebuchet MS"/>
                <a:cs typeface="Trebuchet MS"/>
              </a:rPr>
              <a:t>makes</a:t>
            </a:r>
            <a:r>
              <a:rPr sz="2000" spc="-55" dirty="0">
                <a:solidFill>
                  <a:srgbClr val="60707C"/>
                </a:solidFill>
                <a:latin typeface="Trebuchet MS"/>
                <a:cs typeface="Trebuchet MS"/>
              </a:rPr>
              <a:t> </a:t>
            </a:r>
            <a:r>
              <a:rPr sz="2000" spc="50" dirty="0">
                <a:solidFill>
                  <a:srgbClr val="60707C"/>
                </a:solidFill>
                <a:latin typeface="Trebuchet MS"/>
                <a:cs typeface="Trebuchet MS"/>
              </a:rPr>
              <a:t>sentiment</a:t>
            </a:r>
            <a:r>
              <a:rPr sz="2000" spc="-50" dirty="0">
                <a:solidFill>
                  <a:srgbClr val="60707C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60707C"/>
                </a:solidFill>
                <a:latin typeface="Trebuchet MS"/>
                <a:cs typeface="Trebuchet MS"/>
              </a:rPr>
              <a:t>available</a:t>
            </a:r>
            <a:r>
              <a:rPr sz="2000" spc="-55" dirty="0">
                <a:solidFill>
                  <a:srgbClr val="60707C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60707C"/>
                </a:solidFill>
                <a:latin typeface="Trebuchet MS"/>
                <a:cs typeface="Trebuchet MS"/>
              </a:rPr>
              <a:t>in</a:t>
            </a:r>
            <a:r>
              <a:rPr sz="2000" spc="-50" dirty="0">
                <a:solidFill>
                  <a:srgbClr val="60707C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60707C"/>
                </a:solidFill>
                <a:latin typeface="Trebuchet MS"/>
                <a:cs typeface="Trebuchet MS"/>
              </a:rPr>
              <a:t>real</a:t>
            </a:r>
            <a:r>
              <a:rPr sz="2000" spc="-50" dirty="0">
                <a:solidFill>
                  <a:srgbClr val="60707C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60707C"/>
                </a:solidFill>
                <a:latin typeface="Trebuchet MS"/>
                <a:cs typeface="Trebuchet MS"/>
              </a:rPr>
              <a:t>time.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47750" y="2857500"/>
            <a:ext cx="8572500" cy="2952750"/>
          </a:xfrm>
          <a:prstGeom prst="rect">
            <a:avLst/>
          </a:prstGeom>
          <a:solidFill>
            <a:srgbClr val="0F2536"/>
          </a:solidFill>
        </p:spPr>
        <p:txBody>
          <a:bodyPr vert="horz" wrap="square" lIns="0" tIns="755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95"/>
              </a:spcBef>
            </a:pPr>
            <a:endParaRPr sz="1800">
              <a:latin typeface="Times New Roman"/>
              <a:cs typeface="Times New Roman"/>
            </a:endParaRPr>
          </a:p>
          <a:p>
            <a:pPr marL="380365" marR="3246120">
              <a:lnSpc>
                <a:spcPct val="128499"/>
              </a:lnSpc>
              <a:spcBef>
                <a:spcPts val="5"/>
              </a:spcBef>
            </a:pP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model</a:t>
            </a:r>
            <a:r>
              <a:rPr sz="1800" spc="-1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=</a:t>
            </a:r>
            <a:r>
              <a:rPr sz="1800" spc="-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load('sentiment_model.pkl')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tfidf</a:t>
            </a:r>
            <a:r>
              <a:rPr sz="1800" spc="-1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=</a:t>
            </a:r>
            <a:r>
              <a:rPr sz="1800" spc="-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load('tfidf_vectorizer.pkl')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vector</a:t>
            </a:r>
            <a:r>
              <a:rPr sz="1800" spc="-1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=</a:t>
            </a:r>
            <a:r>
              <a:rPr sz="1800" spc="-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tfidf.transform([review])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sentiment</a:t>
            </a:r>
            <a:r>
              <a:rPr sz="1800" spc="-1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=</a:t>
            </a:r>
            <a:r>
              <a:rPr sz="1800" spc="-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model.predict(vector)[0]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16049" y="6637655"/>
            <a:ext cx="539559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i="1" dirty="0">
                <a:solidFill>
                  <a:srgbClr val="0F2536"/>
                </a:solidFill>
                <a:latin typeface="Arial"/>
                <a:cs typeface="Arial"/>
              </a:rPr>
              <a:t>“This</a:t>
            </a:r>
            <a:r>
              <a:rPr sz="2100" i="1" spc="80" dirty="0">
                <a:solidFill>
                  <a:srgbClr val="0F2536"/>
                </a:solidFill>
                <a:latin typeface="Arial"/>
                <a:cs typeface="Arial"/>
              </a:rPr>
              <a:t> </a:t>
            </a:r>
            <a:r>
              <a:rPr sz="2100" i="1" spc="110" dirty="0">
                <a:solidFill>
                  <a:srgbClr val="0F2536"/>
                </a:solidFill>
                <a:latin typeface="Arial"/>
                <a:cs typeface="Arial"/>
              </a:rPr>
              <a:t>product</a:t>
            </a:r>
            <a:r>
              <a:rPr sz="2100" i="1" spc="80" dirty="0">
                <a:solidFill>
                  <a:srgbClr val="0F2536"/>
                </a:solidFill>
                <a:latin typeface="Arial"/>
                <a:cs typeface="Arial"/>
              </a:rPr>
              <a:t> </a:t>
            </a:r>
            <a:r>
              <a:rPr sz="2100" i="1" dirty="0">
                <a:solidFill>
                  <a:srgbClr val="0F2536"/>
                </a:solidFill>
                <a:latin typeface="Arial"/>
                <a:cs typeface="Arial"/>
              </a:rPr>
              <a:t>is</a:t>
            </a:r>
            <a:r>
              <a:rPr sz="2100" i="1" spc="80" dirty="0">
                <a:solidFill>
                  <a:srgbClr val="0F2536"/>
                </a:solidFill>
                <a:latin typeface="Arial"/>
                <a:cs typeface="Arial"/>
              </a:rPr>
              <a:t> </a:t>
            </a:r>
            <a:r>
              <a:rPr sz="2100" i="1" dirty="0">
                <a:solidFill>
                  <a:srgbClr val="0F2536"/>
                </a:solidFill>
                <a:latin typeface="Arial"/>
                <a:cs typeface="Arial"/>
              </a:rPr>
              <a:t>amazing</a:t>
            </a:r>
            <a:r>
              <a:rPr sz="2100" i="1" spc="85" dirty="0">
                <a:solidFill>
                  <a:srgbClr val="0F2536"/>
                </a:solidFill>
                <a:latin typeface="Arial"/>
                <a:cs typeface="Arial"/>
              </a:rPr>
              <a:t> </a:t>
            </a:r>
            <a:r>
              <a:rPr sz="2100" i="1" dirty="0">
                <a:solidFill>
                  <a:srgbClr val="0F2536"/>
                </a:solidFill>
                <a:latin typeface="Arial"/>
                <a:cs typeface="Arial"/>
              </a:rPr>
              <a:t>and</a:t>
            </a:r>
            <a:r>
              <a:rPr sz="2100" i="1" spc="80" dirty="0">
                <a:solidFill>
                  <a:srgbClr val="0F2536"/>
                </a:solidFill>
                <a:latin typeface="Arial"/>
                <a:cs typeface="Arial"/>
              </a:rPr>
              <a:t> </a:t>
            </a:r>
            <a:r>
              <a:rPr sz="2100" i="1" dirty="0">
                <a:solidFill>
                  <a:srgbClr val="0F2536"/>
                </a:solidFill>
                <a:latin typeface="Arial"/>
                <a:cs typeface="Arial"/>
              </a:rPr>
              <a:t>I</a:t>
            </a:r>
            <a:r>
              <a:rPr sz="2100" i="1" spc="80" dirty="0">
                <a:solidFill>
                  <a:srgbClr val="0F2536"/>
                </a:solidFill>
                <a:latin typeface="Arial"/>
                <a:cs typeface="Arial"/>
              </a:rPr>
              <a:t> </a:t>
            </a:r>
            <a:r>
              <a:rPr sz="2100" i="1" dirty="0">
                <a:solidFill>
                  <a:srgbClr val="0F2536"/>
                </a:solidFill>
                <a:latin typeface="Arial"/>
                <a:cs typeface="Arial"/>
              </a:rPr>
              <a:t>really</a:t>
            </a:r>
            <a:r>
              <a:rPr sz="2100" i="1" spc="80" dirty="0">
                <a:solidFill>
                  <a:srgbClr val="0F2536"/>
                </a:solidFill>
                <a:latin typeface="Arial"/>
                <a:cs typeface="Arial"/>
              </a:rPr>
              <a:t> </a:t>
            </a:r>
            <a:r>
              <a:rPr sz="2100" i="1" dirty="0">
                <a:solidFill>
                  <a:srgbClr val="0F2536"/>
                </a:solidFill>
                <a:latin typeface="Arial"/>
                <a:cs typeface="Arial"/>
              </a:rPr>
              <a:t>love</a:t>
            </a:r>
            <a:r>
              <a:rPr sz="2100" i="1" spc="85" dirty="0">
                <a:solidFill>
                  <a:srgbClr val="0F2536"/>
                </a:solidFill>
                <a:latin typeface="Arial"/>
                <a:cs typeface="Arial"/>
              </a:rPr>
              <a:t> </a:t>
            </a:r>
            <a:r>
              <a:rPr sz="2100" i="1" spc="75" dirty="0">
                <a:solidFill>
                  <a:srgbClr val="0F2536"/>
                </a:solidFill>
                <a:latin typeface="Arial"/>
                <a:cs typeface="Arial"/>
              </a:rPr>
              <a:t>it”</a:t>
            </a:r>
            <a:endParaRPr sz="21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16049" y="7812087"/>
            <a:ext cx="2340610" cy="4254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567690" algn="l"/>
              </a:tabLst>
            </a:pPr>
            <a:r>
              <a:rPr sz="2600" spc="-50" dirty="0">
                <a:solidFill>
                  <a:srgbClr val="16B8A6"/>
                </a:solidFill>
                <a:latin typeface="Microsoft Sans Serif"/>
                <a:cs typeface="Microsoft Sans Serif"/>
              </a:rPr>
              <a:t>→</a:t>
            </a:r>
            <a:r>
              <a:rPr sz="2600" dirty="0">
                <a:solidFill>
                  <a:srgbClr val="16B8A6"/>
                </a:solidFill>
                <a:latin typeface="Microsoft Sans Serif"/>
                <a:cs typeface="Microsoft Sans Serif"/>
              </a:rPr>
              <a:t>	</a:t>
            </a:r>
            <a:r>
              <a:rPr sz="2600" spc="210" dirty="0">
                <a:solidFill>
                  <a:srgbClr val="16B8A6"/>
                </a:solidFill>
                <a:latin typeface="Microsoft Sans Serif"/>
                <a:cs typeface="Microsoft Sans Serif"/>
              </a:rPr>
              <a:t>POSITIVE</a:t>
            </a:r>
            <a:endParaRPr sz="260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49000" y="2524125"/>
            <a:ext cx="5905499" cy="5905499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047750" y="9639300"/>
            <a:ext cx="16192500" cy="0"/>
          </a:xfrm>
          <a:custGeom>
            <a:avLst/>
            <a:gdLst/>
            <a:ahLst/>
            <a:cxnLst/>
            <a:rect l="l" t="t" r="r" b="b"/>
            <a:pathLst>
              <a:path w="16192500">
                <a:moveTo>
                  <a:pt x="0" y="0"/>
                </a:moveTo>
                <a:lnTo>
                  <a:pt x="16192498" y="0"/>
                </a:lnTo>
              </a:path>
            </a:pathLst>
          </a:custGeom>
          <a:ln w="19049">
            <a:solidFill>
              <a:srgbClr val="CBD5D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6235908" y="9733279"/>
            <a:ext cx="1017269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310" dirty="0">
                <a:solidFill>
                  <a:srgbClr val="60707C"/>
                </a:solidFill>
                <a:latin typeface="Trebuchet MS"/>
                <a:cs typeface="Trebuchet MS"/>
              </a:rPr>
              <a:t>11</a:t>
            </a:r>
            <a:r>
              <a:rPr sz="1350" spc="220" dirty="0">
                <a:solidFill>
                  <a:srgbClr val="60707C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60707C"/>
                </a:solidFill>
                <a:latin typeface="Trebuchet MS"/>
                <a:cs typeface="Trebuchet MS"/>
              </a:rPr>
              <a:t>/</a:t>
            </a:r>
            <a:r>
              <a:rPr sz="1350" spc="220" dirty="0">
                <a:solidFill>
                  <a:srgbClr val="60707C"/>
                </a:solidFill>
                <a:latin typeface="Trebuchet MS"/>
                <a:cs typeface="Trebuchet MS"/>
              </a:rPr>
              <a:t> </a:t>
            </a:r>
            <a:r>
              <a:rPr sz="1350" spc="45" dirty="0">
                <a:solidFill>
                  <a:srgbClr val="60707C"/>
                </a:solidFill>
                <a:latin typeface="Trebuchet MS"/>
                <a:cs typeface="Trebuchet MS"/>
              </a:rPr>
              <a:t>DEPLOY</a:t>
            </a:r>
            <a:endParaRPr sz="13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71A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35050" y="921702"/>
            <a:ext cx="1414145" cy="2425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235" dirty="0">
                <a:solidFill>
                  <a:srgbClr val="16B8A6"/>
                </a:solidFill>
                <a:latin typeface="Trebuchet MS"/>
                <a:cs typeface="Trebuchet MS"/>
              </a:rPr>
              <a:t>CONCLUSION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035050" y="1824863"/>
            <a:ext cx="6917690" cy="1878964"/>
          </a:xfrm>
          <a:prstGeom prst="rect">
            <a:avLst/>
          </a:prstGeom>
        </p:spPr>
        <p:txBody>
          <a:bodyPr vert="horz" wrap="square" lIns="0" tIns="172085" rIns="0" bIns="0" rtlCol="0">
            <a:spAutoFit/>
          </a:bodyPr>
          <a:lstStyle/>
          <a:p>
            <a:pPr marL="12700" marR="5080">
              <a:lnSpc>
                <a:spcPts val="6680"/>
              </a:lnSpc>
              <a:spcBef>
                <a:spcPts val="1355"/>
              </a:spcBef>
            </a:pPr>
            <a:r>
              <a:rPr sz="6600" spc="630" dirty="0">
                <a:solidFill>
                  <a:srgbClr val="FFFFFF"/>
                </a:solidFill>
              </a:rPr>
              <a:t>Ready</a:t>
            </a:r>
            <a:r>
              <a:rPr sz="6600" spc="440" dirty="0">
                <a:solidFill>
                  <a:srgbClr val="FFFFFF"/>
                </a:solidFill>
              </a:rPr>
              <a:t> </a:t>
            </a:r>
            <a:r>
              <a:rPr sz="6600" spc="890" dirty="0">
                <a:solidFill>
                  <a:srgbClr val="FFFFFF"/>
                </a:solidFill>
              </a:rPr>
              <a:t>to</a:t>
            </a:r>
            <a:r>
              <a:rPr sz="6600" spc="445" dirty="0">
                <a:solidFill>
                  <a:srgbClr val="FFFFFF"/>
                </a:solidFill>
              </a:rPr>
              <a:t> </a:t>
            </a:r>
            <a:r>
              <a:rPr sz="6600" spc="750" dirty="0">
                <a:solidFill>
                  <a:srgbClr val="FFFFFF"/>
                </a:solidFill>
              </a:rPr>
              <a:t>listen </a:t>
            </a:r>
            <a:r>
              <a:rPr sz="6600" spc="890" dirty="0">
                <a:solidFill>
                  <a:srgbClr val="FFFFFF"/>
                </a:solidFill>
              </a:rPr>
              <a:t>at</a:t>
            </a:r>
            <a:r>
              <a:rPr sz="6600" spc="440" dirty="0">
                <a:solidFill>
                  <a:srgbClr val="FFFFFF"/>
                </a:solidFill>
              </a:rPr>
              <a:t> </a:t>
            </a:r>
            <a:r>
              <a:rPr sz="6600" spc="695" dirty="0">
                <a:solidFill>
                  <a:srgbClr val="FFFFFF"/>
                </a:solidFill>
              </a:rPr>
              <a:t>scale.</a:t>
            </a:r>
            <a:endParaRPr sz="6600"/>
          </a:p>
        </p:txBody>
      </p:sp>
      <p:sp>
        <p:nvSpPr>
          <p:cNvPr id="7" name="object 7"/>
          <p:cNvSpPr/>
          <p:nvPr/>
        </p:nvSpPr>
        <p:spPr>
          <a:xfrm>
            <a:off x="12573000" y="2476500"/>
            <a:ext cx="3714750" cy="1381125"/>
          </a:xfrm>
          <a:custGeom>
            <a:avLst/>
            <a:gdLst/>
            <a:ahLst/>
            <a:cxnLst/>
            <a:rect l="l" t="t" r="r" b="b"/>
            <a:pathLst>
              <a:path w="3714750" h="1381125">
                <a:moveTo>
                  <a:pt x="3638550" y="1381125"/>
                </a:moveTo>
                <a:lnTo>
                  <a:pt x="76200" y="1381125"/>
                </a:lnTo>
                <a:lnTo>
                  <a:pt x="46539" y="1375136"/>
                </a:lnTo>
                <a:lnTo>
                  <a:pt x="22318" y="1358806"/>
                </a:lnTo>
                <a:lnTo>
                  <a:pt x="5988" y="1334585"/>
                </a:lnTo>
                <a:lnTo>
                  <a:pt x="0" y="1304925"/>
                </a:lnTo>
                <a:lnTo>
                  <a:pt x="0" y="76200"/>
                </a:lnTo>
                <a:lnTo>
                  <a:pt x="5988" y="46539"/>
                </a:lnTo>
                <a:lnTo>
                  <a:pt x="22318" y="22318"/>
                </a:lnTo>
                <a:lnTo>
                  <a:pt x="46539" y="5988"/>
                </a:lnTo>
                <a:lnTo>
                  <a:pt x="76200" y="0"/>
                </a:lnTo>
                <a:lnTo>
                  <a:pt x="3638550" y="0"/>
                </a:lnTo>
                <a:lnTo>
                  <a:pt x="3668210" y="5988"/>
                </a:lnTo>
                <a:lnTo>
                  <a:pt x="3692431" y="22318"/>
                </a:lnTo>
                <a:lnTo>
                  <a:pt x="3708761" y="46539"/>
                </a:lnTo>
                <a:lnTo>
                  <a:pt x="3714750" y="76200"/>
                </a:lnTo>
                <a:lnTo>
                  <a:pt x="3714750" y="1304925"/>
                </a:lnTo>
                <a:lnTo>
                  <a:pt x="3708761" y="1334585"/>
                </a:lnTo>
                <a:lnTo>
                  <a:pt x="3692431" y="1358806"/>
                </a:lnTo>
                <a:lnTo>
                  <a:pt x="3668210" y="1375136"/>
                </a:lnTo>
                <a:lnTo>
                  <a:pt x="3638550" y="1381125"/>
                </a:lnTo>
                <a:close/>
              </a:path>
            </a:pathLst>
          </a:custGeom>
          <a:solidFill>
            <a:srgbClr val="1732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3869392" y="2745739"/>
            <a:ext cx="1122045" cy="76835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05"/>
              </a:spcBef>
            </a:pPr>
            <a:r>
              <a:rPr sz="2100" spc="204" dirty="0">
                <a:solidFill>
                  <a:srgbClr val="FFFFFF"/>
                </a:solidFill>
                <a:latin typeface="Microsoft Sans Serif"/>
                <a:cs typeface="Microsoft Sans Serif"/>
              </a:rPr>
              <a:t>01</a:t>
            </a:r>
            <a:endParaRPr sz="2100">
              <a:latin typeface="Microsoft Sans Serif"/>
              <a:cs typeface="Microsoft Sans Serif"/>
            </a:endParaRPr>
          </a:p>
          <a:p>
            <a:pPr algn="ctr">
              <a:lnSpc>
                <a:spcPct val="100000"/>
              </a:lnSpc>
              <a:spcBef>
                <a:spcPts val="405"/>
              </a:spcBef>
            </a:pPr>
            <a:r>
              <a:rPr sz="2100" spc="140" dirty="0">
                <a:solidFill>
                  <a:srgbClr val="FFFFFF"/>
                </a:solidFill>
                <a:latin typeface="Microsoft Sans Serif"/>
                <a:cs typeface="Microsoft Sans Serif"/>
              </a:rPr>
              <a:t>REFINE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35050" y="4419520"/>
            <a:ext cx="8954770" cy="12827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9600"/>
              </a:lnSpc>
              <a:spcBef>
                <a:spcPts val="95"/>
              </a:spcBef>
            </a:pPr>
            <a:r>
              <a:rPr sz="2300" dirty="0">
                <a:solidFill>
                  <a:srgbClr val="B9C8D1"/>
                </a:solidFill>
                <a:latin typeface="Trebuchet MS"/>
                <a:cs typeface="Trebuchet MS"/>
              </a:rPr>
              <a:t>Linear</a:t>
            </a:r>
            <a:r>
              <a:rPr sz="2300" spc="75" dirty="0">
                <a:solidFill>
                  <a:srgbClr val="B9C8D1"/>
                </a:solidFill>
                <a:latin typeface="Trebuchet MS"/>
                <a:cs typeface="Trebuchet MS"/>
              </a:rPr>
              <a:t> </a:t>
            </a:r>
            <a:r>
              <a:rPr sz="2300" spc="254" dirty="0">
                <a:solidFill>
                  <a:srgbClr val="B9C8D1"/>
                </a:solidFill>
                <a:latin typeface="Trebuchet MS"/>
                <a:cs typeface="Trebuchet MS"/>
              </a:rPr>
              <a:t>SVM</a:t>
            </a:r>
            <a:r>
              <a:rPr sz="2300" spc="75" dirty="0">
                <a:solidFill>
                  <a:srgbClr val="B9C8D1"/>
                </a:solidFill>
                <a:latin typeface="Trebuchet MS"/>
                <a:cs typeface="Trebuchet MS"/>
              </a:rPr>
              <a:t> </a:t>
            </a:r>
            <a:r>
              <a:rPr sz="2300" dirty="0">
                <a:solidFill>
                  <a:srgbClr val="B9C8D1"/>
                </a:solidFill>
                <a:latin typeface="Trebuchet MS"/>
                <a:cs typeface="Trebuchet MS"/>
              </a:rPr>
              <a:t>delivers</a:t>
            </a:r>
            <a:r>
              <a:rPr sz="2300" spc="75" dirty="0">
                <a:solidFill>
                  <a:srgbClr val="B9C8D1"/>
                </a:solidFill>
                <a:latin typeface="Trebuchet MS"/>
                <a:cs typeface="Trebuchet MS"/>
              </a:rPr>
              <a:t> </a:t>
            </a:r>
            <a:r>
              <a:rPr sz="2300" dirty="0">
                <a:solidFill>
                  <a:srgbClr val="B9C8D1"/>
                </a:solidFill>
                <a:latin typeface="Trebuchet MS"/>
                <a:cs typeface="Trebuchet MS"/>
              </a:rPr>
              <a:t>effective</a:t>
            </a:r>
            <a:r>
              <a:rPr sz="2300" spc="75" dirty="0">
                <a:solidFill>
                  <a:srgbClr val="B9C8D1"/>
                </a:solidFill>
                <a:latin typeface="Trebuchet MS"/>
                <a:cs typeface="Trebuchet MS"/>
              </a:rPr>
              <a:t> </a:t>
            </a:r>
            <a:r>
              <a:rPr sz="2300" spc="55" dirty="0">
                <a:solidFill>
                  <a:srgbClr val="B9C8D1"/>
                </a:solidFill>
                <a:latin typeface="Trebuchet MS"/>
                <a:cs typeface="Trebuchet MS"/>
              </a:rPr>
              <a:t>sentiment</a:t>
            </a:r>
            <a:r>
              <a:rPr sz="2300" spc="80" dirty="0">
                <a:solidFill>
                  <a:srgbClr val="B9C8D1"/>
                </a:solidFill>
                <a:latin typeface="Trebuchet MS"/>
                <a:cs typeface="Trebuchet MS"/>
              </a:rPr>
              <a:t> </a:t>
            </a:r>
            <a:r>
              <a:rPr sz="2300" dirty="0">
                <a:solidFill>
                  <a:srgbClr val="B9C8D1"/>
                </a:solidFill>
                <a:latin typeface="Trebuchet MS"/>
                <a:cs typeface="Trebuchet MS"/>
              </a:rPr>
              <a:t>classification</a:t>
            </a:r>
            <a:r>
              <a:rPr sz="2300" spc="75" dirty="0">
                <a:solidFill>
                  <a:srgbClr val="B9C8D1"/>
                </a:solidFill>
                <a:latin typeface="Trebuchet MS"/>
                <a:cs typeface="Trebuchet MS"/>
              </a:rPr>
              <a:t> </a:t>
            </a:r>
            <a:r>
              <a:rPr sz="2300" spc="85" dirty="0">
                <a:solidFill>
                  <a:srgbClr val="B9C8D1"/>
                </a:solidFill>
                <a:latin typeface="Trebuchet MS"/>
                <a:cs typeface="Trebuchet MS"/>
              </a:rPr>
              <a:t>and</a:t>
            </a:r>
            <a:r>
              <a:rPr sz="2300" spc="75" dirty="0">
                <a:solidFill>
                  <a:srgbClr val="B9C8D1"/>
                </a:solidFill>
                <a:latin typeface="Trebuchet MS"/>
                <a:cs typeface="Trebuchet MS"/>
              </a:rPr>
              <a:t> </a:t>
            </a:r>
            <a:r>
              <a:rPr sz="2300" spc="40" dirty="0">
                <a:solidFill>
                  <a:srgbClr val="B9C8D1"/>
                </a:solidFill>
                <a:latin typeface="Trebuchet MS"/>
                <a:cs typeface="Trebuchet MS"/>
              </a:rPr>
              <a:t>is </a:t>
            </a:r>
            <a:r>
              <a:rPr sz="2300" spc="100" dirty="0">
                <a:solidFill>
                  <a:srgbClr val="B9C8D1"/>
                </a:solidFill>
                <a:latin typeface="Trebuchet MS"/>
                <a:cs typeface="Trebuchet MS"/>
              </a:rPr>
              <a:t>deployment-</a:t>
            </a:r>
            <a:r>
              <a:rPr sz="2300" dirty="0">
                <a:solidFill>
                  <a:srgbClr val="B9C8D1"/>
                </a:solidFill>
                <a:latin typeface="Trebuchet MS"/>
                <a:cs typeface="Trebuchet MS"/>
              </a:rPr>
              <a:t>ready.</a:t>
            </a:r>
            <a:r>
              <a:rPr sz="2300" spc="-15" dirty="0">
                <a:solidFill>
                  <a:srgbClr val="B9C8D1"/>
                </a:solidFill>
                <a:latin typeface="Trebuchet MS"/>
                <a:cs typeface="Trebuchet MS"/>
              </a:rPr>
              <a:t> </a:t>
            </a:r>
            <a:r>
              <a:rPr sz="2300" dirty="0">
                <a:solidFill>
                  <a:srgbClr val="B9C8D1"/>
                </a:solidFill>
                <a:latin typeface="Trebuchet MS"/>
                <a:cs typeface="Trebuchet MS"/>
              </a:rPr>
              <a:t>The</a:t>
            </a:r>
            <a:r>
              <a:rPr sz="2300" spc="-15" dirty="0">
                <a:solidFill>
                  <a:srgbClr val="B9C8D1"/>
                </a:solidFill>
                <a:latin typeface="Trebuchet MS"/>
                <a:cs typeface="Trebuchet MS"/>
              </a:rPr>
              <a:t> </a:t>
            </a:r>
            <a:r>
              <a:rPr sz="2300" dirty="0">
                <a:solidFill>
                  <a:srgbClr val="B9C8D1"/>
                </a:solidFill>
                <a:latin typeface="Trebuchet MS"/>
                <a:cs typeface="Trebuchet MS"/>
              </a:rPr>
              <a:t>next</a:t>
            </a:r>
            <a:r>
              <a:rPr sz="2300" spc="-15" dirty="0">
                <a:solidFill>
                  <a:srgbClr val="B9C8D1"/>
                </a:solidFill>
                <a:latin typeface="Trebuchet MS"/>
                <a:cs typeface="Trebuchet MS"/>
              </a:rPr>
              <a:t> </a:t>
            </a:r>
            <a:r>
              <a:rPr sz="2300" spc="70" dirty="0">
                <a:solidFill>
                  <a:srgbClr val="B9C8D1"/>
                </a:solidFill>
                <a:latin typeface="Trebuchet MS"/>
                <a:cs typeface="Trebuchet MS"/>
              </a:rPr>
              <a:t>gains</a:t>
            </a:r>
            <a:r>
              <a:rPr sz="2300" spc="-15" dirty="0">
                <a:solidFill>
                  <a:srgbClr val="B9C8D1"/>
                </a:solidFill>
                <a:latin typeface="Trebuchet MS"/>
                <a:cs typeface="Trebuchet MS"/>
              </a:rPr>
              <a:t> </a:t>
            </a:r>
            <a:r>
              <a:rPr sz="2300" spc="-100" dirty="0">
                <a:solidFill>
                  <a:srgbClr val="B9C8D1"/>
                </a:solidFill>
                <a:latin typeface="Trebuchet MS"/>
                <a:cs typeface="Trebuchet MS"/>
              </a:rPr>
              <a:t>will</a:t>
            </a:r>
            <a:r>
              <a:rPr sz="2300" spc="-15" dirty="0">
                <a:solidFill>
                  <a:srgbClr val="B9C8D1"/>
                </a:solidFill>
                <a:latin typeface="Trebuchet MS"/>
                <a:cs typeface="Trebuchet MS"/>
              </a:rPr>
              <a:t> </a:t>
            </a:r>
            <a:r>
              <a:rPr sz="2300" spc="130" dirty="0">
                <a:solidFill>
                  <a:srgbClr val="B9C8D1"/>
                </a:solidFill>
                <a:latin typeface="Trebuchet MS"/>
                <a:cs typeface="Trebuchet MS"/>
              </a:rPr>
              <a:t>come</a:t>
            </a:r>
            <a:r>
              <a:rPr sz="2300" spc="-15" dirty="0">
                <a:solidFill>
                  <a:srgbClr val="B9C8D1"/>
                </a:solidFill>
                <a:latin typeface="Trebuchet MS"/>
                <a:cs typeface="Trebuchet MS"/>
              </a:rPr>
              <a:t> </a:t>
            </a:r>
            <a:r>
              <a:rPr sz="2300" dirty="0">
                <a:solidFill>
                  <a:srgbClr val="B9C8D1"/>
                </a:solidFill>
                <a:latin typeface="Trebuchet MS"/>
                <a:cs typeface="Trebuchet MS"/>
              </a:rPr>
              <a:t>from</a:t>
            </a:r>
            <a:r>
              <a:rPr sz="2300" spc="-15" dirty="0">
                <a:solidFill>
                  <a:srgbClr val="B9C8D1"/>
                </a:solidFill>
                <a:latin typeface="Trebuchet MS"/>
                <a:cs typeface="Trebuchet MS"/>
              </a:rPr>
              <a:t> </a:t>
            </a:r>
            <a:r>
              <a:rPr sz="2300" dirty="0">
                <a:solidFill>
                  <a:srgbClr val="B9C8D1"/>
                </a:solidFill>
                <a:latin typeface="Trebuchet MS"/>
                <a:cs typeface="Trebuchet MS"/>
              </a:rPr>
              <a:t>better</a:t>
            </a:r>
            <a:r>
              <a:rPr sz="2300" spc="-15" dirty="0">
                <a:solidFill>
                  <a:srgbClr val="B9C8D1"/>
                </a:solidFill>
                <a:latin typeface="Trebuchet MS"/>
                <a:cs typeface="Trebuchet MS"/>
              </a:rPr>
              <a:t> </a:t>
            </a:r>
            <a:r>
              <a:rPr sz="2300" spc="35" dirty="0">
                <a:solidFill>
                  <a:srgbClr val="B9C8D1"/>
                </a:solidFill>
                <a:latin typeface="Trebuchet MS"/>
                <a:cs typeface="Trebuchet MS"/>
              </a:rPr>
              <a:t>Neutral-</a:t>
            </a:r>
            <a:r>
              <a:rPr sz="2300" spc="100" dirty="0">
                <a:solidFill>
                  <a:srgbClr val="B9C8D1"/>
                </a:solidFill>
                <a:latin typeface="Trebuchet MS"/>
                <a:cs typeface="Trebuchet MS"/>
              </a:rPr>
              <a:t>class</a:t>
            </a:r>
            <a:r>
              <a:rPr sz="2300" spc="-50" dirty="0">
                <a:solidFill>
                  <a:srgbClr val="B9C8D1"/>
                </a:solidFill>
                <a:latin typeface="Trebuchet MS"/>
                <a:cs typeface="Trebuchet MS"/>
              </a:rPr>
              <a:t> </a:t>
            </a:r>
            <a:r>
              <a:rPr sz="2300" dirty="0">
                <a:solidFill>
                  <a:srgbClr val="B9C8D1"/>
                </a:solidFill>
                <a:latin typeface="Trebuchet MS"/>
                <a:cs typeface="Trebuchet MS"/>
              </a:rPr>
              <a:t>balance,</a:t>
            </a:r>
            <a:r>
              <a:rPr sz="2300" spc="-50" dirty="0">
                <a:solidFill>
                  <a:srgbClr val="B9C8D1"/>
                </a:solidFill>
                <a:latin typeface="Trebuchet MS"/>
                <a:cs typeface="Trebuchet MS"/>
              </a:rPr>
              <a:t> </a:t>
            </a:r>
            <a:r>
              <a:rPr sz="2300" spc="60" dirty="0">
                <a:solidFill>
                  <a:srgbClr val="B9C8D1"/>
                </a:solidFill>
                <a:latin typeface="Trebuchet MS"/>
                <a:cs typeface="Trebuchet MS"/>
              </a:rPr>
              <a:t>broader</a:t>
            </a:r>
            <a:r>
              <a:rPr sz="2300" spc="-45" dirty="0">
                <a:solidFill>
                  <a:srgbClr val="B9C8D1"/>
                </a:solidFill>
                <a:latin typeface="Trebuchet MS"/>
                <a:cs typeface="Trebuchet MS"/>
              </a:rPr>
              <a:t> </a:t>
            </a:r>
            <a:r>
              <a:rPr sz="2300" dirty="0">
                <a:solidFill>
                  <a:srgbClr val="B9C8D1"/>
                </a:solidFill>
                <a:latin typeface="Trebuchet MS"/>
                <a:cs typeface="Trebuchet MS"/>
              </a:rPr>
              <a:t>datasets,</a:t>
            </a:r>
            <a:r>
              <a:rPr sz="2300" spc="-50" dirty="0">
                <a:solidFill>
                  <a:srgbClr val="B9C8D1"/>
                </a:solidFill>
                <a:latin typeface="Trebuchet MS"/>
                <a:cs typeface="Trebuchet MS"/>
              </a:rPr>
              <a:t> </a:t>
            </a:r>
            <a:r>
              <a:rPr sz="2300" spc="85" dirty="0">
                <a:solidFill>
                  <a:srgbClr val="B9C8D1"/>
                </a:solidFill>
                <a:latin typeface="Trebuchet MS"/>
                <a:cs typeface="Trebuchet MS"/>
              </a:rPr>
              <a:t>and</a:t>
            </a:r>
            <a:r>
              <a:rPr sz="2300" spc="-50" dirty="0">
                <a:solidFill>
                  <a:srgbClr val="B9C8D1"/>
                </a:solidFill>
                <a:latin typeface="Trebuchet MS"/>
                <a:cs typeface="Trebuchet MS"/>
              </a:rPr>
              <a:t> </a:t>
            </a:r>
            <a:r>
              <a:rPr sz="2300" spc="-20" dirty="0">
                <a:solidFill>
                  <a:srgbClr val="B9C8D1"/>
                </a:solidFill>
                <a:latin typeface="Trebuchet MS"/>
                <a:cs typeface="Trebuchet MS"/>
              </a:rPr>
              <a:t>real</a:t>
            </a:r>
            <a:r>
              <a:rPr sz="2300" spc="-45" dirty="0">
                <a:solidFill>
                  <a:srgbClr val="B9C8D1"/>
                </a:solidFill>
                <a:latin typeface="Trebuchet MS"/>
                <a:cs typeface="Trebuchet MS"/>
              </a:rPr>
              <a:t> </a:t>
            </a:r>
            <a:r>
              <a:rPr sz="2300" spc="70" dirty="0">
                <a:solidFill>
                  <a:srgbClr val="B9C8D1"/>
                </a:solidFill>
                <a:latin typeface="Trebuchet MS"/>
                <a:cs typeface="Trebuchet MS"/>
              </a:rPr>
              <a:t>user</a:t>
            </a:r>
            <a:r>
              <a:rPr sz="2300" spc="-50" dirty="0">
                <a:solidFill>
                  <a:srgbClr val="B9C8D1"/>
                </a:solidFill>
                <a:latin typeface="Trebuchet MS"/>
                <a:cs typeface="Trebuchet MS"/>
              </a:rPr>
              <a:t> </a:t>
            </a:r>
            <a:r>
              <a:rPr sz="2300" spc="75" dirty="0">
                <a:solidFill>
                  <a:srgbClr val="B9C8D1"/>
                </a:solidFill>
                <a:latin typeface="Trebuchet MS"/>
                <a:cs typeface="Trebuchet MS"/>
              </a:rPr>
              <a:t>feedback</a:t>
            </a:r>
            <a:r>
              <a:rPr sz="2300" spc="-50" dirty="0">
                <a:solidFill>
                  <a:srgbClr val="B9C8D1"/>
                </a:solidFill>
                <a:latin typeface="Trebuchet MS"/>
                <a:cs typeface="Trebuchet MS"/>
              </a:rPr>
              <a:t> </a:t>
            </a:r>
            <a:r>
              <a:rPr sz="2300" spc="-10" dirty="0">
                <a:solidFill>
                  <a:srgbClr val="B9C8D1"/>
                </a:solidFill>
                <a:latin typeface="Trebuchet MS"/>
                <a:cs typeface="Trebuchet MS"/>
              </a:rPr>
              <a:t>loops.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2573000" y="4429124"/>
            <a:ext cx="3714750" cy="1381125"/>
          </a:xfrm>
          <a:custGeom>
            <a:avLst/>
            <a:gdLst/>
            <a:ahLst/>
            <a:cxnLst/>
            <a:rect l="l" t="t" r="r" b="b"/>
            <a:pathLst>
              <a:path w="3714750" h="1381125">
                <a:moveTo>
                  <a:pt x="3638550" y="1381125"/>
                </a:moveTo>
                <a:lnTo>
                  <a:pt x="76200" y="1381125"/>
                </a:lnTo>
                <a:lnTo>
                  <a:pt x="46539" y="1375136"/>
                </a:lnTo>
                <a:lnTo>
                  <a:pt x="22318" y="1358806"/>
                </a:lnTo>
                <a:lnTo>
                  <a:pt x="5988" y="1334585"/>
                </a:lnTo>
                <a:lnTo>
                  <a:pt x="0" y="1304925"/>
                </a:lnTo>
                <a:lnTo>
                  <a:pt x="0" y="76200"/>
                </a:lnTo>
                <a:lnTo>
                  <a:pt x="5988" y="46539"/>
                </a:lnTo>
                <a:lnTo>
                  <a:pt x="22318" y="22318"/>
                </a:lnTo>
                <a:lnTo>
                  <a:pt x="46539" y="5988"/>
                </a:lnTo>
                <a:lnTo>
                  <a:pt x="76200" y="0"/>
                </a:lnTo>
                <a:lnTo>
                  <a:pt x="3638550" y="0"/>
                </a:lnTo>
                <a:lnTo>
                  <a:pt x="3668210" y="5988"/>
                </a:lnTo>
                <a:lnTo>
                  <a:pt x="3692431" y="22318"/>
                </a:lnTo>
                <a:lnTo>
                  <a:pt x="3708761" y="46539"/>
                </a:lnTo>
                <a:lnTo>
                  <a:pt x="3714750" y="76200"/>
                </a:lnTo>
                <a:lnTo>
                  <a:pt x="3714750" y="1304925"/>
                </a:lnTo>
                <a:lnTo>
                  <a:pt x="3708761" y="1334585"/>
                </a:lnTo>
                <a:lnTo>
                  <a:pt x="3692431" y="1358806"/>
                </a:lnTo>
                <a:lnTo>
                  <a:pt x="3668210" y="1375136"/>
                </a:lnTo>
                <a:lnTo>
                  <a:pt x="3638550" y="1381125"/>
                </a:lnTo>
                <a:close/>
              </a:path>
            </a:pathLst>
          </a:custGeom>
          <a:solidFill>
            <a:srgbClr val="1732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3802717" y="4698365"/>
            <a:ext cx="1255395" cy="76835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05"/>
              </a:spcBef>
            </a:pPr>
            <a:r>
              <a:rPr sz="2100" spc="204" dirty="0">
                <a:solidFill>
                  <a:srgbClr val="FFFFFF"/>
                </a:solidFill>
                <a:latin typeface="Microsoft Sans Serif"/>
                <a:cs typeface="Microsoft Sans Serif"/>
              </a:rPr>
              <a:t>02</a:t>
            </a:r>
            <a:endParaRPr sz="2100">
              <a:latin typeface="Microsoft Sans Serif"/>
              <a:cs typeface="Microsoft Sans Serif"/>
            </a:endParaRPr>
          </a:p>
          <a:p>
            <a:pPr algn="ctr">
              <a:lnSpc>
                <a:spcPct val="100000"/>
              </a:lnSpc>
              <a:spcBef>
                <a:spcPts val="405"/>
              </a:spcBef>
            </a:pPr>
            <a:r>
              <a:rPr sz="2100" spc="160" dirty="0">
                <a:solidFill>
                  <a:srgbClr val="FFFFFF"/>
                </a:solidFill>
                <a:latin typeface="Microsoft Sans Serif"/>
                <a:cs typeface="Microsoft Sans Serif"/>
              </a:rPr>
              <a:t>EXPAND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2573000" y="6381750"/>
            <a:ext cx="3714750" cy="1381125"/>
          </a:xfrm>
          <a:custGeom>
            <a:avLst/>
            <a:gdLst/>
            <a:ahLst/>
            <a:cxnLst/>
            <a:rect l="l" t="t" r="r" b="b"/>
            <a:pathLst>
              <a:path w="3714750" h="1381125">
                <a:moveTo>
                  <a:pt x="3638550" y="1381125"/>
                </a:moveTo>
                <a:lnTo>
                  <a:pt x="76200" y="1381125"/>
                </a:lnTo>
                <a:lnTo>
                  <a:pt x="46539" y="1375136"/>
                </a:lnTo>
                <a:lnTo>
                  <a:pt x="22318" y="1358806"/>
                </a:lnTo>
                <a:lnTo>
                  <a:pt x="5988" y="1334585"/>
                </a:lnTo>
                <a:lnTo>
                  <a:pt x="0" y="1304925"/>
                </a:lnTo>
                <a:lnTo>
                  <a:pt x="0" y="76200"/>
                </a:lnTo>
                <a:lnTo>
                  <a:pt x="5988" y="46539"/>
                </a:lnTo>
                <a:lnTo>
                  <a:pt x="22318" y="22318"/>
                </a:lnTo>
                <a:lnTo>
                  <a:pt x="46539" y="5988"/>
                </a:lnTo>
                <a:lnTo>
                  <a:pt x="76200" y="0"/>
                </a:lnTo>
                <a:lnTo>
                  <a:pt x="3638550" y="0"/>
                </a:lnTo>
                <a:lnTo>
                  <a:pt x="3668210" y="5988"/>
                </a:lnTo>
                <a:lnTo>
                  <a:pt x="3692431" y="22318"/>
                </a:lnTo>
                <a:lnTo>
                  <a:pt x="3708761" y="46539"/>
                </a:lnTo>
                <a:lnTo>
                  <a:pt x="3714750" y="76200"/>
                </a:lnTo>
                <a:lnTo>
                  <a:pt x="3714750" y="1304925"/>
                </a:lnTo>
                <a:lnTo>
                  <a:pt x="3708761" y="1334585"/>
                </a:lnTo>
                <a:lnTo>
                  <a:pt x="3692431" y="1358806"/>
                </a:lnTo>
                <a:lnTo>
                  <a:pt x="3668210" y="1375136"/>
                </a:lnTo>
                <a:lnTo>
                  <a:pt x="3638550" y="1381125"/>
                </a:lnTo>
                <a:close/>
              </a:path>
            </a:pathLst>
          </a:custGeom>
          <a:solidFill>
            <a:srgbClr val="FF6A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3913742" y="6650989"/>
            <a:ext cx="1033144" cy="76835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05"/>
              </a:spcBef>
            </a:pPr>
            <a:r>
              <a:rPr sz="2100" spc="204" dirty="0">
                <a:solidFill>
                  <a:srgbClr val="FFFFFF"/>
                </a:solidFill>
                <a:latin typeface="Microsoft Sans Serif"/>
                <a:cs typeface="Microsoft Sans Serif"/>
              </a:rPr>
              <a:t>03</a:t>
            </a:r>
            <a:endParaRPr sz="2100">
              <a:latin typeface="Microsoft Sans Serif"/>
              <a:cs typeface="Microsoft Sans Serif"/>
            </a:endParaRPr>
          </a:p>
          <a:p>
            <a:pPr algn="ctr">
              <a:lnSpc>
                <a:spcPct val="100000"/>
              </a:lnSpc>
              <a:spcBef>
                <a:spcPts val="405"/>
              </a:spcBef>
            </a:pPr>
            <a:r>
              <a:rPr sz="2100" spc="170" dirty="0">
                <a:solidFill>
                  <a:srgbClr val="FFFFFF"/>
                </a:solidFill>
                <a:latin typeface="Microsoft Sans Serif"/>
                <a:cs typeface="Microsoft Sans Serif"/>
              </a:rPr>
              <a:t>LEARN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35050" y="7609204"/>
            <a:ext cx="3401695" cy="688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350" spc="425" dirty="0">
                <a:solidFill>
                  <a:srgbClr val="16B8A6"/>
                </a:solidFill>
                <a:latin typeface="Microsoft Sans Serif"/>
                <a:cs typeface="Microsoft Sans Serif"/>
              </a:rPr>
              <a:t>Questions?</a:t>
            </a:r>
            <a:endParaRPr sz="435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047750" y="9639300"/>
            <a:ext cx="16192500" cy="0"/>
          </a:xfrm>
          <a:custGeom>
            <a:avLst/>
            <a:gdLst/>
            <a:ahLst/>
            <a:cxnLst/>
            <a:rect l="l" t="t" r="r" b="b"/>
            <a:pathLst>
              <a:path w="16192500">
                <a:moveTo>
                  <a:pt x="0" y="0"/>
                </a:moveTo>
                <a:lnTo>
                  <a:pt x="16192498" y="0"/>
                </a:lnTo>
              </a:path>
            </a:pathLst>
          </a:custGeom>
          <a:ln w="19049">
            <a:solidFill>
              <a:srgbClr val="314F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5892859" y="9733279"/>
            <a:ext cx="136017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solidFill>
                  <a:srgbClr val="89A3B4"/>
                </a:solidFill>
                <a:latin typeface="Trebuchet MS"/>
                <a:cs typeface="Trebuchet MS"/>
              </a:rPr>
              <a:t>12</a:t>
            </a:r>
            <a:r>
              <a:rPr sz="1350" spc="195" dirty="0">
                <a:solidFill>
                  <a:srgbClr val="89A3B4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89A3B4"/>
                </a:solidFill>
                <a:latin typeface="Trebuchet MS"/>
                <a:cs typeface="Trebuchet MS"/>
              </a:rPr>
              <a:t>/</a:t>
            </a:r>
            <a:r>
              <a:rPr sz="1350" spc="200" dirty="0">
                <a:solidFill>
                  <a:srgbClr val="89A3B4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89A3B4"/>
                </a:solidFill>
                <a:latin typeface="Trebuchet MS"/>
                <a:cs typeface="Trebuchet MS"/>
              </a:rPr>
              <a:t>THANK</a:t>
            </a:r>
            <a:r>
              <a:rPr sz="1350" spc="-105" dirty="0">
                <a:solidFill>
                  <a:srgbClr val="89A3B4"/>
                </a:solidFill>
                <a:latin typeface="Trebuchet MS"/>
                <a:cs typeface="Trebuchet MS"/>
              </a:rPr>
              <a:t> </a:t>
            </a:r>
            <a:r>
              <a:rPr sz="1350" spc="-25" dirty="0">
                <a:solidFill>
                  <a:srgbClr val="89A3B4"/>
                </a:solidFill>
                <a:latin typeface="Trebuchet MS"/>
                <a:cs typeface="Trebuchet MS"/>
              </a:rPr>
              <a:t>YOU</a:t>
            </a:r>
            <a:endParaRPr sz="13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554F0D1-50B8-96AA-ECDF-F94C432220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263138"/>
            <a:ext cx="8199831" cy="4343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7583A7D-05DF-8E3A-4B89-48DC796EF7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9492" y="1259451"/>
            <a:ext cx="8170332" cy="43434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55FC578-A533-74F5-15F1-9C8EF3F132E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8834" y="5905500"/>
            <a:ext cx="8170332" cy="43434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BB974317-54CB-8FC8-6989-0D640626A852}"/>
              </a:ext>
            </a:extLst>
          </p:cNvPr>
          <p:cNvSpPr/>
          <p:nvPr/>
        </p:nvSpPr>
        <p:spPr>
          <a:xfrm>
            <a:off x="5791200" y="266700"/>
            <a:ext cx="6781800" cy="84142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Predicted Sentiments</a:t>
            </a:r>
            <a:endParaRPr lang="en-IN" sz="44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456884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18BDD27-3C03-B002-DC62-17372635A132}"/>
              </a:ext>
            </a:extLst>
          </p:cNvPr>
          <p:cNvSpPr/>
          <p:nvPr/>
        </p:nvSpPr>
        <p:spPr>
          <a:xfrm>
            <a:off x="3276600" y="647700"/>
            <a:ext cx="10896600" cy="990600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dirty="0"/>
              <a:t>Data &amp; Project Challenges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3F678D9-14D9-2E93-16A1-E7DA6F1EA432}"/>
              </a:ext>
            </a:extLst>
          </p:cNvPr>
          <p:cNvSpPr/>
          <p:nvPr/>
        </p:nvSpPr>
        <p:spPr>
          <a:xfrm>
            <a:off x="838200" y="2171700"/>
            <a:ext cx="6248400" cy="3429000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Class Imbalance: Datasets are small and often skewed toward positive reviews (4 &amp; 5 stars), making it difficult for models to accurately detect subtle negative feedback.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F758650-3801-693D-1879-20223F5DAA6F}"/>
              </a:ext>
            </a:extLst>
          </p:cNvPr>
          <p:cNvSpPr/>
          <p:nvPr/>
        </p:nvSpPr>
        <p:spPr>
          <a:xfrm>
            <a:off x="8743097" y="2324100"/>
            <a:ext cx="6248400" cy="3429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Sarcasm &amp; Contextual Ambiguity: Words like "Great, another defective product!" contain positive keywords ("great") but convey negative sentiment, tricking traditional TF-IDF representations.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5C86D78-0FD7-B04F-0C82-BBCDE7339E98}"/>
              </a:ext>
            </a:extLst>
          </p:cNvPr>
          <p:cNvSpPr/>
          <p:nvPr/>
        </p:nvSpPr>
        <p:spPr>
          <a:xfrm>
            <a:off x="838200" y="6111922"/>
            <a:ext cx="6248400" cy="3429000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Aspect Overlap: Distinguishing between sentiment tied to product quality versus delivery/packaging was difficult when both were mentioned in a single review.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353B521-9050-D5CE-DE74-7BFFA21557B4}"/>
              </a:ext>
            </a:extLst>
          </p:cNvPr>
          <p:cNvSpPr/>
          <p:nvPr/>
        </p:nvSpPr>
        <p:spPr>
          <a:xfrm>
            <a:off x="9116704" y="6135237"/>
            <a:ext cx="6248400" cy="3429000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Handling Unseen Vocabulary: Models Can struggled with newly emerging slang or product-specific terms not present in the historical training split.</a:t>
            </a:r>
          </a:p>
        </p:txBody>
      </p:sp>
    </p:spTree>
    <p:extLst>
      <p:ext uri="{BB962C8B-B14F-4D97-AF65-F5344CB8AC3E}">
        <p14:creationId xmlns:p14="http://schemas.microsoft.com/office/powerpoint/2010/main" val="36878252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BA66D64-8E42-F4B4-E691-5186E6646007}"/>
              </a:ext>
            </a:extLst>
          </p:cNvPr>
          <p:cNvSpPr/>
          <p:nvPr/>
        </p:nvSpPr>
        <p:spPr>
          <a:xfrm>
            <a:off x="12510" y="0"/>
            <a:ext cx="18288000" cy="10287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66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Thank You</a:t>
            </a:r>
            <a:endParaRPr lang="en-IN" sz="66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A516E902-7295-453A-93D9-7699D0B088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0" y="2933700"/>
            <a:ext cx="1371600" cy="826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5901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Dune</Template>
  <TotalTime>135</TotalTime>
  <Words>1064</Words>
  <Application>Microsoft Office PowerPoint</Application>
  <PresentationFormat>Custom</PresentationFormat>
  <Paragraphs>239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Malgun Gothic</vt:lpstr>
      <vt:lpstr>SimSun-ExtB</vt:lpstr>
      <vt:lpstr>Arial</vt:lpstr>
      <vt:lpstr>Calibri</vt:lpstr>
      <vt:lpstr>Courier New</vt:lpstr>
      <vt:lpstr>Microsoft Sans Serif</vt:lpstr>
      <vt:lpstr>Times New Roman</vt:lpstr>
      <vt:lpstr>Trebuchet MS</vt:lpstr>
      <vt:lpstr>Office Theme</vt:lpstr>
      <vt:lpstr>Customer Review Sentiment Analysis</vt:lpstr>
      <vt:lpstr>Dataset overview</vt:lpstr>
      <vt:lpstr>PowerPoint Presentation</vt:lpstr>
      <vt:lpstr>From raw text to signal</vt:lpstr>
      <vt:lpstr>What customers talk about</vt:lpstr>
      <vt:lpstr>Labels turn stars into sentiment</vt:lpstr>
      <vt:lpstr>Build features. Preserve balance.</vt:lpstr>
      <vt:lpstr>Three models enter the test</vt:lpstr>
      <vt:lpstr>PowerPoint Presentation</vt:lpstr>
      <vt:lpstr>Linear SVM leads on weighted F1 Performance on the 288-review held-out test set.</vt:lpstr>
      <vt:lpstr>Strong at the poles. Weak in the middle.</vt:lpstr>
      <vt:lpstr>The neutral-class problem</vt:lpstr>
      <vt:lpstr>From notebook to live prediction</vt:lpstr>
      <vt:lpstr>Ready to listen at scale.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Review Sentiment</dc:title>
  <dc:creator>Shubham Patil</dc:creator>
  <cp:keywords>DAHWjWZx-9Q,BAHWjTyKZWg</cp:keywords>
  <cp:lastModifiedBy>Waquar Sayeed</cp:lastModifiedBy>
  <cp:revision>6</cp:revision>
  <dcterms:created xsi:type="dcterms:W3CDTF">2026-09-29T06:26:35Z</dcterms:created>
  <dcterms:modified xsi:type="dcterms:W3CDTF">2026-09-29T20:24:20Z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2026-09-29T00:00:00Z</vt:filetime>
  </property>
  <property fmtid="{D5CDD505-2E9C-101B-9397-08002B2CF9AE}" pid="4" name="Creator">
    <vt:lpwstr>Canva</vt:lpwstr>
  </property>
  <property fmtid="{D5CDD505-2E9C-101B-9397-08002B2CF9AE}" pid="5" name="LastSaved">
    <vt:filetime>2026-09-29T00:00:00Z</vt:filetime>
  </property>
  <property fmtid="{D5CDD505-2E9C-101B-9397-08002B2CF9AE}" pid="6" name="Producer">
    <vt:lpwstr>Canva</vt:lpwstr>
  </property>
  <property fmtid="{D5CDD505-2E9C-101B-9397-08002B2CF9AE}" pid="7" name="containsAiGeneratedContent">
    <vt:lpwstr>Yes</vt:lpwstr>
  </property>
</Properties>
</file>